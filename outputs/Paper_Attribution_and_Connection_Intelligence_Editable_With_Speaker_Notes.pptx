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7a4bafbdcf4694" /><Relationship Type="http://schemas.openxmlformats.org/officeDocument/2006/relationships/extended-properties" Target="/docProps/app.xml" Id="R245a68c8637a4cbb" /><Relationship Type="http://schemas.openxmlformats.org/officeDocument/2006/relationships/officeDocument" Target="/ppt/presentation.xml" Id="Rec4e411934984bce" /></Relationships>
</file>

<file path=ppt/presentation.xml><?xml version="1.0" encoding="utf-8"?>
<p:presentation xmlns:p="http://schemas.openxmlformats.org/presentationml/2006/main">
  <p:sldMasterIdLst>
    <p:sldMasterId xmlns:r="http://schemas.openxmlformats.org/officeDocument/2006/relationships" id="2147483648" r:id="R7f3d280458d940f1"/>
  </p:sldMasterIdLst>
  <p:notesMasterIdLst>
    <p:notesMasterId xmlns:r="http://schemas.openxmlformats.org/officeDocument/2006/relationships" r:id="R7dc4b604ed4e4d6f"/>
  </p:notesMasterIdLst>
  <p:sldIdLst>
    <p:sldId xmlns:r="http://schemas.openxmlformats.org/officeDocument/2006/relationships" id="256" r:id="R3c9075ee3f944b3e"/>
    <p:sldId xmlns:r="http://schemas.openxmlformats.org/officeDocument/2006/relationships" id="257" r:id="R706a9567e6f2471d"/>
    <p:sldId xmlns:r="http://schemas.openxmlformats.org/officeDocument/2006/relationships" id="258" r:id="Rfe025c8ee7eb4adc"/>
    <p:sldId xmlns:r="http://schemas.openxmlformats.org/officeDocument/2006/relationships" id="259" r:id="R6b46e9c6c0764525"/>
    <p:sldId xmlns:r="http://schemas.openxmlformats.org/officeDocument/2006/relationships" id="260" r:id="Rb8d9d26708764f5f"/>
    <p:sldId xmlns:r="http://schemas.openxmlformats.org/officeDocument/2006/relationships" id="261" r:id="Ra0afba3fd6784fd7"/>
    <p:sldId xmlns:r="http://schemas.openxmlformats.org/officeDocument/2006/relationships" id="262" r:id="R7978a5bca9a44e52"/>
    <p:sldId xmlns:r="http://schemas.openxmlformats.org/officeDocument/2006/relationships" id="263" r:id="Ra7610aedcf1845e0"/>
    <p:sldId xmlns:r="http://schemas.openxmlformats.org/officeDocument/2006/relationships" id="264" r:id="R6ada078fd3cc43e5"/>
    <p:sldId xmlns:r="http://schemas.openxmlformats.org/officeDocument/2006/relationships" id="265" r:id="Rcc6cbc643ebe4d67"/>
    <p:sldId xmlns:r="http://schemas.openxmlformats.org/officeDocument/2006/relationships" id="266" r:id="R72c21160665a4216"/>
    <p:sldId xmlns:r="http://schemas.openxmlformats.org/officeDocument/2006/relationships" id="267" r:id="Rb3ebe01a56414e7d"/>
    <p:sldId xmlns:r="http://schemas.openxmlformats.org/officeDocument/2006/relationships" id="268" r:id="Reeefd76c2ca1499b"/>
    <p:sldId xmlns:r="http://schemas.openxmlformats.org/officeDocument/2006/relationships" id="269" r:id="Rd5ff9d90552f4942"/>
    <p:sldId xmlns:r="http://schemas.openxmlformats.org/officeDocument/2006/relationships" id="270" r:id="Rb5fac3d3af954e35"/>
    <p:sldId xmlns:r="http://schemas.openxmlformats.org/officeDocument/2006/relationships" id="271" r:id="R0b69994dd0a6418f"/>
    <p:sldId xmlns:r="http://schemas.openxmlformats.org/officeDocument/2006/relationships" id="272" r:id="R149b05579ee74f64"/>
    <p:sldId xmlns:r="http://schemas.openxmlformats.org/officeDocument/2006/relationships" id="273" r:id="Rfed55e75b1d04153"/>
    <p:sldId xmlns:r="http://schemas.openxmlformats.org/officeDocument/2006/relationships" id="274" r:id="R0f693b64527846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d0939261e84607" /><Relationship Type="http://schemas.openxmlformats.org/officeDocument/2006/relationships/slideMaster" Target="/ppt/slideMasters/slideMaster1.xml" Id="R7f3d280458d940f1" /><Relationship Type="http://schemas.openxmlformats.org/officeDocument/2006/relationships/notesMaster" Target="/ppt/notesMasters/notesMaster1.xml" Id="R7dc4b604ed4e4d6f" /><Relationship Type="http://schemas.openxmlformats.org/officeDocument/2006/relationships/presProps" Target="/ppt/presProps.xml" Id="Rffb695c60dca4538" /><Relationship Type="http://schemas.openxmlformats.org/officeDocument/2006/relationships/tableStyles" Target="/ppt/tableStyles.xml" Id="R33a4fc33abcb4c6b" /><Relationship Type="http://schemas.openxmlformats.org/officeDocument/2006/relationships/slide" Target="/ppt/slides/slide1.xml" Id="R3c9075ee3f944b3e" /><Relationship Type="http://schemas.openxmlformats.org/officeDocument/2006/relationships/slide" Target="/ppt/slides/slide2.xml" Id="R706a9567e6f2471d" /><Relationship Type="http://schemas.openxmlformats.org/officeDocument/2006/relationships/slide" Target="/ppt/slides/slide3.xml" Id="Rfe025c8ee7eb4adc" /><Relationship Type="http://schemas.openxmlformats.org/officeDocument/2006/relationships/slide" Target="/ppt/slides/slide4.xml" Id="R6b46e9c6c0764525" /><Relationship Type="http://schemas.openxmlformats.org/officeDocument/2006/relationships/slide" Target="/ppt/slides/slide5.xml" Id="Rb8d9d26708764f5f" /><Relationship Type="http://schemas.openxmlformats.org/officeDocument/2006/relationships/slide" Target="/ppt/slides/slide6.xml" Id="Ra0afba3fd6784fd7" /><Relationship Type="http://schemas.openxmlformats.org/officeDocument/2006/relationships/slide" Target="/ppt/slides/slide7.xml" Id="R7978a5bca9a44e52" /><Relationship Type="http://schemas.openxmlformats.org/officeDocument/2006/relationships/slide" Target="/ppt/slides/slide8.xml" Id="Ra7610aedcf1845e0" /><Relationship Type="http://schemas.openxmlformats.org/officeDocument/2006/relationships/slide" Target="/ppt/slides/slide9.xml" Id="R6ada078fd3cc43e5" /><Relationship Type="http://schemas.openxmlformats.org/officeDocument/2006/relationships/slide" Target="/ppt/slides/slide10.xml" Id="Rcc6cbc643ebe4d67" /><Relationship Type="http://schemas.openxmlformats.org/officeDocument/2006/relationships/slide" Target="/ppt/slides/slide11.xml" Id="R72c21160665a4216" /><Relationship Type="http://schemas.openxmlformats.org/officeDocument/2006/relationships/slide" Target="/ppt/slides/slide12.xml" Id="Rb3ebe01a56414e7d" /><Relationship Type="http://schemas.openxmlformats.org/officeDocument/2006/relationships/slide" Target="/ppt/slides/slide13.xml" Id="Reeefd76c2ca1499b" /><Relationship Type="http://schemas.openxmlformats.org/officeDocument/2006/relationships/slide" Target="/ppt/slides/slide14.xml" Id="Rd5ff9d90552f4942" /><Relationship Type="http://schemas.openxmlformats.org/officeDocument/2006/relationships/slide" Target="/ppt/slides/slide15.xml" Id="Rb5fac3d3af954e35" /><Relationship Type="http://schemas.openxmlformats.org/officeDocument/2006/relationships/slide" Target="/ppt/slides/slide16.xml" Id="R0b69994dd0a6418f" /><Relationship Type="http://schemas.openxmlformats.org/officeDocument/2006/relationships/slide" Target="/ppt/slides/slide17.xml" Id="R149b05579ee74f64" /><Relationship Type="http://schemas.openxmlformats.org/officeDocument/2006/relationships/slide" Target="/ppt/slides/slide18.xml" Id="Rfed55e75b1d04153" /><Relationship Type="http://schemas.openxmlformats.org/officeDocument/2006/relationships/slide" Target="/ppt/slides/slide19.xml" Id="R0f693b64527846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aa5bd9534d41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a1cf090ea149e1" /><Relationship Type="http://schemas.openxmlformats.org/officeDocument/2006/relationships/notesMaster" Target="/ppt/notesMasters/notesMaster1.xml" Id="R7174c528652940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8e29dffada40f9" /><Relationship Type="http://schemas.openxmlformats.org/officeDocument/2006/relationships/notesMaster" Target="/ppt/notesMasters/notesMaster1.xml" Id="R24b1774f5c9843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a11a863d154c95" /><Relationship Type="http://schemas.openxmlformats.org/officeDocument/2006/relationships/notesMaster" Target="/ppt/notesMasters/notesMaster1.xml" Id="R9e4dd0ad4c2a4e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d4df018e2c4a5a" /><Relationship Type="http://schemas.openxmlformats.org/officeDocument/2006/relationships/notesMaster" Target="/ppt/notesMasters/notesMaster1.xml" Id="R43dd5c435eae44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09b0f98ce24e37" /><Relationship Type="http://schemas.openxmlformats.org/officeDocument/2006/relationships/notesMaster" Target="/ppt/notesMasters/notesMaster1.xml" Id="R0517329e4f5647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3671366e2f449b" /><Relationship Type="http://schemas.openxmlformats.org/officeDocument/2006/relationships/notesMaster" Target="/ppt/notesMasters/notesMaster1.xml" Id="R65e82164299b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a2cfcae6584f0f" /><Relationship Type="http://schemas.openxmlformats.org/officeDocument/2006/relationships/notesMaster" Target="/ppt/notesMasters/notesMaster1.xml" Id="Rb544bd3a28fd47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4382d9d00b4154" /><Relationship Type="http://schemas.openxmlformats.org/officeDocument/2006/relationships/notesMaster" Target="/ppt/notesMasters/notesMaster1.xml" Id="R704afae4718a43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b1d6409eea4c62" /><Relationship Type="http://schemas.openxmlformats.org/officeDocument/2006/relationships/notesMaster" Target="/ppt/notesMasters/notesMaster1.xml" Id="R7734fe7e06814f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608d423ba34592" /><Relationship Type="http://schemas.openxmlformats.org/officeDocument/2006/relationships/notesMaster" Target="/ppt/notesMasters/notesMaster1.xml" Id="Ra17cdf6639f143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530e69214d4139" /><Relationship Type="http://schemas.openxmlformats.org/officeDocument/2006/relationships/notesMaster" Target="/ppt/notesMasters/notesMaster1.xml" Id="R034e1e7d6ee346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53ed6654174c8a" /><Relationship Type="http://schemas.openxmlformats.org/officeDocument/2006/relationships/notesMaster" Target="/ppt/notesMasters/notesMaster1.xml" Id="Rb3ae4585671f45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04c01ebabd4cbf" /><Relationship Type="http://schemas.openxmlformats.org/officeDocument/2006/relationships/notesMaster" Target="/ppt/notesMasters/notesMaster1.xml" Id="Rf2d4bcdcef854f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ab1ad735ab4186" /><Relationship Type="http://schemas.openxmlformats.org/officeDocument/2006/relationships/notesMaster" Target="/ppt/notesMasters/notesMaster1.xml" Id="R5bea8927b1404a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01cc96f4414b15" /><Relationship Type="http://schemas.openxmlformats.org/officeDocument/2006/relationships/notesMaster" Target="/ppt/notesMasters/notesMaster1.xml" Id="Rb2eff2ebd0cb4f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4a1322a49740a2" /><Relationship Type="http://schemas.openxmlformats.org/officeDocument/2006/relationships/notesMaster" Target="/ppt/notesMasters/notesMaster1.xml" Id="Raeccc50415e94e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4bbea431374718" /><Relationship Type="http://schemas.openxmlformats.org/officeDocument/2006/relationships/notesMaster" Target="/ppt/notesMasters/notesMaster1.xml" Id="R039ad7c86f8848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d24640198947fd" /><Relationship Type="http://schemas.openxmlformats.org/officeDocument/2006/relationships/notesMaster" Target="/ppt/notesMasters/notesMaster1.xml" Id="Rff694977374945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2dddb45b4cc4dd8" /><Relationship Type="http://schemas.openxmlformats.org/officeDocument/2006/relationships/notesMaster" Target="/ppt/notesMasters/notesMaster1.xml" Id="R727cbc7f58ba4b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1:00</a:t>
            </a:r>
          </a:p>
          <a:p xmlns:a="http://schemas.openxmlformats.org/drawingml/2006/main">
            <a:r>
              <a:t>Delivery cue: Open calmly. Make eye contact before naming the four-stage scope.</a:t>
            </a:r>
          </a:p>
          <a:p xmlns:a="http://schemas.openxmlformats.org/drawingml/2006/main">
            <a:r>
              <a:t/>
            </a:r>
          </a:p>
          <a:p xmlns:a="http://schemas.openxmlformats.org/drawingml/2006/main">
            <a:r>
              <a:t>VERBATIM SCRIPT</a:t>
            </a:r>
          </a:p>
          <a:p xmlns:a="http://schemas.openxmlformats.org/drawingml/2006/main">
            <a:r>
              <a:t>Good morning, and thank you for making the time. I want to walk through this system as more than a paper classifier. Classification is one necessary step, but the real purpose is to build a bibliometric dataset that can explain why a paper belongs, show how people and institutions are connected, and preserve enough provenance for later knowledge reuse.</a:t>
            </a:r>
          </a:p>
          <a:p xmlns:a="http://schemas.openxmlformats.org/drawingml/2006/main">
            <a:r>
              <a:t>I will use AC to mean the Acceleration Consortium, and SDL to mean self-driving laboratory. The walkthrough has three main layers. First, paper attribution: what relationships and evidence support a paper’s inclusion. Second, connection intelligence: what we can learn when those paper-level decisions are assembled into networks. Third, knowledge preparation: how source-grounded papers can support retrieval and eventually cross-SDL knowledge transfer.</a:t>
            </a:r>
          </a:p>
          <a:p xmlns:a="http://schemas.openxmlformats.org/drawingml/2006/main">
            <a:r>
              <a:t>The central idea is simple: every important label, relationship, and generated claim should remain traceable to a paper and, where possible, to the relevant source text.</a:t>
            </a:r>
          </a:p>
          <a:p xmlns:a="http://schemas.openxmlformats.org/drawingml/2006/main">
            <a:r>
              <a:t/>
            </a:r>
          </a:p>
          <a:p xmlns:a="http://schemas.openxmlformats.org/drawingml/2006/main">
            <a:r>
              <a:t>TRANSITION: Let me start by separating the first decision from the full product.</a:t>
            </a:r>
          </a:p>
          <a:p xmlns:a="http://schemas.openxmlformats.org/drawingml/2006/main">
            <a:r>
              <a:t/>
            </a:r>
          </a:p>
          <a:p xmlns:a="http://schemas.openxmlformats.org/drawingml/2006/main">
            <a:r>
              <a:t>[Sources]</a:t>
            </a:r>
          </a:p>
          <a:p xmlns:a="http://schemas.openxmlformats.org/drawingml/2006/main">
            <a:r>
              <a:t>- Local source: backend/docs/technical_overview.md</a:t>
            </a:r>
          </a:p>
          <a:p xmlns:a="http://schemas.openxmlformats.org/drawingml/2006/main">
            <a:r>
              <a:t>- Local source: frontend/src/main.tsx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a:t>
            </a:r>
          </a:p>
          <a:p xmlns:a="http://schemas.openxmlformats.org/drawingml/2006/main">
            <a:r>
              <a:t>Delivery cue: Move left to right across the four stages. Pause on paper attribution.</a:t>
            </a:r>
          </a:p>
          <a:p xmlns:a="http://schemas.openxmlformats.org/drawingml/2006/main">
            <a:r>
              <a:t/>
            </a:r>
          </a:p>
          <a:p xmlns:a="http://schemas.openxmlformats.org/drawingml/2006/main">
            <a:r>
              <a:t>VERBATIM SCRIPT</a:t>
            </a:r>
          </a:p>
          <a:p xmlns:a="http://schemas.openxmlformats.org/drawingml/2006/main">
            <a:r>
              <a:t>This slide defines the system boundary. Classification asks a narrow question: which relevance class is plausible for this record? That is useful for organizing a large corpus, but it does not yet tell us why the paper is attributable to AC.</a:t>
            </a:r>
          </a:p>
          <a:p xmlns:a="http://schemas.openxmlformats.org/drawingml/2006/main">
            <a:r>
              <a:t>Paper attribution is the next and more important decision. It resolves the people, institutions, funding, citations, topics, methods, and graph paths that support the record. Once those relationships are stored consistently across many papers, we can calculate connection intelligence: bridge authors, institution hubs, topic diffusion, collaboration growth, and other patterns across the corpus.</a:t>
            </a:r>
          </a:p>
          <a:p xmlns:a="http://schemas.openxmlformats.org/drawingml/2006/main">
            <a:r>
              <a:t>The final stage is knowledge reuse. Here, the system does not simply summarize papers. It extracts source-grounded methods, assumptions, entities, and lessons that may be useful in another SDL context.</a:t>
            </a:r>
          </a:p>
          <a:p xmlns:a="http://schemas.openxmlformats.org/drawingml/2006/main">
            <a:r>
              <a:t>So the durable output is not a spreadsheet of labels. It is a provenance-preserving research graph in which the consortium can inspect the path from a decision or claim back to the underlying evidence.</a:t>
            </a:r>
          </a:p>
          <a:p xmlns:a="http://schemas.openxmlformats.org/drawingml/2006/main">
            <a:r>
              <a:t/>
            </a:r>
          </a:p>
          <a:p xmlns:a="http://schemas.openxmlformats.org/drawingml/2006/main">
            <a:r>
              <a:t>TRANSITION: To see what that means in practice, consider the relationships that must be resolved around one paper.</a:t>
            </a:r>
          </a:p>
          <a:p xmlns:a="http://schemas.openxmlformats.org/drawingml/2006/main">
            <a:r>
              <a:t/>
            </a:r>
          </a:p>
          <a:p xmlns:a="http://schemas.openxmlformats.org/drawingml/2006/main">
            <a:r>
              <a:t>[Sources]</a:t>
            </a:r>
          </a:p>
          <a:p xmlns:a="http://schemas.openxmlformats.org/drawingml/2006/main">
            <a:r>
              <a:t>- Local source: backend/docs/technical_overview.md</a:t>
            </a:r>
          </a:p>
          <a:p xmlns:a="http://schemas.openxmlformats.org/drawingml/2006/main">
            <a:r>
              <a:t>- Local source: backend/app/services/attribution_evidence_tree.py</a:t>
            </a:r>
          </a:p>
          <a:p xmlns:a="http://schemas.openxmlformats.org/drawingml/2006/main">
            <a:r>
              <a:t>- Local sources: backend/app/services/tku_extractor.py; backend/app/services/transfer_designer.py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Delivery cue: Point to the paper, then move clockwise through the five relationship families.</a:t>
            </a:r>
          </a:p>
          <a:p xmlns:a="http://schemas.openxmlformats.org/drawingml/2006/main">
            <a:r>
              <a:t/>
            </a:r>
          </a:p>
          <a:p xmlns:a="http://schemas.openxmlformats.org/drawingml/2006/main">
            <a:r>
              <a:t>VERBATIM SCRIPT</a:t>
            </a:r>
          </a:p>
          <a:p xmlns:a="http://schemas.openxmlformats.org/drawingml/2006/main">
            <a:r>
              <a:t>For each paper, attribution means resolving five families of relationships.</a:t>
            </a:r>
          </a:p>
          <a:p xmlns:a="http://schemas.openxmlformats.org/drawingml/2006/main">
            <a:r>
              <a:t>First are people. Does the author list contain a verified AC member, an alias of a known person, or another identity match that we can defend? Second are institutions. Are the affiliations AC partners, external organizations, or ambiguous names that need normalization? Third is support, including funding, acknowledgements, programs, and partner mentions.</a:t>
            </a:r>
          </a:p>
          <a:p xmlns:a="http://schemas.openxmlformats.org/drawingml/2006/main">
            <a:r>
              <a:t>Fourth is scientific content. Which core or adjacent topics are present? Which methods, entities, and propositions are supported by the text? Fifth is the network context. Does the paper have a direct coauthor path to AC, cite an AC-core paper, or receive citations from the corpus?</a:t>
            </a:r>
          </a:p>
          <a:p xmlns:a="http://schemas.openxmlformats.org/drawingml/2006/main">
            <a:r>
              <a:t>The paper in the center also needs a canonical identity and provenance, so duplicate or conflicting records can be detected. Finally, a human reviewer can confirm the decision and lock it. The system may propose an attribution, but it should not silently overwrite a human-confirmed result later.</a:t>
            </a:r>
          </a:p>
          <a:p xmlns:a="http://schemas.openxmlformats.org/drawingml/2006/main">
            <a:r>
              <a:t/>
            </a:r>
          </a:p>
          <a:p xmlns:a="http://schemas.openxmlformats.org/drawingml/2006/main">
            <a:r>
              <a:t>TRANSITION: These relationships are not only visual concepts; they become explicit fields in the attributed paper record.</a:t>
            </a:r>
          </a:p>
          <a:p xmlns:a="http://schemas.openxmlformats.org/drawingml/2006/main">
            <a:r>
              <a:t/>
            </a:r>
          </a:p>
          <a:p xmlns:a="http://schemas.openxmlformats.org/drawingml/2006/main">
            <a:r>
              <a:t>[Sources]</a:t>
            </a:r>
          </a:p>
          <a:p xmlns:a="http://schemas.openxmlformats.org/drawingml/2006/main">
            <a:r>
              <a:t>- Local source: frontend/src/components/EvidencePanel.tsx</a:t>
            </a:r>
          </a:p>
          <a:p xmlns:a="http://schemas.openxmlformats.org/drawingml/2006/main">
            <a:r>
              <a:t>- Local source: backend/app/schemas.py</a:t>
            </a:r>
          </a:p>
          <a:p xmlns:a="http://schemas.openxmlformats.org/drawingml/2006/main">
            <a:r>
              <a:t>- Local source: backend/app/api/graph_explain.py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1:10</a:t>
            </a:r>
          </a:p>
          <a:p xmlns:a="http://schemas.openxmlformats.org/drawingml/2006/main">
            <a:r>
              <a:t>Delivery cue: Do not read every row. Group them into identity, evidence, explanation, and authority.</a:t>
            </a:r>
          </a:p>
          <a:p xmlns:a="http://schemas.openxmlformats.org/drawingml/2006/main">
            <a:r>
              <a:t/>
            </a:r>
          </a:p>
          <a:p xmlns:a="http://schemas.openxmlformats.org/drawingml/2006/main">
            <a:r>
              <a:t>VERBATIM SCRIPT</a:t>
            </a:r>
          </a:p>
          <a:p xmlns:a="http://schemas.openxmlformats.org/drawingml/2006/main">
            <a:r>
              <a:t>This table shows what one attributed paper actually contains. I would group the record into four parts.</a:t>
            </a:r>
          </a:p>
          <a:p xmlns:a="http://schemas.openxmlformats.org/drawingml/2006/main">
            <a:r>
              <a:t>The first is identity: DOI, title, year, venue, and source provenance. The second is the proposed classification, including the label, confidence, model version, and reasons. The third is relationship evidence: matched people, canonical institutions, scientific topics and methods, full-text chunks, and graph explanations such as direct authors, second-degree paths, and AC-core citations.</a:t>
            </a:r>
          </a:p>
          <a:p xmlns:a="http://schemas.openxmlformats.org/drawingml/2006/main">
            <a:r>
              <a:t>The fourth part is decision authority. The record stores the human label, reviewer, notes, timestamp, and lock state.</a:t>
            </a:r>
          </a:p>
          <a:p xmlns:a="http://schemas.openxmlformats.org/drawingml/2006/main">
            <a:r>
              <a:t>This structure matters because different questions need different evidence. An author match is not the same as topic similarity. An institutional relationship is not the same as a citation relationship. By storing these separately, the system can support review, analytics, and reporting without collapsing everything into one opaque score.</a:t>
            </a:r>
          </a:p>
          <a:p xmlns:a="http://schemas.openxmlformats.org/drawingml/2006/main">
            <a:r>
              <a:t/>
            </a:r>
          </a:p>
          <a:p xmlns:a="http://schemas.openxmlformats.org/drawingml/2006/main">
            <a:r>
              <a:t>TRANSITION: Classification still plays a role, so I will briefly explain how that subroutine works.</a:t>
            </a:r>
          </a:p>
          <a:p xmlns:a="http://schemas.openxmlformats.org/drawingml/2006/main">
            <a:r>
              <a:t/>
            </a:r>
          </a:p>
          <a:p xmlns:a="http://schemas.openxmlformats.org/drawingml/2006/main">
            <a:r>
              <a:t>[Sources]</a:t>
            </a:r>
          </a:p>
          <a:p xmlns:a="http://schemas.openxmlformats.org/drawingml/2006/main">
            <a:r>
              <a:t>- Local source: backend/app/schemas.py</a:t>
            </a:r>
          </a:p>
          <a:p xmlns:a="http://schemas.openxmlformats.org/drawingml/2006/main">
            <a:r>
              <a:t>- Local source: frontend/src/components/EvidencePanel.tsx</a:t>
            </a:r>
          </a:p>
          <a:p xmlns:a="http://schemas.openxmlformats.org/drawingml/2006/main">
            <a:r>
              <a:t>- Local source: backend/app/api/papers.py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Delivery cue: Explain the letters first, then emphasize the necessary-condition rule in the lower left.</a:t>
            </a:r>
          </a:p>
          <a:p xmlns:a="http://schemas.openxmlformats.org/drawingml/2006/main">
            <a:r>
              <a:t/>
            </a:r>
          </a:p>
          <a:p xmlns:a="http://schemas.openxmlformats.org/drawingml/2006/main">
            <a:r>
              <a:t>VERBATIM SCRIPT</a:t>
            </a:r>
          </a:p>
          <a:p xmlns:a="http://schemas.openxmlformats.org/drawingml/2006/main">
            <a:r>
              <a:t>The classifier combines seven positive evidence signals: author identity, institution, topic, full text, network, citations, and structured entities. It also subtracts disqualifying evidence. When full text is unavailable, the metadata-only mode shifts more weight toward author, institution, and topic evidence.</a:t>
            </a:r>
          </a:p>
          <a:p xmlns:a="http://schemas.openxmlformats.org/drawingml/2006/main">
            <a:r>
              <a:t>The formula is useful for ranking cases by confidence, especially for deciding what should enter a review queue. But confidence alone does not assign the final class. The classes use label-specific gates.</a:t>
            </a:r>
          </a:p>
          <a:p xmlns:a="http://schemas.openxmlformats.org/drawingml/2006/main">
            <a:r>
              <a:t>For a core attribution, we need direct or gold AC evidence together with core SDL evidence. A related paper can have strong identity, funding, or AC-core citation support. An adjacent paper can be scientifically relevant without enough evidence for organizational attribution. Uncertain means the evidence is partial or conflicting and should be reviewed. Exclude means no necessary condition survives.</a:t>
            </a:r>
          </a:p>
          <a:p xmlns:a="http://schemas.openxmlformats.org/drawingml/2006/main">
            <a:r>
              <a:t>The key point is the sentence at the bottom: confidence ranks cases, but necessary conditions assign labels. A high numerical score cannot bypass evidence that the consortium has decided is required.</a:t>
            </a:r>
          </a:p>
          <a:p xmlns:a="http://schemas.openxmlformats.org/drawingml/2006/main">
            <a:r>
              <a:t/>
            </a:r>
          </a:p>
          <a:p xmlns:a="http://schemas.openxmlformats.org/drawingml/2006/main">
            <a:r>
              <a:t>TRANSITION: For attribution, those pieces of evidence are more useful when they are represented as paths rather than as a flat list.</a:t>
            </a:r>
          </a:p>
          <a:p xmlns:a="http://schemas.openxmlformats.org/drawingml/2006/main">
            <a:r>
              <a:t/>
            </a:r>
          </a:p>
          <a:p xmlns:a="http://schemas.openxmlformats.org/drawingml/2006/main">
            <a:r>
              <a:t>[Sources]</a:t>
            </a:r>
          </a:p>
          <a:p xmlns:a="http://schemas.openxmlformats.org/drawingml/2006/main">
            <a:r>
              <a:t>- Local source: backend/app/services/relevance_classifier.py</a:t>
            </a:r>
          </a:p>
          <a:p xmlns:a="http://schemas.openxmlformats.org/drawingml/2006/main">
            <a:r>
              <a:t>- Local source: backend/app/config.py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Delivery cue: Trace two example paths with your hand. State that the weights are policy parameters, not universal constants.</a:t>
            </a:r>
          </a:p>
          <a:p xmlns:a="http://schemas.openxmlformats.org/drawingml/2006/main">
            <a:r>
              <a:t/>
            </a:r>
          </a:p>
          <a:p xmlns:a="http://schemas.openxmlformats.org/drawingml/2006/main">
            <a:r>
              <a:t>VERBATIM SCRIPT</a:t>
            </a:r>
          </a:p>
          <a:p xmlns:a="http://schemas.openxmlformats.org/drawingml/2006/main">
            <a:r>
              <a:t>The Attribution Evidence Tree, or AET, represents the reason for attribution as a set of typed paths. For example, paper to author to AC member is one path. Paper to affiliation to AC partner is another. Funding, coauthorship, citations, and method-to-SDL relationships form additional paths.</a:t>
            </a:r>
          </a:p>
          <a:p xmlns:a="http://schemas.openxmlformats.org/drawingml/2006/main">
            <a:r>
              <a:t>Each path carries an identifier, evidence type, polarity, weight, source location, and context. The score shown on the right is the positive path weight minus the negative path weight, clamped between zero and one. The displayed weights are policy parameters that can be reviewed; they are not universal scientific constants.</a:t>
            </a:r>
          </a:p>
          <a:p xmlns:a="http://schemas.openxmlformats.org/drawingml/2006/main">
            <a:r>
              <a:t>This structure gives us two advantages. First, it distinguishes central evidence from supporting evidence. A direct funding or partner relationship can carry more weight than a weak indirect citation. Second, negative evidence remains visible. It is not deleted after scoring.</a:t>
            </a:r>
          </a:p>
          <a:p xmlns:a="http://schemas.openxmlformats.org/drawingml/2006/main">
            <a:r>
              <a:t>For reviewers, the AET answers a practical question: exactly which evidence paths caused this paper to be proposed for attribution, and which contrary evidence was considered?</a:t>
            </a:r>
          </a:p>
          <a:p xmlns:a="http://schemas.openxmlformats.org/drawingml/2006/main">
            <a:r>
              <a:t/>
            </a:r>
          </a:p>
          <a:p xmlns:a="http://schemas.openxmlformats.org/drawingml/2006/main">
            <a:r>
              <a:t>TRANSITION: The graph explanation uses the same principle: every connection claim should be openable as a concrete path.</a:t>
            </a:r>
          </a:p>
          <a:p xmlns:a="http://schemas.openxmlformats.org/drawingml/2006/main">
            <a:r>
              <a:t/>
            </a:r>
          </a:p>
          <a:p xmlns:a="http://schemas.openxmlformats.org/drawingml/2006/main">
            <a:r>
              <a:t>[Sources]</a:t>
            </a:r>
          </a:p>
          <a:p xmlns:a="http://schemas.openxmlformats.org/drawingml/2006/main">
            <a:r>
              <a:t>- Local source: backend/app/services/attribution_evidence_scoring.py</a:t>
            </a:r>
          </a:p>
          <a:p xmlns:a="http://schemas.openxmlformats.org/drawingml/2006/main">
            <a:r>
              <a:t>- Local source: backend/app/services/attribution_evidence_tree.py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Delivery cue: Contrast direct, second-degree, and citation paths. Avoid dwelling on the formulas.</a:t>
            </a:r>
          </a:p>
          <a:p xmlns:a="http://schemas.openxmlformats.org/drawingml/2006/main">
            <a:r>
              <a:t/>
            </a:r>
          </a:p>
          <a:p xmlns:a="http://schemas.openxmlformats.org/drawingml/2006/main">
            <a:r>
              <a:t>VERBATIM SCRIPT</a:t>
            </a:r>
          </a:p>
          <a:p xmlns:a="http://schemas.openxmlformats.org/drawingml/2006/main">
            <a:r>
              <a:t>A graph relationship should never appear as an unexplained line. The current graph explanation distinguishes three common cases.</a:t>
            </a:r>
          </a:p>
          <a:p xmlns:a="http://schemas.openxmlformats.org/drawingml/2006/main">
            <a:r>
              <a:t>A direct path is paper to AC author. The author identity is verified and attached to the record. A second-degree path is paper to an external author to an AC author. In that case, the explanation retains both authors, the shared paper identifiers, and a path strength. A citation path is paper to an AC-core paper, with the cited title and DOI attached.</a:t>
            </a:r>
          </a:p>
          <a:p xmlns:a="http://schemas.openxmlformats.org/drawingml/2006/main">
            <a:r>
              <a:t>The output on the right is deterministic. It lists direct AC authors, second-degree paths, citation signals, reverse citations from the corpus, and a human-readable summary. An LLM is not required to invent the explanation.</a:t>
            </a:r>
          </a:p>
          <a:p xmlns:a="http://schemas.openxmlformats.org/drawingml/2006/main">
            <a:r>
              <a:t>The two formulas at the bottom show bounded network and citation contributions. Personalized PageRank provides an AC-proximity signal, adjusted modestly by excess centrality. Citation support is capped and based on unique AC-core citations. These signals enrich attribution, but they do not replace identity or source evidence.</a:t>
            </a:r>
          </a:p>
          <a:p xmlns:a="http://schemas.openxmlformats.org/drawingml/2006/main">
            <a:r>
              <a:t/>
            </a:r>
          </a:p>
          <a:p xmlns:a="http://schemas.openxmlformats.org/drawingml/2006/main">
            <a:r>
              <a:t>TRANSITION: Once we aggregate paper-level paths, we also need a fair definition of relationship strength.</a:t>
            </a:r>
          </a:p>
          <a:p xmlns:a="http://schemas.openxmlformats.org/drawingml/2006/main">
            <a:r>
              <a:t/>
            </a:r>
          </a:p>
          <a:p xmlns:a="http://schemas.openxmlformats.org/drawingml/2006/main">
            <a:r>
              <a:t>[Sources]</a:t>
            </a:r>
          </a:p>
          <a:p xmlns:a="http://schemas.openxmlformats.org/drawingml/2006/main">
            <a:r>
              <a:t>- Local source: backend/app/api/graph_explain.py</a:t>
            </a:r>
          </a:p>
          <a:p xmlns:a="http://schemas.openxmlformats.org/drawingml/2006/main">
            <a:r>
              <a:t>- Local source: backend/app/services/graph_service.py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Delivery cue: Walk through examples A and B slowly; this is an intuitive teaching moment.</a:t>
            </a:r>
          </a:p>
          <a:p xmlns:a="http://schemas.openxmlformats.org/drawingml/2006/main">
            <a:r>
              <a:t/>
            </a:r>
          </a:p>
          <a:p xmlns:a="http://schemas.openxmlformats.org/drawingml/2006/main">
            <a:r>
              <a:t>VERBATIM SCRIPT</a:t>
            </a:r>
          </a:p>
          <a:p xmlns:a="http://schemas.openxmlformats.org/drawingml/2006/main">
            <a:r>
              <a:t>A raw count of joint papers can be misleading. An author with a small publication portfolio may have a very concentrated relationship with a collaborator, even if the absolute number of shared papers is modest.</a:t>
            </a:r>
          </a:p>
          <a:p xmlns:a="http://schemas.openxmlformats.org/drawingml/2006/main">
            <a:r>
              <a:t>The normalized relationship strength divides the number of shared papers by the smaller publication count of the two authors. In example A, the authors share three papers, and the smaller portfolio contains four papers. The normalized strength is point seven five. In example B, the authors share five papers, but the smaller portfolio contains twenty papers, so the normalized strength is only point two five.</a:t>
            </a:r>
          </a:p>
          <a:p xmlns:a="http://schemas.openxmlformats.org/drawingml/2006/main">
            <a:r>
              <a:t>Example B has the larger raw count, but example A has the more concentrated relationship.</a:t>
            </a:r>
          </a:p>
          <a:p xmlns:a="http://schemas.openxmlformats.org/drawingml/2006/main">
            <a:r>
              <a:t>The system can then add complementary structural signals. Personalized PageRank measures proximity to AC-seeded authors. Evans-Chen excess centrality highlights people whose collaborative reach is greater than degree alone predicts. The bridge score combines AC proximity, excess centrality, and cross-SDL diversity. Together, these measures help AC distinguish frequent collaborators from strategically important connectors.</a:t>
            </a:r>
          </a:p>
          <a:p xmlns:a="http://schemas.openxmlformats.org/drawingml/2006/main">
            <a:r>
              <a:t/>
            </a:r>
          </a:p>
          <a:p xmlns:a="http://schemas.openxmlformats.org/drawingml/2006/main">
            <a:r>
              <a:t>TRANSITION: Different strategic questions, however, require different combinations of those dimensions.</a:t>
            </a:r>
          </a:p>
          <a:p xmlns:a="http://schemas.openxmlformats.org/drawingml/2006/main">
            <a:r>
              <a:t/>
            </a:r>
          </a:p>
          <a:p xmlns:a="http://schemas.openxmlformats.org/drawingml/2006/main">
            <a:r>
              <a:t>[Sources]</a:t>
            </a:r>
          </a:p>
          <a:p xmlns:a="http://schemas.openxmlformats.org/drawingml/2006/main">
            <a:r>
              <a:t>- Local source: backend/app/services/network_service.py</a:t>
            </a:r>
          </a:p>
          <a:p xmlns:a="http://schemas.openxmlformats.org/drawingml/2006/main">
            <a:r>
              <a:t>- Local source: backend/app/services/graph_service.py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1:35</a:t>
            </a:r>
          </a:p>
          <a:p xmlns:a="http://schemas.openxmlformats.org/drawingml/2006/main">
            <a:r>
              <a:t>Delivery cue: Frame each profile as a research question, not as a new model.</a:t>
            </a:r>
          </a:p>
          <a:p xmlns:a="http://schemas.openxmlformats.org/drawingml/2006/main">
            <a:r>
              <a:t/>
            </a:r>
          </a:p>
          <a:p xmlns:a="http://schemas.openxmlformats.org/drawingml/2006/main">
            <a:r>
              <a:t>VERBATIM SCRIPT</a:t>
            </a:r>
          </a:p>
          <a:p xmlns:a="http://schemas.openxmlformats.org/drawingml/2006/main">
            <a:r>
              <a:t>There is no single universally correct importance score for a collaboration network. The ranking should reflect the question being asked.</a:t>
            </a:r>
          </a:p>
          <a:p xmlns:a="http://schemas.openxmlformats.org/drawingml/2006/main">
            <a:r>
              <a:t>The formula at the top is a weighted sum over normalized dimensions. The profile makes those weights explicit. For AC attribution, proximity to AC receives the largest weight. For bridge builders, excess centrality and cross-SDL diversity become more important. Institution hubs emphasize sustained relationship strength and institution-spanning reach. Emerging connectors give more weight to recency and early bridge signals. Topic diffusion emphasizes diversity across SDL areas.</a:t>
            </a:r>
          </a:p>
          <a:p xmlns:a="http://schemas.openxmlformats.org/drawingml/2006/main">
            <a:r>
              <a:t>These are not five opaque models. They are five declared interpretations of the same network. The interface exposes both the profile weights and the contribution of each dimension. A researcher can see why an author ranks highly, compare profiles, and adjust the weights if the consortium adopts a different policy.</a:t>
            </a:r>
          </a:p>
          <a:p xmlns:a="http://schemas.openxmlformats.org/drawingml/2006/main">
            <a:r>
              <a:t>That transparency is important for a shared dataset. A ranking becomes discussable and governable when its research question and weighting assumptions are visible.</a:t>
            </a:r>
          </a:p>
          <a:p xmlns:a="http://schemas.openxmlformats.org/drawingml/2006/main">
            <a:r>
              <a:t/>
            </a:r>
          </a:p>
          <a:p xmlns:a="http://schemas.openxmlformats.org/drawingml/2006/main">
            <a:r>
              <a:t>TRANSITION: The current coauthor interface makes that explanation available directly to the user.</a:t>
            </a:r>
          </a:p>
          <a:p xmlns:a="http://schemas.openxmlformats.org/drawingml/2006/main">
            <a:r>
              <a:t/>
            </a:r>
          </a:p>
          <a:p xmlns:a="http://schemas.openxmlformats.org/drawingml/2006/main">
            <a:r>
              <a:t>[Sources]</a:t>
            </a:r>
          </a:p>
          <a:p xmlns:a="http://schemas.openxmlformats.org/drawingml/2006/main">
            <a:r>
              <a:t>- Local source: backend/app/services/node_importance_service.py</a:t>
            </a:r>
          </a:p>
          <a:p xmlns:a="http://schemas.openxmlformats.org/drawingml/2006/main">
            <a:r>
              <a:t>- Local source: frontend/src/pages/CoauthorNetworkPage.tsx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Delivery cue: Acknowledge immediately that the screenshot uses mock values. Point to the profile controls, then the graph.</a:t>
            </a:r>
          </a:p>
          <a:p xmlns:a="http://schemas.openxmlformats.org/drawingml/2006/main">
            <a:r>
              <a:t/>
            </a:r>
          </a:p>
          <a:p xmlns:a="http://schemas.openxmlformats.org/drawingml/2006/main">
            <a:r>
              <a:t>VERBATIM SCRIPT</a:t>
            </a:r>
          </a:p>
          <a:p xmlns:a="http://schemas.openxmlformats.org/drawingml/2006/main">
            <a:r>
              <a:t>This is the current coauthor interface. The screen was captured with mock data, so the names and values are illustrative; what matters here is the implemented interaction and evidence structure.</a:t>
            </a:r>
          </a:p>
          <a:p xmlns:a="http://schemas.openxmlformats.org/drawingml/2006/main">
            <a:r>
              <a:t>At the top, the user can switch among the importance profiles we just discussed. The weight controls show exactly how much emphasis is assigned to AC proximity, relationship strength, excess centrality, cross-SDL diversity, citation affinity, and recency.</a:t>
            </a:r>
          </a:p>
          <a:p xmlns:a="http://schemas.openxmlformats.org/drawingml/2006/main">
            <a:r>
              <a:t>The network view then shows authors and their collaboration edges. Selecting an author exposes paper count, collaborators, Personalized PageRank, excess centrality, the importance components, and a plain-language explanation. Selecting an edge exposes the joint-paper identifiers, normalized relationship strength, and whether the relationship directly involves AC.</a:t>
            </a:r>
          </a:p>
          <a:p xmlns:a="http://schemas.openxmlformats.org/drawingml/2006/main">
            <a:r>
              <a:t>This is useful for AC because the graph is not only a visualization. It can support questions such as: Who connects an AC-adjacent community to another SDL area? Which relationship is supported by specific joint papers? Why did this person rank as a bridge builder?</a:t>
            </a:r>
          </a:p>
          <a:p xmlns:a="http://schemas.openxmlformats.org/drawingml/2006/main">
            <a:r>
              <a:t/>
            </a:r>
          </a:p>
          <a:p xmlns:a="http://schemas.openxmlformats.org/drawingml/2006/main">
            <a:r>
              <a:t>TRANSITION: We can apply the same traceability to institutions, topics, and attribution labels.</a:t>
            </a:r>
          </a:p>
          <a:p xmlns:a="http://schemas.openxmlformats.org/drawingml/2006/main">
            <a:r>
              <a:t/>
            </a:r>
          </a:p>
          <a:p xmlns:a="http://schemas.openxmlformats.org/drawingml/2006/main">
            <a:r>
              <a:t>[Sources]</a:t>
            </a:r>
          </a:p>
          <a:p xmlns:a="http://schemas.openxmlformats.org/drawingml/2006/main">
            <a:r>
              <a:t>- Local interface: frontend/src/pages/CoauthorNetworkPage.tsx</a:t>
            </a:r>
          </a:p>
          <a:p xmlns:a="http://schemas.openxmlformats.org/drawingml/2006/main">
            <a:r>
              <a:t>- Local API: backend/app/api/networks.py</a:t>
            </a:r>
          </a:p>
          <a:p xmlns:a="http://schemas.openxmlformats.org/drawingml/2006/main">
            <a:r>
              <a:t>- Screenshot: local frontend with VITE_USE_MOCK=true; values illustrative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Delivery cue: Follow the Sankey from left to right. Then point to the three questions.</a:t>
            </a:r>
          </a:p>
          <a:p xmlns:a="http://schemas.openxmlformats.org/drawingml/2006/main">
            <a:r>
              <a:t/>
            </a:r>
          </a:p>
          <a:p xmlns:a="http://schemas.openxmlformats.org/drawingml/2006/main">
            <a:r>
              <a:t>VERBATIM SCRIPT</a:t>
            </a:r>
          </a:p>
          <a:p xmlns:a="http://schemas.openxmlformats.org/drawingml/2006/main">
            <a:r>
              <a:t>This Sankey view connects three levels of the dataset. On the left are institutions found on attributed papers. In the middle are scientific topics. On the right are attribution classes. Again, the screenshot values are illustrative mock data, but the flow and filtering are implemented in the current frontend.</a:t>
            </a:r>
          </a:p>
          <a:p xmlns:a="http://schemas.openxmlformats.org/drawingml/2006/main">
            <a:r>
              <a:t>The view supports three linked questions. Which organizations appear on the attributed papers? Which scientific themes connect those organizations? And how does the evidence resolve into attribution classes?</a:t>
            </a:r>
          </a:p>
          <a:p xmlns:a="http://schemas.openxmlformats.org/drawingml/2006/main">
            <a:r>
              <a:t>Because the flows are derived from paper records, a user can move from an aggregate pattern back to the underlying papers. The institution hub score adds another lens. It combines degree, betweenness, partner reach, and international reach. Degree reflects how many collaborators an institution has. Betweenness identifies organizations that connect otherwise separate parts of the network.</a:t>
            </a:r>
          </a:p>
          <a:p xmlns:a="http://schemas.openxmlformats.org/drawingml/2006/main">
            <a:r>
              <a:t>This gives AC a defensible way to identify sustained partners, international connectors, and institutions that may be emerging around a topic rather than relying on a manually assembled contact list.</a:t>
            </a:r>
          </a:p>
          <a:p xmlns:a="http://schemas.openxmlformats.org/drawingml/2006/main">
            <a:r>
              <a:t/>
            </a:r>
          </a:p>
          <a:p xmlns:a="http://schemas.openxmlformats.org/drawingml/2006/main">
            <a:r>
              <a:t>TRANSITION: The institution view is one projection of a larger multi-entity research graph.</a:t>
            </a:r>
          </a:p>
          <a:p xmlns:a="http://schemas.openxmlformats.org/drawingml/2006/main">
            <a:r>
              <a:t/>
            </a:r>
          </a:p>
          <a:p xmlns:a="http://schemas.openxmlformats.org/drawingml/2006/main">
            <a:r>
              <a:t>[Sources]</a:t>
            </a:r>
          </a:p>
          <a:p xmlns:a="http://schemas.openxmlformats.org/drawingml/2006/main">
            <a:r>
              <a:t>- Local source: backend/app/services/analytics_service.py</a:t>
            </a:r>
          </a:p>
          <a:p xmlns:a="http://schemas.openxmlformats.org/drawingml/2006/main">
            <a:r>
              <a:t>- Local source: backend/app/api/analytics.py</a:t>
            </a:r>
          </a:p>
          <a:p xmlns:a="http://schemas.openxmlformats.org/drawingml/2006/main">
            <a:r>
              <a:t>- Local interface: frontend/src/pages/SankeyPage.tsx</a:t>
            </a:r>
          </a:p>
          <a:p xmlns:a="http://schemas.openxmlformats.org/drawingml/2006/main">
            <a:r>
              <a:t>- Screenshot: local frontend with VITE_USE_MOCK=true; values illustrative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Delivery cue: Name node types, then edge types, then the interactive ego-graph workflow.</a:t>
            </a:r>
          </a:p>
          <a:p xmlns:a="http://schemas.openxmlformats.org/drawingml/2006/main">
            <a:r>
              <a:t/>
            </a:r>
          </a:p>
          <a:p xmlns:a="http://schemas.openxmlformats.org/drawingml/2006/main">
            <a:r>
              <a:t>VERBATIM SCRIPT</a:t>
            </a:r>
          </a:p>
          <a:p xmlns:a="http://schemas.openxmlformats.org/drawingml/2006/main">
            <a:r>
              <a:t>The multi-entity graph brings the major bibliometric objects into one inspectable structure. The node types include authors, institutions, papers, topics, methods, funders, and AC-core entities. The edge predicates record relationships such as authored, affiliated with, belongs to topic, uses method, cites, cites AC core, and institution collaboration.</a:t>
            </a:r>
          </a:p>
          <a:p xmlns:a="http://schemas.openxmlformats.org/drawingml/2006/main">
            <a:r>
              <a:t>The screenshot uses mock values, but it shows the implemented controls. A user can select which node and edge types are visible, choose a center entity, set a hop limit, and move the time window. This creates an ego graph around a person, institution, paper, or topic without changing the underlying provenance.</a:t>
            </a:r>
          </a:p>
          <a:p xmlns:a="http://schemas.openxmlformats.org/drawingml/2006/main">
            <a:r>
              <a:t>That distinction matters. The interface can simplify the view for a particular question, but it does not simplify the stored evidence by deleting relationships. A researcher can move from a topic to the papers that support it, from a paper to its authors and institutions, and from those institutions to their collaboration partners.</a:t>
            </a:r>
          </a:p>
          <a:p xmlns:a="http://schemas.openxmlformats.org/drawingml/2006/main">
            <a:r>
              <a:t/>
            </a:r>
          </a:p>
          <a:p xmlns:a="http://schemas.openxmlformats.org/drawingml/2006/main">
            <a:r>
              <a:t>TRANSITION: When these relationships are aggregated over time, they support monitoring as well as exploration.</a:t>
            </a:r>
          </a:p>
          <a:p xmlns:a="http://schemas.openxmlformats.org/drawingml/2006/main">
            <a:r>
              <a:t/>
            </a:r>
          </a:p>
          <a:p xmlns:a="http://schemas.openxmlformats.org/drawingml/2006/main">
            <a:r>
              <a:t>[Sources]</a:t>
            </a:r>
          </a:p>
          <a:p xmlns:a="http://schemas.openxmlformats.org/drawingml/2006/main">
            <a:r>
              <a:t>- Local source: backend/app/services/multi_graph/service.py</a:t>
            </a:r>
          </a:p>
          <a:p xmlns:a="http://schemas.openxmlformats.org/drawingml/2006/main">
            <a:r>
              <a:t>- Local source: backend/app/services/multi_graph/providers.py</a:t>
            </a:r>
          </a:p>
          <a:p xmlns:a="http://schemas.openxmlformats.org/drawingml/2006/main">
            <a:r>
              <a:t>- Local interface: frontend/src/pages/MultiGraphPage.tsx</a:t>
            </a:r>
          </a:p>
          <a:p xmlns:a="http://schemas.openxmlformats.org/drawingml/2006/main">
            <a:r>
              <a:t>- Screenshot: local frontend with VITE_USE_MOCK=true; values illustrative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1:20</a:t>
            </a:r>
          </a:p>
          <a:p xmlns:a="http://schemas.openxmlformats.org/drawingml/2006/main">
            <a:r>
              <a:t>Delivery cue: State the SQL provenance before mentioning any metric. Do not present mock numbers as results.</a:t>
            </a:r>
          </a:p>
          <a:p xmlns:a="http://schemas.openxmlformats.org/drawingml/2006/main">
            <a:r>
              <a:t/>
            </a:r>
          </a:p>
          <a:p xmlns:a="http://schemas.openxmlformats.org/drawingml/2006/main">
            <a:r>
              <a:t>VERBATIM SCRIPT</a:t>
            </a:r>
          </a:p>
          <a:p xmlns:a="http://schemas.openxmlformats.org/drawingml/2006/main">
            <a:r>
              <a:t>This impact view shows the types of monitoring the system can support. The screenshot contains illustrative mock values, not a claim about the current AC corpus.</a:t>
            </a:r>
          </a:p>
          <a:p xmlns:a="http://schemas.openxmlformats.org/drawingml/2006/main">
            <a:r>
              <a:t>In production, the numbers are derived from SQL queries over the attributed dataset. The system can count core and related papers by year, citation edges by year, emerging institutions, emerging authors, growing topics, and drift events. Emerging institutions and authors include a first year and activity count, so the user can distinguish genuinely new relationships from long-standing ones. Topic drift compares year-to-year topic vectors to identify changes in the scientific mix.</a:t>
            </a:r>
          </a:p>
          <a:p xmlns:a="http://schemas.openxmlformats.org/drawingml/2006/main">
            <a:r>
              <a:t>The important governance point is shown at the lower right: an LLM does not calculate these numbers. Reporting begins with metric triples produced by database queries, including the metric key, value, and source. A language model may help rewrite a narrative around supplied metrics, but it should not invent, estimate, or silently recalculate the evidence.</a:t>
            </a:r>
          </a:p>
          <a:p xmlns:a="http://schemas.openxmlformats.org/drawingml/2006/main">
            <a:r>
              <a:t/>
            </a:r>
          </a:p>
          <a:p xmlns:a="http://schemas.openxmlformats.org/drawingml/2006/main">
            <a:r>
              <a:t>TRANSITION: These capabilities become most useful when they are tied to concrete operating questions.</a:t>
            </a:r>
          </a:p>
          <a:p xmlns:a="http://schemas.openxmlformats.org/drawingml/2006/main">
            <a:r>
              <a:t/>
            </a:r>
          </a:p>
          <a:p xmlns:a="http://schemas.openxmlformats.org/drawingml/2006/main">
            <a:r>
              <a:t>[Sources]</a:t>
            </a:r>
          </a:p>
          <a:p xmlns:a="http://schemas.openxmlformats.org/drawingml/2006/main">
            <a:r>
              <a:t>- Local source: backend/app/services/analytics_service.py</a:t>
            </a:r>
          </a:p>
          <a:p xmlns:a="http://schemas.openxmlformats.org/drawingml/2006/main">
            <a:r>
              <a:t>- Local source: backend/app/services/drift_service.py</a:t>
            </a:r>
          </a:p>
          <a:p xmlns:a="http://schemas.openxmlformats.org/drawingml/2006/main">
            <a:r>
              <a:t>- Local source: backend/app/services/reporting_service.py</a:t>
            </a:r>
          </a:p>
          <a:p xmlns:a="http://schemas.openxmlformats.org/drawingml/2006/main">
            <a:r>
              <a:t>- Local interface: frontend/src/pages/ImpactPage.tsx</a:t>
            </a:r>
          </a:p>
          <a:p xmlns:a="http://schemas.openxmlformats.org/drawingml/2006/main">
            <a:r>
              <a:t>- Screenshot: local frontend with VITE_USE_MOCK=true; values illustrative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a:t>
            </a:r>
          </a:p>
          <a:p xmlns:a="http://schemas.openxmlformats.org/drawingml/2006/main">
            <a:r>
              <a:t>Delivery cue: Choose four rows to discuss; do not read the table verbatim.</a:t>
            </a:r>
          </a:p>
          <a:p xmlns:a="http://schemas.openxmlformats.org/drawingml/2006/main">
            <a:r>
              <a:t/>
            </a:r>
          </a:p>
          <a:p xmlns:a="http://schemas.openxmlformats.org/drawingml/2006/main">
            <a:r>
              <a:t>VERBATIM SCRIPT</a:t>
            </a:r>
          </a:p>
          <a:p xmlns:a="http://schemas.openxmlformats.org/drawingml/2006/main">
            <a:r>
              <a:t>This table translates the technical components into operating questions for AC.</a:t>
            </a:r>
          </a:p>
          <a:p xmlns:a="http://schemas.openxmlformats.org/drawingml/2006/main">
            <a:r>
              <a:t>For paper curation, the question is: which papers are attributable to AC, and why? The evidence is the paper record, the Attribution Evidence Tree, and the graph explanation. The action may be to review, publish, or correct the attribution.</a:t>
            </a:r>
          </a:p>
          <a:p xmlns:a="http://schemas.openxmlformats.org/drawingml/2006/main">
            <a:r>
              <a:t>For partnership intelligence, we can ask who bridges AC to an external SDL community, or which institutions are becoming collaborators. The evidence comes from proximity, excess centrality, cross-SDL diversity, joint papers, institution edges, and first-year activity.</a:t>
            </a:r>
          </a:p>
          <a:p xmlns:a="http://schemas.openxmlformats.org/drawingml/2006/main">
            <a:r>
              <a:t>For scientific translation, we can ask which topics or methods move across communities. Sankey flows, the multi-entity graph, and topic-diffusion profiles provide the evidence.</a:t>
            </a:r>
          </a:p>
          <a:p xmlns:a="http://schemas.openxmlformats.org/drawingml/2006/main">
            <a:r>
              <a:t>Finally, the system can expose evidence gaps, duplicate candidates, missed-paper groups, and drift. That supports better corpus coverage and review policy. The goal is not another dashboard. It is a decision surface for curation, partnership tracking, and scientific translation, with the evidence attached.</a:t>
            </a:r>
          </a:p>
          <a:p xmlns:a="http://schemas.openxmlformats.org/drawingml/2006/main">
            <a:r>
              <a:t/>
            </a:r>
          </a:p>
          <a:p xmlns:a="http://schemas.openxmlformats.org/drawingml/2006/main">
            <a:r>
              <a:t>TRANSITION: Researchers also need a reliable way to ask questions of that evidence without losing the source context.</a:t>
            </a:r>
          </a:p>
          <a:p xmlns:a="http://schemas.openxmlformats.org/drawingml/2006/main">
            <a:r>
              <a:t/>
            </a:r>
          </a:p>
          <a:p xmlns:a="http://schemas.openxmlformats.org/drawingml/2006/main">
            <a:r>
              <a:t>[Sources]</a:t>
            </a:r>
          </a:p>
          <a:p xmlns:a="http://schemas.openxmlformats.org/drawingml/2006/main">
            <a:r>
              <a:t>- Local sources: backend/app/api/papers.py; backend/app/api/networks.py; backend/app/api/analytics.py</a:t>
            </a:r>
          </a:p>
          <a:p xmlns:a="http://schemas.openxmlformats.org/drawingml/2006/main">
            <a:r>
              <a:t>- Local source: backend/app/services/reporting_service.py</a:t>
            </a:r>
          </a:p>
          <a:p xmlns:a="http://schemas.openxmlformats.org/drawingml/2006/main">
            <a:r>
              <a:t>- Local source: backend/app/services/missed_papers_service.py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1:30</a:t>
            </a:r>
          </a:p>
          <a:p xmlns:a="http://schemas.openxmlformats.org/drawingml/2006/main">
            <a:r>
              <a:t>Delivery cue: Walk through the pipeline once in plain language, then summarize the two formulas.</a:t>
            </a:r>
          </a:p>
          <a:p xmlns:a="http://schemas.openxmlformats.org/drawingml/2006/main">
            <a:r>
              <a:t/>
            </a:r>
          </a:p>
          <a:p xmlns:a="http://schemas.openxmlformats.org/drawingml/2006/main">
            <a:r>
              <a:t>VERBATIM SCRIPT</a:t>
            </a:r>
          </a:p>
          <a:p xmlns:a="http://schemas.openxmlformats.org/drawingml/2006/main">
            <a:r>
              <a:t>The retrieval layer starts with a natural-language question. It searches the text using BM25, which is a lexical method, and cosine similarity, which captures semantic similarity. Reciprocal rank fusion combines the two rankings without requiring their raw scores to be directly comparable.</a:t>
            </a:r>
          </a:p>
          <a:p xmlns:a="http://schemas.openxmlformats.org/drawingml/2006/main">
            <a:r>
              <a:t>The first formula shows that fusion: a document receives credit based on its position in each ranking. The graph layer then applies a bounded importance boost. The second formula limits that boost to thirty percent of the fused score, so network centrality cannot replace textual relevance.</a:t>
            </a:r>
          </a:p>
          <a:p xmlns:a="http://schemas.openxmlformats.org/drawingml/2006/main">
            <a:r>
              <a:t>For structured questions, the system can use a proposition channel. For example, a question about a method, funding relationship, or experimental assumption can retrieve extracted propositions rather than relying only on free text.</a:t>
            </a:r>
          </a:p>
          <a:p xmlns:a="http://schemas.openxmlformats.org/drawingml/2006/main">
            <a:r>
              <a:t>Every returned source includes a paper and chunk identifier, section type, title, retrieval scores, and graph-path context when available. The answer should therefore include both sources and a retry or missing-evidence signal. Retrieval is valuable here because it preserves the route back from an answer to the evidence used to produce it.</a:t>
            </a:r>
          </a:p>
          <a:p xmlns:a="http://schemas.openxmlformats.org/drawingml/2006/main">
            <a:r>
              <a:t/>
            </a:r>
          </a:p>
          <a:p xmlns:a="http://schemas.openxmlformats.org/drawingml/2006/main">
            <a:r>
              <a:t>TRANSITION: This evidence access also defines a safe and useful role for Claude.</a:t>
            </a:r>
          </a:p>
          <a:p xmlns:a="http://schemas.openxmlformats.org/drawingml/2006/main">
            <a:r>
              <a:t/>
            </a:r>
          </a:p>
          <a:p xmlns:a="http://schemas.openxmlformats.org/drawingml/2006/main">
            <a:r>
              <a:t>[Sources]</a:t>
            </a:r>
          </a:p>
          <a:p xmlns:a="http://schemas.openxmlformats.org/drawingml/2006/main">
            <a:r>
              <a:t>- Local source: backend/app/services/retrieval_service.py</a:t>
            </a:r>
          </a:p>
          <a:p xmlns:a="http://schemas.openxmlformats.org/drawingml/2006/main">
            <a:r>
              <a:t>- Local source: backend/app/api/retrieval.py</a:t>
            </a:r>
          </a:p>
          <a:p xmlns:a="http://schemas.openxmlformats.org/drawingml/2006/main">
            <a:r>
              <a:t>- Local interface: frontend/src/pages/RetrievalPage.tsx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1:35</a:t>
            </a:r>
          </a:p>
          <a:p xmlns:a="http://schemas.openxmlformats.org/drawingml/2006/main">
            <a:r>
              <a:t>Delivery cue: Use a firm tone on the authority boundary. Pause before describing the Claude role.</a:t>
            </a:r>
          </a:p>
          <a:p xmlns:a="http://schemas.openxmlformats.org/drawingml/2006/main">
            <a:r>
              <a:t/>
            </a:r>
          </a:p>
          <a:p xmlns:a="http://schemas.openxmlformats.org/drawingml/2006/main">
            <a:r>
              <a:t>VERBATIM SCRIPT</a:t>
            </a:r>
          </a:p>
          <a:p xmlns:a="http://schemas.openxmlformats.org/drawingml/2006/main">
            <a:r>
              <a:t>The workflow separates an automated proposal from a human decision. The system proposes a label, confidence, evidence paths, and an uncertainty status. A reviewer can include, exclude, or mark the paper uncertain, and record a rationale. Once confirmed, the attribution is locked against silent automated overrides.</a:t>
            </a:r>
          </a:p>
          <a:p xmlns:a="http://schemas.openxmlformats.org/drawingml/2006/main">
            <a:r>
              <a:t>This is where Claude can add value if credits are available. A safe use is to adjudicate only the uncertainty queue, summarize retrieved evidence, draft reviewer rationales, or rewrite a report from supplied SQL metric triples. Those tasks reduce reading and writing effort while remaining bounded by evidence that already exists.</a:t>
            </a:r>
          </a:p>
          <a:p xmlns:a="http://schemas.openxmlformats.org/drawingml/2006/main">
            <a:r>
              <a:t>The authority boundary is equally important. Claude may not create papers, graph edges, citations, measurements, results, or numerical claims. It should not replace deterministic database operations or the reviewer’s final decision.</a:t>
            </a:r>
          </a:p>
          <a:p xmlns:a="http://schemas.openxmlformats.org/drawingml/2006/main">
            <a:r>
              <a:t>So I would describe agent funding as review acceleration and evidence synthesis, not as funding an autonomous bibliometric classifier. The database, evidence paths, and human-confirmed decisions remain the system of record.</a:t>
            </a:r>
          </a:p>
          <a:p xmlns:a="http://schemas.openxmlformats.org/drawingml/2006/main">
            <a:r>
              <a:t/>
            </a:r>
          </a:p>
          <a:p xmlns:a="http://schemas.openxmlformats.org/drawingml/2006/main">
            <a:r>
              <a:t>TRANSITION: With that governance in place, attributed papers can safely support downstream knowledge work.</a:t>
            </a:r>
          </a:p>
          <a:p xmlns:a="http://schemas.openxmlformats.org/drawingml/2006/main">
            <a:r>
              <a:t/>
            </a:r>
          </a:p>
          <a:p xmlns:a="http://schemas.openxmlformats.org/drawingml/2006/main">
            <a:r>
              <a:t>[Sources]</a:t>
            </a:r>
          </a:p>
          <a:p xmlns:a="http://schemas.openxmlformats.org/drawingml/2006/main">
            <a:r>
              <a:t>- Local source: backend/app/services/llm_judge.py</a:t>
            </a:r>
          </a:p>
          <a:p xmlns:a="http://schemas.openxmlformats.org/drawingml/2006/main">
            <a:r>
              <a:t>- Local source: backend/app/api/reviews.py</a:t>
            </a:r>
          </a:p>
          <a:p xmlns:a="http://schemas.openxmlformats.org/drawingml/2006/main">
            <a:r>
              <a:t>- Local source: backend/app/services/reporting_service.py</a:t>
            </a:r>
          </a:p>
          <a:p xmlns:a="http://schemas.openxmlformats.org/drawingml/2006/main">
            <a:r>
              <a:t>- Local source: backend/docs/technical_overview.md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1:35</a:t>
            </a:r>
          </a:p>
          <a:p xmlns:a="http://schemas.openxmlformats.org/drawingml/2006/main">
            <a:r>
              <a:t>Delivery cue: Move across the pipeline and stress the source contract at the right.</a:t>
            </a:r>
          </a:p>
          <a:p xmlns:a="http://schemas.openxmlformats.org/drawingml/2006/main">
            <a:r>
              <a:t/>
            </a:r>
          </a:p>
          <a:p xmlns:a="http://schemas.openxmlformats.org/drawingml/2006/main">
            <a:r>
              <a:t>VERBATIM SCRIPT</a:t>
            </a:r>
          </a:p>
          <a:p xmlns:a="http://schemas.openxmlformats.org/drawingml/2006/main">
            <a:r>
              <a:t>The cross-SDL pipeline begins with reviewed attributed papers, not detached summaries. From each paper, the system extracts structured claims, including entities and propositions. It then creates a transfer knowledge unit, or TKU, containing the method core, assumptions, and lessons.</a:t>
            </a:r>
          </a:p>
          <a:p xmlns:a="http://schemas.openxmlformats.org/drawingml/2006/main">
            <a:r>
              <a:t>The target-matching stage looks for a different SDL domain where that knowledge may be relevant. Same-domain matches are excluded. A transfer design then describes a possible plan, risks, and citations. The final knowledge card is a human-reviewed reusable asset.</a:t>
            </a:r>
          </a:p>
          <a:p xmlns:a="http://schemas.openxmlformats.org/drawingml/2006/main">
            <a:r>
              <a:t>Candidate designs are ranked using match strength, novelty, transferability, evidence, and a risk penalty. This ranking helps prioritize review; it is not a claim that a transfer will succeed experimentally.</a:t>
            </a:r>
          </a:p>
          <a:p xmlns:a="http://schemas.openxmlformats.org/drawingml/2006/main">
            <a:r>
              <a:t>The source contract on the right is essential. Every generated claim carries a source tag such as a paper identifier. Human review precedes acceptance. Classification makes the corpus searchable, but attribution makes the extracted knowledge defensible because the methods and lessons inherit evidence paths from the paper record.</a:t>
            </a:r>
          </a:p>
          <a:p xmlns:a="http://schemas.openxmlformats.org/drawingml/2006/main">
            <a:r>
              <a:t/>
            </a:r>
          </a:p>
          <a:p xmlns:a="http://schemas.openxmlformats.org/drawingml/2006/main">
            <a:r>
              <a:t>TRANSITION: Before closing, I want to be precise about what is current, optional, offline, and still future work.</a:t>
            </a:r>
          </a:p>
          <a:p xmlns:a="http://schemas.openxmlformats.org/drawingml/2006/main">
            <a:r>
              <a:t/>
            </a:r>
          </a:p>
          <a:p xmlns:a="http://schemas.openxmlformats.org/drawingml/2006/main">
            <a:r>
              <a:t>[Sources]</a:t>
            </a:r>
          </a:p>
          <a:p xmlns:a="http://schemas.openxmlformats.org/drawingml/2006/main">
            <a:r>
              <a:t>- Local source: backend/app/services/tku_extractor.py</a:t>
            </a:r>
          </a:p>
          <a:p xmlns:a="http://schemas.openxmlformats.org/drawingml/2006/main">
            <a:r>
              <a:t>- Local source: backend/app/services/transfer_designer.py</a:t>
            </a:r>
          </a:p>
          <a:p xmlns:a="http://schemas.openxmlformats.org/drawingml/2006/main">
            <a:r>
              <a:t>- Local source: backend/app/services/evolutionary_transfer_service.py</a:t>
            </a:r>
          </a:p>
          <a:p xmlns:a="http://schemas.openxmlformats.org/drawingml/2006/main">
            <a:r>
              <a:t>- Local source: backend/app/services/kb_service.py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a:t>
            </a:r>
          </a:p>
          <a:p xmlns:a="http://schemas.openxmlformats.org/drawingml/2006/main">
            <a:r>
              <a:t>Delivery cue: Use this slide to prevent overclaiming. Slow down on the offline baseline and future experiment rows.</a:t>
            </a:r>
          </a:p>
          <a:p xmlns:a="http://schemas.openxmlformats.org/drawingml/2006/main">
            <a:r>
              <a:t/>
            </a:r>
          </a:p>
          <a:p xmlns:a="http://schemas.openxmlformats.org/drawingml/2006/main">
            <a:r>
              <a:t>VERBATIM SCRIPT</a:t>
            </a:r>
          </a:p>
          <a:p xmlns:a="http://schemas.openxmlformats.org/drawingml/2006/main">
            <a:r>
              <a:t>The current repository already implements substantial functionality: paper attribution records, AET evidence paths, deterministic graph explanations, coauthor, institution, and multi-entity networks, impact and drift analytics, source-linked retrieval, and transfer services.</a:t>
            </a:r>
          </a:p>
          <a:p xmlns:a="http://schemas.openxmlformats.org/drawingml/2006/main">
            <a:r>
              <a:t>Claude-based uncertainty judging and report rewriting are optional layers. They should be default-off or conditionally invoked, and bounded by retrieved evidence and high-margin rules. The learned classifier is also an optional layer using engineered features.</a:t>
            </a:r>
          </a:p>
          <a:p xmlns:a="http://schemas.openxmlformats.org/drawingml/2006/main">
            <a:r>
              <a:t>Separately, the repository contains an offline structural graph-feature baseline. It uses leakage-safe graph features, balanced logistic regression, and leave-one-out evaluation. That is an evaluation artifact, not production authority.</a:t>
            </a:r>
          </a:p>
          <a:p xmlns:a="http://schemas.openxmlformats.org/drawingml/2006/main">
            <a:r>
              <a:t>A deployed graph neural network would require PyTorch Geometric or DGL training, saved weights, an inference service, and production integration. That future path is not currently implemented. We should therefore avoid describing graph export or the offline baseline as a deployed GNN classifier.</a:t>
            </a:r>
          </a:p>
          <a:p xmlns:a="http://schemas.openxmlformats.org/drawingml/2006/main">
            <a:r>
              <a:t/>
            </a:r>
          </a:p>
          <a:p xmlns:a="http://schemas.openxmlformats.org/drawingml/2006/main">
            <a:r>
              <a:t>TRANSITION: With those boundaries clear, the meeting can end with four concrete program decisions.</a:t>
            </a:r>
          </a:p>
          <a:p xmlns:a="http://schemas.openxmlformats.org/drawingml/2006/main">
            <a:r>
              <a:t/>
            </a:r>
          </a:p>
          <a:p xmlns:a="http://schemas.openxmlformats.org/drawingml/2006/main">
            <a:r>
              <a:t>[Sources]</a:t>
            </a:r>
          </a:p>
          <a:p xmlns:a="http://schemas.openxmlformats.org/drawingml/2006/main">
            <a:r>
              <a:t>- Local source: backend/docs/development_progress.md</a:t>
            </a:r>
          </a:p>
          <a:p xmlns:a="http://schemas.openxmlformats.org/drawingml/2006/main">
            <a:r>
              <a:t>- Local source: backend/docs/gnn_graph_ml_development_plan.md</a:t>
            </a:r>
          </a:p>
          <a:p xmlns:a="http://schemas.openxmlformats.org/drawingml/2006/main">
            <a:r>
              <a:t>- Local source: backend/app/services/graph_feature_baseline.py</a:t>
            </a:r>
          </a:p>
          <a:p xmlns:a="http://schemas.openxmlformats.org/drawingml/2006/main">
            <a:r>
              <a:t>- Local source: backend/app/services/learned_classifier.py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1:15</a:t>
            </a:r>
          </a:p>
          <a:p xmlns:a="http://schemas.openxmlformats.org/drawingml/2006/main">
            <a:r>
              <a:t>Delivery cue: Close by inviting decisions, not by summarizing every feature.</a:t>
            </a:r>
          </a:p>
          <a:p xmlns:a="http://schemas.openxmlformats.org/drawingml/2006/main">
            <a:r>
              <a:t/>
            </a:r>
          </a:p>
          <a:p xmlns:a="http://schemas.openxmlformats.org/drawingml/2006/main">
            <a:r>
              <a:t>VERBATIM SCRIPT</a:t>
            </a:r>
          </a:p>
          <a:p xmlns:a="http://schemas.openxmlformats.org/drawingml/2006/main">
            <a:r>
              <a:t>I would like to close with four decisions that define a shared bibliometric program.</a:t>
            </a:r>
          </a:p>
          <a:p xmlns:a="http://schemas.openxmlformats.org/drawingml/2006/main">
            <a:r>
              <a:t>First is the corpus. Which bibliometric sources, date range, and gold papers define the trusted starting set?</a:t>
            </a:r>
          </a:p>
          <a:p xmlns:a="http://schemas.openxmlformats.org/drawingml/2006/main">
            <a:r>
              <a:t>Second is attribution policy. Which evidence paths are sufficient for core, related, and organization-level reporting? This is a consortium decision, not only a software decision.</a:t>
            </a:r>
          </a:p>
          <a:p xmlns:a="http://schemas.openxmlformats.org/drawingml/2006/main">
            <a:r>
              <a:t>Third is connection metrics. Which profiles should AC use for attribution, bridge discovery, institution analysis, and topic diffusion? The weights can be transparent, but they still need an agreed interpretation.</a:t>
            </a:r>
          </a:p>
          <a:p xmlns:a="http://schemas.openxmlformats.org/drawingml/2006/main">
            <a:r>
              <a:t>Fourth is the review and model budget. Which uncertainty bands require human review, and where should Claude credits reduce review work without gaining authority over the evidence?</a:t>
            </a:r>
          </a:p>
          <a:p xmlns:a="http://schemas.openxmlformats.org/drawingml/2006/main">
            <a:r>
              <a:t>If we agree on those four areas, the first release will define more than which papers enter the dataset. It will also define which relationships and evidence paths the consortium is prepared to trust. That shared policy is what makes the dataset reusable for connection intelligence and future cross-SDL knowledge generation.</a:t>
            </a:r>
          </a:p>
          <a:p xmlns:a="http://schemas.openxmlformats.org/drawingml/2006/main">
            <a:r>
              <a:t/>
            </a:r>
          </a:p>
          <a:p xmlns:a="http://schemas.openxmlformats.org/drawingml/2006/main">
            <a:r>
              <a:t>TRANSITION: I will stop here and open the discussion.</a:t>
            </a:r>
          </a:p>
          <a:p xmlns:a="http://schemas.openxmlformats.org/drawingml/2006/main">
            <a:r>
              <a:t/>
            </a:r>
          </a:p>
          <a:p xmlns:a="http://schemas.openxmlformats.org/drawingml/2006/main">
            <a:r>
              <a:t>[Sources]</a:t>
            </a:r>
          </a:p>
          <a:p xmlns:a="http://schemas.openxmlformats.org/drawingml/2006/main">
            <a:r>
              <a:t>- Local source: backend/docs/technical_overview.md</a:t>
            </a:r>
          </a:p>
          <a:p xmlns:a="http://schemas.openxmlformats.org/drawingml/2006/main">
            <a:r>
              <a:t>- Local sources: backend/app/services/attribution_evidence_tree.py; backend/app/services/node_importance_service.py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b3809a0bbf4b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750858ca384ed3" /><Relationship Type="http://schemas.openxmlformats.org/officeDocument/2006/relationships/slideLayout" Target="/ppt/slideLayouts/slideLayout1.xml" Id="Rb0f37e376ecf4f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37e376ecf4f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b481d462e54e7c" /><Relationship Type="http://schemas.openxmlformats.org/officeDocument/2006/relationships/notesSlide" Target="/ppt/notesSlides/notesSlide1.xml" Id="Rbec8e8e1e62449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12abbeecfb4cb2" /><Relationship Type="http://schemas.openxmlformats.org/officeDocument/2006/relationships/notesSlide" Target="/ppt/notesSlides/notesSlide2.xml" Id="Radc0bbb705f444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e898f2accd43a9" /><Relationship Type="http://schemas.openxmlformats.org/officeDocument/2006/relationships/notesSlide" Target="/ppt/notesSlides/notesSlide3.xml" Id="Ree9bd9466322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a3aecfe8d2403b" /><Relationship Type="http://schemas.openxmlformats.org/officeDocument/2006/relationships/notesSlide" Target="/ppt/notesSlides/notesSlide4.xml" Id="Rec18f05440654d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ca3e7f802849e3" /><Relationship Type="http://schemas.openxmlformats.org/officeDocument/2006/relationships/notesSlide" Target="/ppt/notesSlides/notesSlide5.xml" Id="R5df5eba1a8f148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8664a6991c4333" /><Relationship Type="http://schemas.openxmlformats.org/officeDocument/2006/relationships/notesSlide" Target="/ppt/notesSlides/notesSlide6.xml" Id="R1fe9e23262ed47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ebeab92dd74e37" /><Relationship Type="http://schemas.openxmlformats.org/officeDocument/2006/relationships/notesSlide" Target="/ppt/notesSlides/notesSlide7.xml" Id="R20d33b0bf5b14d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0df13196bc4299" /><Relationship Type="http://schemas.openxmlformats.org/officeDocument/2006/relationships/notesSlide" Target="/ppt/notesSlides/notesSlide8.xml" Id="Rda383e1201b942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68605e562c4df6" /><Relationship Type="http://schemas.openxmlformats.org/officeDocument/2006/relationships/notesSlide" Target="/ppt/notesSlides/notesSlide9.xml" Id="Rcdbf36eaca184f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0df2769ce945f5" /><Relationship Type="http://schemas.openxmlformats.org/officeDocument/2006/relationships/image" Target="/ppt/media/image.png" Id="R66ef64d101f5445c" /><Relationship Type="http://schemas.openxmlformats.org/officeDocument/2006/relationships/notesSlide" Target="/ppt/notesSlides/notesSlide10.xml" Id="Rbfaab84ca3904a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cabaa2c54184806" /><Relationship Type="http://schemas.openxmlformats.org/officeDocument/2006/relationships/image" Target="/ppt/media/image2.png" Id="R90aa8d5c159f4084" /><Relationship Type="http://schemas.openxmlformats.org/officeDocument/2006/relationships/notesSlide" Target="/ppt/notesSlides/notesSlide11.xml" Id="Rcbcc8bae66b749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c3f4104705478a" /><Relationship Type="http://schemas.openxmlformats.org/officeDocument/2006/relationships/image" Target="/ppt/media/image3.png" Id="R8350c78d44944f79" /><Relationship Type="http://schemas.openxmlformats.org/officeDocument/2006/relationships/notesSlide" Target="/ppt/notesSlides/notesSlide12.xml" Id="R4a068a7462e34f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4c611a8b294096" /><Relationship Type="http://schemas.openxmlformats.org/officeDocument/2006/relationships/image" Target="/ppt/media/image4.png" Id="R9c8f68bef085415f" /><Relationship Type="http://schemas.openxmlformats.org/officeDocument/2006/relationships/notesSlide" Target="/ppt/notesSlides/notesSlide13.xml" Id="Ra4b53402acca42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e987fde18e49f2" /><Relationship Type="http://schemas.openxmlformats.org/officeDocument/2006/relationships/notesSlide" Target="/ppt/notesSlides/notesSlide14.xml" Id="R3ad51a12362746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8d22f94d30467b" /><Relationship Type="http://schemas.openxmlformats.org/officeDocument/2006/relationships/notesSlide" Target="/ppt/notesSlides/notesSlide15.xml" Id="R7e886ab4039f48c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9ebb85bfe2478e" /><Relationship Type="http://schemas.openxmlformats.org/officeDocument/2006/relationships/notesSlide" Target="/ppt/notesSlides/notesSlide16.xml" Id="R3c1ca6bb02db4f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abc042fea647d9" /><Relationship Type="http://schemas.openxmlformats.org/officeDocument/2006/relationships/notesSlide" Target="/ppt/notesSlides/notesSlide17.xml" Id="R9d03b20b91a84a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2b091d99f14d95" /><Relationship Type="http://schemas.openxmlformats.org/officeDocument/2006/relationships/notesSlide" Target="/ppt/notesSlides/notesSlide18.xml" Id="R8fec3a73e654442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684a0edf074650" /><Relationship Type="http://schemas.openxmlformats.org/officeDocument/2006/relationships/notesSlide" Target="/ppt/notesSlides/notesSlide19.xml" Id="R052a7d727b334fff" /></Relationships>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559C96-1EB7-4236-935D-9AF7B5BE5BD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3B1744-4D5F-4BE4-8358-B691153795D5}"/>
              </a:ext>
            </a:extLst>
          </p:cNvPr>
          <p:cNvSpPr>
            <a:spLocks xmlns:a="http://schemas.openxmlformats.org/drawingml/2006/main" noGrp="1"/>
          </p:cNvSpPr>
          <p:nvPr/>
        </p:nvSpPr>
        <p:spPr>
          <a:xfrm xmlns:a="http://schemas.openxmlformats.org/drawingml/2006/main">
            <a:off x="685800" y="5524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587F96"/>
                </a:solidFill>
                <a:latin typeface="Arial"/>
                <a:ea typeface="Arial"/>
                <a:cs typeface="Arial"/>
              </a:defRPr>
            </a:pPr>
            <a:r>
              <a:rPr sz="975" b="1" i="0">
                <a:solidFill>
                  <a:srgbClr val="587F96"/>
                </a:solidFill>
                <a:latin typeface="Arial"/>
                <a:ea typeface="Arial"/>
                <a:cs typeface="Arial"/>
              </a:rPr>
              <a:t>SYSTEM WALKTHROUGH</a:t>
            </a:r>
          </a:p>
        </p:txBody>
      </p:sp>
      <p:sp>
        <p:nvSpPr>
          <p:cNvPr id="3" name="">
            <a:extLst xmlns:a="http://schemas.openxmlformats.org/drawingml/2006/main">
              <a:ext uri="{FF2B5EF4-FFF2-40B4-BE49-F238E27FC236}">
                <a16:creationId xmlns:a16="http://schemas.microsoft.com/office/drawing/2014/main" id="{1272BA0D-C99F-4132-A269-36D7F2B45ACF}"/>
              </a:ext>
            </a:extLst>
          </p:cNvPr>
          <p:cNvSpPr>
            <a:spLocks xmlns:a="http://schemas.openxmlformats.org/drawingml/2006/main" noGrp="1"/>
          </p:cNvSpPr>
          <p:nvPr/>
        </p:nvSpPr>
        <p:spPr>
          <a:xfrm xmlns:a="http://schemas.openxmlformats.org/drawingml/2006/main">
            <a:off x="685800" y="1352550"/>
            <a:ext cx="9334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350" b="1" i="0">
                <a:solidFill>
                  <a:srgbClr val="17202A"/>
                </a:solidFill>
                <a:latin typeface="Georgia"/>
                <a:ea typeface="Georgia"/>
                <a:cs typeface="Georgia"/>
              </a:defRPr>
            </a:pPr>
            <a:r>
              <a:rPr sz="4350" b="1" i="0">
                <a:solidFill>
                  <a:srgbClr val="17202A"/>
                </a:solidFill>
                <a:latin typeface="Georgia"/>
                <a:ea typeface="Georgia"/>
                <a:cs typeface="Georgia"/>
              </a:rPr>
              <a:t>Paper Attribution</a:t>
            </a:r>
          </a:p>
          <a:p xmlns:a="http://schemas.openxmlformats.org/drawingml/2006/main">
            <a:pPr algn="l">
              <a:lnSpc>
                <a:spcPct val="94000"/>
              </a:lnSpc>
              <a:buNone/>
              <a:defRPr sz="4350" b="1" i="0">
                <a:solidFill>
                  <a:srgbClr val="17202A"/>
                </a:solidFill>
                <a:latin typeface="Georgia"/>
                <a:ea typeface="Georgia"/>
                <a:cs typeface="Georgia"/>
              </a:defRPr>
            </a:pPr>
            <a:r>
              <a:rPr sz="4350" b="1" i="0">
                <a:solidFill>
                  <a:srgbClr val="17202A"/>
                </a:solidFill>
                <a:latin typeface="Georgia"/>
                <a:ea typeface="Georgia"/>
                <a:cs typeface="Georgia"/>
              </a:rPr>
              <a:t>and Connection Intelligence</a:t>
            </a:r>
          </a:p>
        </p:txBody>
      </p:sp>
      <p:sp>
        <p:nvSpPr>
          <p:cNvPr id="4" name="">
            <a:extLst xmlns:a="http://schemas.openxmlformats.org/drawingml/2006/main">
              <a:ext uri="{FF2B5EF4-FFF2-40B4-BE49-F238E27FC236}">
                <a16:creationId xmlns:a16="http://schemas.microsoft.com/office/drawing/2014/main" id="{B7F94093-C316-4098-86E4-24F3F75FD8D6}"/>
              </a:ext>
            </a:extLst>
          </p:cNvPr>
          <p:cNvSpPr>
            <a:spLocks xmlns:a="http://schemas.openxmlformats.org/drawingml/2006/main" noGrp="1"/>
          </p:cNvSpPr>
          <p:nvPr/>
        </p:nvSpPr>
        <p:spPr>
          <a:xfrm xmlns:a="http://schemas.openxmlformats.org/drawingml/2006/main">
            <a:off x="685800" y="3305175"/>
            <a:ext cx="18097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5" name="">
            <a:extLst xmlns:a="http://schemas.openxmlformats.org/drawingml/2006/main">
              <a:ext uri="{FF2B5EF4-FFF2-40B4-BE49-F238E27FC236}">
                <a16:creationId xmlns:a16="http://schemas.microsoft.com/office/drawing/2014/main" id="{E590B82D-A725-4AF4-81EF-39EEF248B34D}"/>
              </a:ext>
            </a:extLst>
          </p:cNvPr>
          <p:cNvSpPr>
            <a:spLocks xmlns:a="http://schemas.openxmlformats.org/drawingml/2006/main" noGrp="1"/>
          </p:cNvSpPr>
          <p:nvPr/>
        </p:nvSpPr>
        <p:spPr>
          <a:xfrm xmlns:a="http://schemas.openxmlformats.org/drawingml/2006/main">
            <a:off x="685800" y="3676650"/>
            <a:ext cx="828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725" b="0" i="0">
                <a:solidFill>
                  <a:srgbClr val="606972"/>
                </a:solidFill>
                <a:latin typeface="Arial"/>
                <a:ea typeface="Arial"/>
                <a:cs typeface="Arial"/>
              </a:defRPr>
            </a:pPr>
            <a:r>
              <a:rPr sz="1725" b="0" i="0">
                <a:solidFill>
                  <a:srgbClr val="606972"/>
                </a:solidFill>
                <a:latin typeface="Arial"/>
                <a:ea typeface="Arial"/>
                <a:cs typeface="Arial"/>
              </a:rPr>
              <a:t>How the AC bibliometric system explains papers, tracks relationships,</a:t>
            </a:r>
          </a:p>
          <a:p xmlns:a="http://schemas.openxmlformats.org/drawingml/2006/main">
            <a:pPr algn="l">
              <a:lnSpc>
                <a:spcPct val="114000"/>
              </a:lnSpc>
              <a:buNone/>
              <a:defRPr sz="1725" b="0" i="0">
                <a:solidFill>
                  <a:srgbClr val="606972"/>
                </a:solidFill>
                <a:latin typeface="Arial"/>
                <a:ea typeface="Arial"/>
                <a:cs typeface="Arial"/>
              </a:defRPr>
            </a:pPr>
            <a:r>
              <a:rPr sz="1725" b="0" i="0">
                <a:solidFill>
                  <a:srgbClr val="606972"/>
                </a:solidFill>
                <a:latin typeface="Arial"/>
                <a:ea typeface="Arial"/>
                <a:cs typeface="Arial"/>
              </a:rPr>
              <a:t>and prepares source-grounded knowledge for cross-SDL reuse.</a:t>
            </a:r>
          </a:p>
        </p:txBody>
      </p:sp>
      <p:sp>
        <p:nvSpPr>
          <p:cNvPr id="6" name="">
            <a:extLst xmlns:a="http://schemas.openxmlformats.org/drawingml/2006/main">
              <a:ext uri="{FF2B5EF4-FFF2-40B4-BE49-F238E27FC236}">
                <a16:creationId xmlns:a16="http://schemas.microsoft.com/office/drawing/2014/main" id="{0183B0BE-D4A9-4C69-9D18-93E380AD467D}"/>
              </a:ext>
            </a:extLst>
          </p:cNvPr>
          <p:cNvSpPr>
            <a:spLocks xmlns:a="http://schemas.openxmlformats.org/drawingml/2006/main" noGrp="1"/>
          </p:cNvSpPr>
          <p:nvPr/>
        </p:nvSpPr>
        <p:spPr>
          <a:xfrm xmlns:a="http://schemas.openxmlformats.org/drawingml/2006/main">
            <a:off x="685800" y="5219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B8663B"/>
                </a:solidFill>
                <a:latin typeface="Arial"/>
                <a:ea typeface="Arial"/>
                <a:cs typeface="Arial"/>
              </a:defRPr>
            </a:pPr>
            <a:r>
              <a:rPr sz="975" b="1" i="0">
                <a:solidFill>
                  <a:srgbClr val="B8663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4ED53CA-71FD-403F-9594-1A970EE21D1E}"/>
              </a:ext>
            </a:extLst>
          </p:cNvPr>
          <p:cNvSpPr>
            <a:spLocks xmlns:a="http://schemas.openxmlformats.org/drawingml/2006/main" noGrp="1"/>
          </p:cNvSpPr>
          <p:nvPr/>
        </p:nvSpPr>
        <p:spPr>
          <a:xfrm xmlns:a="http://schemas.openxmlformats.org/drawingml/2006/main">
            <a:off x="1123950" y="52197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ATTRIBUTION</a:t>
            </a:r>
          </a:p>
        </p:txBody>
      </p:sp>
      <p:sp>
        <p:nvSpPr>
          <p:cNvPr id="8" name="">
            <a:extLst xmlns:a="http://schemas.openxmlformats.org/drawingml/2006/main">
              <a:ext uri="{FF2B5EF4-FFF2-40B4-BE49-F238E27FC236}">
                <a16:creationId xmlns:a16="http://schemas.microsoft.com/office/drawing/2014/main" id="{B82058F2-2FC4-49FE-B6AA-02B19519DDC3}"/>
              </a:ext>
            </a:extLst>
          </p:cNvPr>
          <p:cNvSpPr>
            <a:spLocks xmlns:a="http://schemas.openxmlformats.org/drawingml/2006/main" noGrp="1"/>
          </p:cNvSpPr>
          <p:nvPr/>
        </p:nvSpPr>
        <p:spPr>
          <a:xfrm xmlns:a="http://schemas.openxmlformats.org/drawingml/2006/main">
            <a:off x="2924175" y="5219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B8663B"/>
                </a:solidFill>
                <a:latin typeface="Arial"/>
                <a:ea typeface="Arial"/>
                <a:cs typeface="Arial"/>
              </a:defRPr>
            </a:pPr>
            <a:r>
              <a:rPr sz="975" b="1" i="0">
                <a:solidFill>
                  <a:srgbClr val="B8663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3783E3B-70D5-41B5-BCE5-32C5E9BC03B1}"/>
              </a:ext>
            </a:extLst>
          </p:cNvPr>
          <p:cNvSpPr>
            <a:spLocks xmlns:a="http://schemas.openxmlformats.org/drawingml/2006/main" noGrp="1"/>
          </p:cNvSpPr>
          <p:nvPr/>
        </p:nvSpPr>
        <p:spPr>
          <a:xfrm xmlns:a="http://schemas.openxmlformats.org/drawingml/2006/main">
            <a:off x="3362325" y="52197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CONNECTIONS</a:t>
            </a:r>
          </a:p>
        </p:txBody>
      </p:sp>
      <p:sp>
        <p:nvSpPr>
          <p:cNvPr id="10" name="">
            <a:extLst xmlns:a="http://schemas.openxmlformats.org/drawingml/2006/main">
              <a:ext uri="{FF2B5EF4-FFF2-40B4-BE49-F238E27FC236}">
                <a16:creationId xmlns:a16="http://schemas.microsoft.com/office/drawing/2014/main" id="{666C50B4-1E0E-4DDD-8A27-F67B94B9EBC5}"/>
              </a:ext>
            </a:extLst>
          </p:cNvPr>
          <p:cNvSpPr>
            <a:spLocks xmlns:a="http://schemas.openxmlformats.org/drawingml/2006/main" noGrp="1"/>
          </p:cNvSpPr>
          <p:nvPr/>
        </p:nvSpPr>
        <p:spPr>
          <a:xfrm xmlns:a="http://schemas.openxmlformats.org/drawingml/2006/main">
            <a:off x="5162550" y="5219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B8663B"/>
                </a:solidFill>
                <a:latin typeface="Arial"/>
                <a:ea typeface="Arial"/>
                <a:cs typeface="Arial"/>
              </a:defRPr>
            </a:pPr>
            <a:r>
              <a:rPr sz="975" b="1" i="0">
                <a:solidFill>
                  <a:srgbClr val="B8663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5B2A606-FF5C-4CB3-957E-6C47715A37F3}"/>
              </a:ext>
            </a:extLst>
          </p:cNvPr>
          <p:cNvSpPr>
            <a:spLocks xmlns:a="http://schemas.openxmlformats.org/drawingml/2006/main" noGrp="1"/>
          </p:cNvSpPr>
          <p:nvPr/>
        </p:nvSpPr>
        <p:spPr>
          <a:xfrm xmlns:a="http://schemas.openxmlformats.org/drawingml/2006/main">
            <a:off x="5600700" y="52197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KNOWLEDGE</a:t>
            </a:r>
          </a:p>
        </p:txBody>
      </p:sp>
      <p:sp>
        <p:nvSpPr>
          <p:cNvPr id="12" name="">
            <a:extLst xmlns:a="http://schemas.openxmlformats.org/drawingml/2006/main">
              <a:ext uri="{FF2B5EF4-FFF2-40B4-BE49-F238E27FC236}">
                <a16:creationId xmlns:a16="http://schemas.microsoft.com/office/drawing/2014/main" id="{D6211EB3-732F-45CA-B93B-FB33DADCA98A}"/>
              </a:ext>
            </a:extLst>
          </p:cNvPr>
          <p:cNvSpPr>
            <a:spLocks xmlns:a="http://schemas.openxmlformats.org/drawingml/2006/main" noGrp="1"/>
          </p:cNvSpPr>
          <p:nvPr/>
        </p:nvSpPr>
        <p:spPr>
          <a:xfrm xmlns:a="http://schemas.openxmlformats.org/drawingml/2006/main">
            <a:off x="685800" y="63436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8B8F91"/>
                </a:solidFill>
                <a:latin typeface="Arial"/>
                <a:ea typeface="Arial"/>
                <a:cs typeface="Arial"/>
              </a:defRPr>
            </a:pPr>
            <a:r>
              <a:rPr sz="825" b="0" i="0">
                <a:solidFill>
                  <a:srgbClr val="8B8F91"/>
                </a:solidFill>
                <a:latin typeface="Arial"/>
                <a:ea typeface="Arial"/>
                <a:cs typeface="Arial"/>
              </a:rPr>
              <a:t>UNIVERSITY OF TORONTO · ACCELERATION CONSORTIUM</a:t>
            </a:r>
          </a:p>
        </p:txBody>
      </p:sp>
      <p:sp>
        <p:nvSpPr>
          <p:cNvPr id="13" name="">
            <a:extLst xmlns:a="http://schemas.openxmlformats.org/drawingml/2006/main">
              <a:ext uri="{FF2B5EF4-FFF2-40B4-BE49-F238E27FC236}">
                <a16:creationId xmlns:a16="http://schemas.microsoft.com/office/drawing/2014/main" id="{0ADC32F1-D03D-4ADD-AD19-A4A7AD005F3D}"/>
              </a:ext>
            </a:extLst>
          </p:cNvPr>
          <p:cNvSpPr>
            <a:spLocks xmlns:a="http://schemas.openxmlformats.org/drawingml/2006/main" noGrp="1"/>
          </p:cNvSpPr>
          <p:nvPr/>
        </p:nvSpPr>
        <p:spPr>
          <a:xfrm xmlns:a="http://schemas.openxmlformats.org/drawingml/2006/main">
            <a:off x="10382250" y="6343650"/>
            <a:ext cx="1314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0" i="0">
                <a:solidFill>
                  <a:srgbClr val="8B8F91"/>
                </a:solidFill>
                <a:latin typeface="Arial"/>
                <a:ea typeface="Arial"/>
                <a:cs typeface="Arial"/>
              </a:defRPr>
            </a:pPr>
            <a:r>
              <a:rPr sz="825" b="0" i="0">
                <a:solidFill>
                  <a:srgbClr val="8B8F91"/>
                </a:solidFill>
                <a:latin typeface="Arial"/>
                <a:ea typeface="Arial"/>
                <a:cs typeface="Arial"/>
              </a:rPr>
              <a:t>JULY 2026</a:t>
            </a:r>
          </a:p>
        </p:txBody>
      </p:sp>
    </p:spTree>
    <p:extLst>
      <p:ext uri="{BB962C8B-B14F-4D97-AF65-F5344CB8AC3E}">
        <p14:creationId xmlns:p14="http://schemas.microsoft.com/office/powerpoint/2010/main" val="1268323003"/>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610A991-492E-41AF-84FF-EFF8307EB174}"/>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SYSTEM SCOPE</a:t>
            </a:r>
          </a:p>
        </p:txBody>
      </p:sp>
      <p:sp>
        <p:nvSpPr>
          <p:cNvPr id="2" name="">
            <a:extLst xmlns:a="http://schemas.openxmlformats.org/drawingml/2006/main">
              <a:ext uri="{FF2B5EF4-FFF2-40B4-BE49-F238E27FC236}">
                <a16:creationId xmlns:a16="http://schemas.microsoft.com/office/drawing/2014/main" id="{C50F4348-B509-4C75-A055-8DAC10B7AC75}"/>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63D4696-CF5D-499E-9980-A549B4659BC6}"/>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Classification is the first decision, not the product</a:t>
            </a:r>
          </a:p>
        </p:txBody>
      </p:sp>
      <p:sp>
        <p:nvSpPr>
          <p:cNvPr id="4" name="">
            <a:extLst xmlns:a="http://schemas.openxmlformats.org/drawingml/2006/main">
              <a:ext uri="{FF2B5EF4-FFF2-40B4-BE49-F238E27FC236}">
                <a16:creationId xmlns:a16="http://schemas.microsoft.com/office/drawing/2014/main" id="{12BA7E8E-8D36-4502-9E0B-CD02189FBE25}"/>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06DC0AB5-D79E-4658-B4DB-28684E9A30AD}"/>
              </a:ext>
            </a:extLst>
          </p:cNvPr>
          <p:cNvSpPr>
            <a:spLocks xmlns:a="http://schemas.openxmlformats.org/drawingml/2006/main" noGrp="1"/>
          </p:cNvSpPr>
          <p:nvPr/>
        </p:nvSpPr>
        <p:spPr>
          <a:xfrm xmlns:a="http://schemas.openxmlformats.org/drawingml/2006/main">
            <a:off x="2495550" y="3343275"/>
            <a:ext cx="3048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0F03D1-10AB-487D-8F49-3AB4752F38A4}"/>
              </a:ext>
            </a:extLst>
          </p:cNvPr>
          <p:cNvSpPr>
            <a:spLocks xmlns:a="http://schemas.openxmlformats.org/drawingml/2006/main" noGrp="1"/>
          </p:cNvSpPr>
          <p:nvPr/>
        </p:nvSpPr>
        <p:spPr>
          <a:xfrm xmlns:a="http://schemas.openxmlformats.org/drawingml/2006/main">
            <a:off x="5295900" y="3343275"/>
            <a:ext cx="3048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765D2D-94E4-4FB2-B5C5-020F4C0E2F75}"/>
              </a:ext>
            </a:extLst>
          </p:cNvPr>
          <p:cNvSpPr>
            <a:spLocks xmlns:a="http://schemas.openxmlformats.org/drawingml/2006/main" noGrp="1"/>
          </p:cNvSpPr>
          <p:nvPr/>
        </p:nvSpPr>
        <p:spPr>
          <a:xfrm xmlns:a="http://schemas.openxmlformats.org/drawingml/2006/main">
            <a:off x="8096250" y="3343275"/>
            <a:ext cx="3048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B626AB-6ACD-4A8E-909C-7DE5A8BD9BB3}"/>
              </a:ext>
            </a:extLst>
          </p:cNvPr>
          <p:cNvSpPr>
            <a:spLocks xmlns:a="http://schemas.openxmlformats.org/drawingml/2006/main" noGrp="1"/>
          </p:cNvSpPr>
          <p:nvPr/>
        </p:nvSpPr>
        <p:spPr>
          <a:xfrm xmlns:a="http://schemas.openxmlformats.org/drawingml/2006/main">
            <a:off x="495300" y="2095500"/>
            <a:ext cx="23812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9" name="">
            <a:extLst xmlns:a="http://schemas.openxmlformats.org/drawingml/2006/main">
              <a:ext uri="{FF2B5EF4-FFF2-40B4-BE49-F238E27FC236}">
                <a16:creationId xmlns:a16="http://schemas.microsoft.com/office/drawing/2014/main" id="{5A6237E2-20EF-405B-B344-C3F8BC621D36}"/>
              </a:ext>
            </a:extLst>
          </p:cNvPr>
          <p:cNvSpPr>
            <a:spLocks xmlns:a="http://schemas.openxmlformats.org/drawingml/2006/main" noGrp="1"/>
          </p:cNvSpPr>
          <p:nvPr/>
        </p:nvSpPr>
        <p:spPr>
          <a:xfrm xmlns:a="http://schemas.openxmlformats.org/drawingml/2006/main">
            <a:off x="495300" y="23241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B8663B"/>
                </a:solidFill>
                <a:latin typeface="Arial"/>
                <a:ea typeface="Arial"/>
                <a:cs typeface="Arial"/>
              </a:defRPr>
            </a:pPr>
            <a:r>
              <a:rPr sz="1125" b="1" i="0">
                <a:solidFill>
                  <a:srgbClr val="B8663B"/>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ABD1D30F-524D-4ECA-9F58-800654E0AA4C}"/>
              </a:ext>
            </a:extLst>
          </p:cNvPr>
          <p:cNvSpPr>
            <a:spLocks xmlns:a="http://schemas.openxmlformats.org/drawingml/2006/main" noGrp="1"/>
          </p:cNvSpPr>
          <p:nvPr/>
        </p:nvSpPr>
        <p:spPr>
          <a:xfrm xmlns:a="http://schemas.openxmlformats.org/drawingml/2006/main">
            <a:off x="495300" y="27527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CLASSIFICATION</a:t>
            </a:r>
          </a:p>
        </p:txBody>
      </p:sp>
      <p:sp>
        <p:nvSpPr>
          <p:cNvPr id="11" name="">
            <a:extLst xmlns:a="http://schemas.openxmlformats.org/drawingml/2006/main">
              <a:ext uri="{FF2B5EF4-FFF2-40B4-BE49-F238E27FC236}">
                <a16:creationId xmlns:a16="http://schemas.microsoft.com/office/drawing/2014/main" id="{99AF4AF2-746D-40E0-BCA4-47E7AD3DA117}"/>
              </a:ext>
            </a:extLst>
          </p:cNvPr>
          <p:cNvSpPr>
            <a:spLocks xmlns:a="http://schemas.openxmlformats.org/drawingml/2006/main" noGrp="1"/>
          </p:cNvSpPr>
          <p:nvPr/>
        </p:nvSpPr>
        <p:spPr>
          <a:xfrm xmlns:a="http://schemas.openxmlformats.org/drawingml/2006/main">
            <a:off x="495300" y="3209925"/>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606972"/>
                </a:solidFill>
                <a:latin typeface="Arial"/>
                <a:ea typeface="Arial"/>
                <a:cs typeface="Arial"/>
              </a:defRPr>
            </a:pPr>
            <a:r>
              <a:rPr sz="1275" b="0" i="0">
                <a:solidFill>
                  <a:srgbClr val="606972"/>
                </a:solidFill>
                <a:latin typeface="Arial"/>
                <a:ea typeface="Arial"/>
                <a:cs typeface="Arial"/>
              </a:rPr>
              <a:t>Which relevance class is plausible?</a:t>
            </a:r>
          </a:p>
        </p:txBody>
      </p:sp>
      <p:sp>
        <p:nvSpPr>
          <p:cNvPr id="12" name="">
            <a:extLst xmlns:a="http://schemas.openxmlformats.org/drawingml/2006/main">
              <a:ext uri="{FF2B5EF4-FFF2-40B4-BE49-F238E27FC236}">
                <a16:creationId xmlns:a16="http://schemas.microsoft.com/office/drawing/2014/main" id="{5277516F-BE47-4ABF-A3CC-AA652B9094DB}"/>
              </a:ext>
            </a:extLst>
          </p:cNvPr>
          <p:cNvSpPr>
            <a:spLocks xmlns:a="http://schemas.openxmlformats.org/drawingml/2006/main" noGrp="1"/>
          </p:cNvSpPr>
          <p:nvPr/>
        </p:nvSpPr>
        <p:spPr>
          <a:xfrm xmlns:a="http://schemas.openxmlformats.org/drawingml/2006/main">
            <a:off x="3295650" y="2095500"/>
            <a:ext cx="23812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3" name="">
            <a:extLst xmlns:a="http://schemas.openxmlformats.org/drawingml/2006/main">
              <a:ext uri="{FF2B5EF4-FFF2-40B4-BE49-F238E27FC236}">
                <a16:creationId xmlns:a16="http://schemas.microsoft.com/office/drawing/2014/main" id="{B00AF251-7406-401C-B141-3FD8B1D8BBD0}"/>
              </a:ext>
            </a:extLst>
          </p:cNvPr>
          <p:cNvSpPr>
            <a:spLocks xmlns:a="http://schemas.openxmlformats.org/drawingml/2006/main" noGrp="1"/>
          </p:cNvSpPr>
          <p:nvPr/>
        </p:nvSpPr>
        <p:spPr>
          <a:xfrm xmlns:a="http://schemas.openxmlformats.org/drawingml/2006/main">
            <a:off x="3295650" y="23241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87F96"/>
                </a:solidFill>
                <a:latin typeface="Arial"/>
                <a:ea typeface="Arial"/>
                <a:cs typeface="Arial"/>
              </a:defRPr>
            </a:pPr>
            <a:r>
              <a:rPr sz="1125" b="1" i="0">
                <a:solidFill>
                  <a:srgbClr val="587F96"/>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B6F75F1D-2ED7-4473-8CAB-A103EC356FF2}"/>
              </a:ext>
            </a:extLst>
          </p:cNvPr>
          <p:cNvSpPr>
            <a:spLocks xmlns:a="http://schemas.openxmlformats.org/drawingml/2006/main" noGrp="1"/>
          </p:cNvSpPr>
          <p:nvPr/>
        </p:nvSpPr>
        <p:spPr>
          <a:xfrm xmlns:a="http://schemas.openxmlformats.org/drawingml/2006/main">
            <a:off x="3295650" y="27527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PAPER ATTRIBUTION</a:t>
            </a:r>
          </a:p>
        </p:txBody>
      </p:sp>
      <p:sp>
        <p:nvSpPr>
          <p:cNvPr id="15" name="">
            <a:extLst xmlns:a="http://schemas.openxmlformats.org/drawingml/2006/main">
              <a:ext uri="{FF2B5EF4-FFF2-40B4-BE49-F238E27FC236}">
                <a16:creationId xmlns:a16="http://schemas.microsoft.com/office/drawing/2014/main" id="{52562464-DC9B-4CDB-9CEA-092D0B4546BE}"/>
              </a:ext>
            </a:extLst>
          </p:cNvPr>
          <p:cNvSpPr>
            <a:spLocks xmlns:a="http://schemas.openxmlformats.org/drawingml/2006/main" noGrp="1"/>
          </p:cNvSpPr>
          <p:nvPr/>
        </p:nvSpPr>
        <p:spPr>
          <a:xfrm xmlns:a="http://schemas.openxmlformats.org/drawingml/2006/main">
            <a:off x="3295650" y="3209925"/>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606972"/>
                </a:solidFill>
                <a:latin typeface="Arial"/>
                <a:ea typeface="Arial"/>
                <a:cs typeface="Arial"/>
              </a:defRPr>
            </a:pPr>
            <a:r>
              <a:rPr sz="1275" b="0" i="0">
                <a:solidFill>
                  <a:srgbClr val="606972"/>
                </a:solidFill>
                <a:latin typeface="Arial"/>
                <a:ea typeface="Arial"/>
                <a:cs typeface="Arial"/>
              </a:rPr>
              <a:t>Which AC people, institutions, funding, citations, and graph paths support it?</a:t>
            </a:r>
          </a:p>
        </p:txBody>
      </p:sp>
      <p:sp>
        <p:nvSpPr>
          <p:cNvPr id="16" name="">
            <a:extLst xmlns:a="http://schemas.openxmlformats.org/drawingml/2006/main">
              <a:ext uri="{FF2B5EF4-FFF2-40B4-BE49-F238E27FC236}">
                <a16:creationId xmlns:a16="http://schemas.microsoft.com/office/drawing/2014/main" id="{72DE375F-DD99-44A4-82F3-A85C7F41F526}"/>
              </a:ext>
            </a:extLst>
          </p:cNvPr>
          <p:cNvSpPr>
            <a:spLocks xmlns:a="http://schemas.openxmlformats.org/drawingml/2006/main" noGrp="1"/>
          </p:cNvSpPr>
          <p:nvPr/>
        </p:nvSpPr>
        <p:spPr>
          <a:xfrm xmlns:a="http://schemas.openxmlformats.org/drawingml/2006/main">
            <a:off x="6096000" y="2095500"/>
            <a:ext cx="23812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7" name="">
            <a:extLst xmlns:a="http://schemas.openxmlformats.org/drawingml/2006/main">
              <a:ext uri="{FF2B5EF4-FFF2-40B4-BE49-F238E27FC236}">
                <a16:creationId xmlns:a16="http://schemas.microsoft.com/office/drawing/2014/main" id="{CB908DA8-50ED-4BAA-9D0A-30A445B4493F}"/>
              </a:ext>
            </a:extLst>
          </p:cNvPr>
          <p:cNvSpPr>
            <a:spLocks xmlns:a="http://schemas.openxmlformats.org/drawingml/2006/main" noGrp="1"/>
          </p:cNvSpPr>
          <p:nvPr/>
        </p:nvSpPr>
        <p:spPr>
          <a:xfrm xmlns:a="http://schemas.openxmlformats.org/drawingml/2006/main">
            <a:off x="6096000" y="23241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87F96"/>
                </a:solidFill>
                <a:latin typeface="Arial"/>
                <a:ea typeface="Arial"/>
                <a:cs typeface="Arial"/>
              </a:defRPr>
            </a:pPr>
            <a:r>
              <a:rPr sz="1125" b="1" i="0">
                <a:solidFill>
                  <a:srgbClr val="587F96"/>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68929636-3DE9-4C9B-A05A-BA20D415452C}"/>
              </a:ext>
            </a:extLst>
          </p:cNvPr>
          <p:cNvSpPr>
            <a:spLocks xmlns:a="http://schemas.openxmlformats.org/drawingml/2006/main" noGrp="1"/>
          </p:cNvSpPr>
          <p:nvPr/>
        </p:nvSpPr>
        <p:spPr>
          <a:xfrm xmlns:a="http://schemas.openxmlformats.org/drawingml/2006/main">
            <a:off x="6096000" y="27527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CONNECTION INTELLIGENCE</a:t>
            </a:r>
          </a:p>
        </p:txBody>
      </p:sp>
      <p:sp>
        <p:nvSpPr>
          <p:cNvPr id="19" name="">
            <a:extLst xmlns:a="http://schemas.openxmlformats.org/drawingml/2006/main">
              <a:ext uri="{FF2B5EF4-FFF2-40B4-BE49-F238E27FC236}">
                <a16:creationId xmlns:a16="http://schemas.microsoft.com/office/drawing/2014/main" id="{71D1A484-C52D-4280-90C7-27009E87764F}"/>
              </a:ext>
            </a:extLst>
          </p:cNvPr>
          <p:cNvSpPr>
            <a:spLocks xmlns:a="http://schemas.openxmlformats.org/drawingml/2006/main" noGrp="1"/>
          </p:cNvSpPr>
          <p:nvPr/>
        </p:nvSpPr>
        <p:spPr>
          <a:xfrm xmlns:a="http://schemas.openxmlformats.org/drawingml/2006/main">
            <a:off x="6096000" y="3209925"/>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606972"/>
                </a:solidFill>
                <a:latin typeface="Arial"/>
                <a:ea typeface="Arial"/>
                <a:cs typeface="Arial"/>
              </a:defRPr>
            </a:pPr>
            <a:r>
              <a:rPr sz="1275" b="0" i="0">
                <a:solidFill>
                  <a:srgbClr val="606972"/>
                </a:solidFill>
                <a:latin typeface="Arial"/>
                <a:ea typeface="Arial"/>
                <a:cs typeface="Arial"/>
              </a:rPr>
              <a:t>Which authors, institutions, topics, and methods are connected across the corpus?</a:t>
            </a:r>
          </a:p>
        </p:txBody>
      </p:sp>
      <p:sp>
        <p:nvSpPr>
          <p:cNvPr id="20" name="">
            <a:extLst xmlns:a="http://schemas.openxmlformats.org/drawingml/2006/main">
              <a:ext uri="{FF2B5EF4-FFF2-40B4-BE49-F238E27FC236}">
                <a16:creationId xmlns:a16="http://schemas.microsoft.com/office/drawing/2014/main" id="{F8A5D3F0-6744-4ADA-AA81-760854C59685}"/>
              </a:ext>
            </a:extLst>
          </p:cNvPr>
          <p:cNvSpPr>
            <a:spLocks xmlns:a="http://schemas.openxmlformats.org/drawingml/2006/main" noGrp="1"/>
          </p:cNvSpPr>
          <p:nvPr/>
        </p:nvSpPr>
        <p:spPr>
          <a:xfrm xmlns:a="http://schemas.openxmlformats.org/drawingml/2006/main">
            <a:off x="8896350" y="2095500"/>
            <a:ext cx="23812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21" name="">
            <a:extLst xmlns:a="http://schemas.openxmlformats.org/drawingml/2006/main">
              <a:ext uri="{FF2B5EF4-FFF2-40B4-BE49-F238E27FC236}">
                <a16:creationId xmlns:a16="http://schemas.microsoft.com/office/drawing/2014/main" id="{7C228D6A-1BD1-40BC-BFF1-B9DBBAC89B1B}"/>
              </a:ext>
            </a:extLst>
          </p:cNvPr>
          <p:cNvSpPr>
            <a:spLocks xmlns:a="http://schemas.openxmlformats.org/drawingml/2006/main" noGrp="1"/>
          </p:cNvSpPr>
          <p:nvPr/>
        </p:nvSpPr>
        <p:spPr>
          <a:xfrm xmlns:a="http://schemas.openxmlformats.org/drawingml/2006/main">
            <a:off x="8896350" y="2324100"/>
            <a:ext cx="28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87F96"/>
                </a:solidFill>
                <a:latin typeface="Arial"/>
                <a:ea typeface="Arial"/>
                <a:cs typeface="Arial"/>
              </a:defRPr>
            </a:pPr>
            <a:r>
              <a:rPr sz="1125" b="1" i="0">
                <a:solidFill>
                  <a:srgbClr val="587F96"/>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21FDB82F-6DF6-4628-AC21-53D29A36D261}"/>
              </a:ext>
            </a:extLst>
          </p:cNvPr>
          <p:cNvSpPr>
            <a:spLocks xmlns:a="http://schemas.openxmlformats.org/drawingml/2006/main" noGrp="1"/>
          </p:cNvSpPr>
          <p:nvPr/>
        </p:nvSpPr>
        <p:spPr>
          <a:xfrm xmlns:a="http://schemas.openxmlformats.org/drawingml/2006/main">
            <a:off x="8896350" y="27527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KNOWLEDGE REUSE</a:t>
            </a:r>
          </a:p>
        </p:txBody>
      </p:sp>
      <p:sp>
        <p:nvSpPr>
          <p:cNvPr id="23" name="">
            <a:extLst xmlns:a="http://schemas.openxmlformats.org/drawingml/2006/main">
              <a:ext uri="{FF2B5EF4-FFF2-40B4-BE49-F238E27FC236}">
                <a16:creationId xmlns:a16="http://schemas.microsoft.com/office/drawing/2014/main" id="{0263320F-54D7-4E47-BA36-7171F90FB117}"/>
              </a:ext>
            </a:extLst>
          </p:cNvPr>
          <p:cNvSpPr>
            <a:spLocks xmlns:a="http://schemas.openxmlformats.org/drawingml/2006/main" noGrp="1"/>
          </p:cNvSpPr>
          <p:nvPr/>
        </p:nvSpPr>
        <p:spPr>
          <a:xfrm xmlns:a="http://schemas.openxmlformats.org/drawingml/2006/main">
            <a:off x="8896350" y="3209925"/>
            <a:ext cx="2381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75" b="0" i="0">
                <a:solidFill>
                  <a:srgbClr val="606972"/>
                </a:solidFill>
                <a:latin typeface="Arial"/>
                <a:ea typeface="Arial"/>
                <a:cs typeface="Arial"/>
              </a:defRPr>
            </a:pPr>
            <a:r>
              <a:rPr sz="1275" b="0" i="0">
                <a:solidFill>
                  <a:srgbClr val="606972"/>
                </a:solidFill>
                <a:latin typeface="Arial"/>
                <a:ea typeface="Arial"/>
                <a:cs typeface="Arial"/>
              </a:rPr>
              <a:t>Which source-grounded methods and lessons can transfer to another SDL?</a:t>
            </a:r>
          </a:p>
        </p:txBody>
      </p:sp>
      <p:sp>
        <p:nvSpPr>
          <p:cNvPr id="24" name="">
            <a:extLst xmlns:a="http://schemas.openxmlformats.org/drawingml/2006/main">
              <a:ext uri="{FF2B5EF4-FFF2-40B4-BE49-F238E27FC236}">
                <a16:creationId xmlns:a16="http://schemas.microsoft.com/office/drawing/2014/main" id="{47691CE0-2119-494E-A83C-D83150D33BA2}"/>
              </a:ext>
            </a:extLst>
          </p:cNvPr>
          <p:cNvSpPr>
            <a:spLocks xmlns:a="http://schemas.openxmlformats.org/drawingml/2006/main" noGrp="1"/>
          </p:cNvSpPr>
          <p:nvPr/>
        </p:nvSpPr>
        <p:spPr>
          <a:xfrm xmlns:a="http://schemas.openxmlformats.org/drawingml/2006/main">
            <a:off x="495300" y="4762500"/>
            <a:ext cx="11201400" cy="1066800"/>
          </a:xfrm>
          <a:prstGeom xmlns:a="http://schemas.openxmlformats.org/drawingml/2006/main" prst="rect">
            <a:avLst/>
          </a:prstGeom>
          <a:solidFill xmlns:a="http://schemas.openxmlformats.org/drawingml/2006/main">
            <a:srgbClr val="E8E1D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E04B78-C909-4EB6-89E2-BE0FD8E3D967}"/>
              </a:ext>
            </a:extLst>
          </p:cNvPr>
          <p:cNvSpPr>
            <a:spLocks xmlns:a="http://schemas.openxmlformats.org/drawingml/2006/main" noGrp="1"/>
          </p:cNvSpPr>
          <p:nvPr/>
        </p:nvSpPr>
        <p:spPr>
          <a:xfrm xmlns:a="http://schemas.openxmlformats.org/drawingml/2006/main">
            <a:off x="723900" y="49530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DURABLE OUTPUT</a:t>
            </a:r>
          </a:p>
        </p:txBody>
      </p:sp>
      <p:sp>
        <p:nvSpPr>
          <p:cNvPr id="26" name="">
            <a:extLst xmlns:a="http://schemas.openxmlformats.org/drawingml/2006/main">
              <a:ext uri="{FF2B5EF4-FFF2-40B4-BE49-F238E27FC236}">
                <a16:creationId xmlns:a16="http://schemas.microsoft.com/office/drawing/2014/main" id="{91227DD1-5DEE-46F6-9CF1-0FDA0F32F83A}"/>
              </a:ext>
            </a:extLst>
          </p:cNvPr>
          <p:cNvSpPr>
            <a:spLocks xmlns:a="http://schemas.openxmlformats.org/drawingml/2006/main" noGrp="1"/>
          </p:cNvSpPr>
          <p:nvPr/>
        </p:nvSpPr>
        <p:spPr>
          <a:xfrm xmlns:a="http://schemas.openxmlformats.org/drawingml/2006/main">
            <a:off x="723900" y="52673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515"/>
          </a:bodyPr>
          <a:lstStyle xmlns:a="http://schemas.openxmlformats.org/drawingml/2006/main"/>
          <a:p xmlns:a="http://schemas.openxmlformats.org/drawingml/2006/main">
            <a:pPr algn="l">
              <a:lnSpc>
                <a:spcPct val="108000"/>
              </a:lnSpc>
              <a:buNone/>
              <a:defRPr sz="1725" b="1" i="0">
                <a:solidFill>
                  <a:srgbClr val="17202A"/>
                </a:solidFill>
                <a:latin typeface="Georgia"/>
                <a:ea typeface="Georgia"/>
                <a:cs typeface="Georgia"/>
              </a:defRPr>
            </a:pPr>
            <a:r>
              <a:rPr sz="1725" b="1" i="0">
                <a:solidFill>
                  <a:srgbClr val="17202A"/>
                </a:solidFill>
                <a:latin typeface="Georgia"/>
                <a:ea typeface="Georgia"/>
                <a:cs typeface="Georgia"/>
              </a:rPr>
              <a:t>A provenance-preserving research graph in which every node, edge, label, and generated claim can be traced back to papers and source text.</a:t>
            </a:r>
          </a:p>
        </p:txBody>
      </p:sp>
      <p:sp>
        <p:nvSpPr>
          <p:cNvPr id="27" name="">
            <a:extLst xmlns:a="http://schemas.openxmlformats.org/drawingml/2006/main">
              <a:ext uri="{FF2B5EF4-FFF2-40B4-BE49-F238E27FC236}">
                <a16:creationId xmlns:a16="http://schemas.microsoft.com/office/drawing/2014/main" id="{7E4672B4-E786-4BC0-9041-C7AB0CEC4C08}"/>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28" name="">
            <a:extLst xmlns:a="http://schemas.openxmlformats.org/drawingml/2006/main">
              <a:ext uri="{FF2B5EF4-FFF2-40B4-BE49-F238E27FC236}">
                <a16:creationId xmlns:a16="http://schemas.microsoft.com/office/drawing/2014/main" id="{55AE9776-21EF-4FD7-A2B7-F3A854814377}"/>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29" name="">
            <a:extLst xmlns:a="http://schemas.openxmlformats.org/drawingml/2006/main">
              <a:ext uri="{FF2B5EF4-FFF2-40B4-BE49-F238E27FC236}">
                <a16:creationId xmlns:a16="http://schemas.microsoft.com/office/drawing/2014/main" id="{E943C83E-918D-4A1C-9E20-50FB84405945}"/>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02307213"/>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30A6144-3A28-423A-9EF6-01701DAC146D}"/>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PAPER ATTRIBUTION</a:t>
            </a:r>
          </a:p>
        </p:txBody>
      </p:sp>
      <p:sp>
        <p:nvSpPr>
          <p:cNvPr id="2" name="">
            <a:extLst xmlns:a="http://schemas.openxmlformats.org/drawingml/2006/main">
              <a:ext uri="{FF2B5EF4-FFF2-40B4-BE49-F238E27FC236}">
                <a16:creationId xmlns:a16="http://schemas.microsoft.com/office/drawing/2014/main" id="{4FAEE4F9-FEDA-489C-B1A6-25A0C63D7675}"/>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E49676D-8A38-46E0-92A1-CE41455FF7DA}"/>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975"/>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Paper attribution resolves five relationships around every paper</a:t>
            </a:r>
          </a:p>
        </p:txBody>
      </p:sp>
      <p:sp>
        <p:nvSpPr>
          <p:cNvPr id="4" name="">
            <a:extLst xmlns:a="http://schemas.openxmlformats.org/drawingml/2006/main">
              <a:ext uri="{FF2B5EF4-FFF2-40B4-BE49-F238E27FC236}">
                <a16:creationId xmlns:a16="http://schemas.microsoft.com/office/drawing/2014/main" id="{A4482542-B7D1-496E-9AFB-5CBC932079ED}"/>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8DEAFCA0-B5A9-44EE-81A0-E71F49B700B8}"/>
              </a:ext>
            </a:extLst>
          </p:cNvPr>
          <p:cNvSpPr>
            <a:spLocks xmlns:a="http://schemas.openxmlformats.org/drawingml/2006/main" noGrp="1"/>
          </p:cNvSpPr>
          <p:nvPr/>
        </p:nvSpPr>
        <p:spPr>
          <a:xfrm xmlns:a="http://schemas.openxmlformats.org/drawingml/2006/main">
            <a:off x="6000750" y="2324100"/>
            <a:ext cx="0" cy="125730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6" name="">
            <a:extLst xmlns:a="http://schemas.openxmlformats.org/drawingml/2006/main">
              <a:ext uri="{FF2B5EF4-FFF2-40B4-BE49-F238E27FC236}">
                <a16:creationId xmlns:a16="http://schemas.microsoft.com/office/drawing/2014/main" id="{26D36E8A-39A0-42EB-9E3B-808270E71D93}"/>
              </a:ext>
            </a:extLst>
          </p:cNvPr>
          <p:cNvSpPr>
            <a:spLocks xmlns:a="http://schemas.openxmlformats.org/drawingml/2006/main" noGrp="1"/>
          </p:cNvSpPr>
          <p:nvPr/>
        </p:nvSpPr>
        <p:spPr>
          <a:xfrm xmlns:a="http://schemas.openxmlformats.org/drawingml/2006/main">
            <a:off x="3333750" y="2876550"/>
            <a:ext cx="2667000" cy="70485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7" name="">
            <a:extLst xmlns:a="http://schemas.openxmlformats.org/drawingml/2006/main">
              <a:ext uri="{FF2B5EF4-FFF2-40B4-BE49-F238E27FC236}">
                <a16:creationId xmlns:a16="http://schemas.microsoft.com/office/drawing/2014/main" id="{6E5A623E-1E95-4E41-AE26-00AE65A5DBDB}"/>
              </a:ext>
            </a:extLst>
          </p:cNvPr>
          <p:cNvSpPr>
            <a:spLocks xmlns:a="http://schemas.openxmlformats.org/drawingml/2006/main" noGrp="1"/>
          </p:cNvSpPr>
          <p:nvPr/>
        </p:nvSpPr>
        <p:spPr>
          <a:xfrm xmlns:a="http://schemas.openxmlformats.org/drawingml/2006/main">
            <a:off x="6000750" y="2876550"/>
            <a:ext cx="2667000" cy="70485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8" name="">
            <a:extLst xmlns:a="http://schemas.openxmlformats.org/drawingml/2006/main">
              <a:ext uri="{FF2B5EF4-FFF2-40B4-BE49-F238E27FC236}">
                <a16:creationId xmlns:a16="http://schemas.microsoft.com/office/drawing/2014/main" id="{7C829245-B731-4EAA-BB5D-97E8BC992D1E}"/>
              </a:ext>
            </a:extLst>
          </p:cNvPr>
          <p:cNvSpPr>
            <a:spLocks xmlns:a="http://schemas.openxmlformats.org/drawingml/2006/main" noGrp="1"/>
          </p:cNvSpPr>
          <p:nvPr/>
        </p:nvSpPr>
        <p:spPr>
          <a:xfrm xmlns:a="http://schemas.openxmlformats.org/drawingml/2006/main">
            <a:off x="3333750" y="3581400"/>
            <a:ext cx="2667000" cy="102870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9" name="">
            <a:extLst xmlns:a="http://schemas.openxmlformats.org/drawingml/2006/main">
              <a:ext uri="{FF2B5EF4-FFF2-40B4-BE49-F238E27FC236}">
                <a16:creationId xmlns:a16="http://schemas.microsoft.com/office/drawing/2014/main" id="{24A4C240-125B-4BA5-BBAA-A4971196975C}"/>
              </a:ext>
            </a:extLst>
          </p:cNvPr>
          <p:cNvSpPr>
            <a:spLocks xmlns:a="http://schemas.openxmlformats.org/drawingml/2006/main" noGrp="1"/>
          </p:cNvSpPr>
          <p:nvPr/>
        </p:nvSpPr>
        <p:spPr>
          <a:xfrm xmlns:a="http://schemas.openxmlformats.org/drawingml/2006/main">
            <a:off x="6000750" y="3581400"/>
            <a:ext cx="2667000" cy="102870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10" name="">
            <a:extLst xmlns:a="http://schemas.openxmlformats.org/drawingml/2006/main">
              <a:ext uri="{FF2B5EF4-FFF2-40B4-BE49-F238E27FC236}">
                <a16:creationId xmlns:a16="http://schemas.microsoft.com/office/drawing/2014/main" id="{A59977B8-767B-42F9-8173-DBC302710417}"/>
              </a:ext>
            </a:extLst>
          </p:cNvPr>
          <p:cNvSpPr>
            <a:spLocks xmlns:a="http://schemas.openxmlformats.org/drawingml/2006/main" noGrp="1"/>
          </p:cNvSpPr>
          <p:nvPr/>
        </p:nvSpPr>
        <p:spPr>
          <a:xfrm xmlns:a="http://schemas.openxmlformats.org/drawingml/2006/main">
            <a:off x="4876800" y="2743200"/>
            <a:ext cx="2247900" cy="1676400"/>
          </a:xfrm>
          <a:prstGeom xmlns:a="http://schemas.openxmlformats.org/drawingml/2006/main" prst="ellipse">
            <a:avLst/>
          </a:prstGeom>
          <a:solidFill xmlns:a="http://schemas.openxmlformats.org/drawingml/2006/main">
            <a:srgbClr val="203A4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ED640CD-5F30-45C2-9A40-5B50C3F92A99}"/>
              </a:ext>
            </a:extLst>
          </p:cNvPr>
          <p:cNvSpPr>
            <a:spLocks xmlns:a="http://schemas.openxmlformats.org/drawingml/2006/main" noGrp="1"/>
          </p:cNvSpPr>
          <p:nvPr/>
        </p:nvSpPr>
        <p:spPr>
          <a:xfrm xmlns:a="http://schemas.openxmlformats.org/drawingml/2006/main">
            <a:off x="5257800" y="3238500"/>
            <a:ext cx="1485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2175" b="1" i="0">
                <a:solidFill>
                  <a:srgbClr val="FFFFFF"/>
                </a:solidFill>
                <a:latin typeface="Arial"/>
                <a:ea typeface="Arial"/>
                <a:cs typeface="Arial"/>
              </a:defRPr>
            </a:pPr>
            <a:r>
              <a:rPr sz="2175" b="1" i="0">
                <a:solidFill>
                  <a:srgbClr val="FFFFFF"/>
                </a:solidFill>
                <a:latin typeface="Arial"/>
                <a:ea typeface="Arial"/>
                <a:cs typeface="Arial"/>
              </a:rPr>
              <a:t>PAPER</a:t>
            </a:r>
          </a:p>
        </p:txBody>
      </p:sp>
      <p:sp>
        <p:nvSpPr>
          <p:cNvPr id="12" name="">
            <a:extLst xmlns:a="http://schemas.openxmlformats.org/drawingml/2006/main">
              <a:ext uri="{FF2B5EF4-FFF2-40B4-BE49-F238E27FC236}">
                <a16:creationId xmlns:a16="http://schemas.microsoft.com/office/drawing/2014/main" id="{0BC3BCCC-F13C-4DC1-901A-9F6CE2D293C7}"/>
              </a:ext>
            </a:extLst>
          </p:cNvPr>
          <p:cNvSpPr>
            <a:spLocks xmlns:a="http://schemas.openxmlformats.org/drawingml/2006/main" noGrp="1"/>
          </p:cNvSpPr>
          <p:nvPr/>
        </p:nvSpPr>
        <p:spPr>
          <a:xfrm xmlns:a="http://schemas.openxmlformats.org/drawingml/2006/main">
            <a:off x="5162550" y="37147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917"/>
          </a:bodyPr>
          <a:lstStyle xmlns:a="http://schemas.openxmlformats.org/drawingml/2006/main"/>
          <a:p xmlns:a="http://schemas.openxmlformats.org/drawingml/2006/main">
            <a:pPr algn="ctr">
              <a:lnSpc>
                <a:spcPct val="108000"/>
              </a:lnSpc>
              <a:buNone/>
              <a:defRPr sz="1125" b="0" i="0">
                <a:solidFill>
                  <a:srgbClr val="DDE9EE"/>
                </a:solidFill>
                <a:latin typeface="Arial"/>
                <a:ea typeface="Arial"/>
                <a:cs typeface="Arial"/>
              </a:defRPr>
            </a:pPr>
            <a:r>
              <a:rPr sz="1125" b="0" i="0">
                <a:solidFill>
                  <a:srgbClr val="DDE9EE"/>
                </a:solidFill>
                <a:latin typeface="Arial"/>
                <a:ea typeface="Arial"/>
                <a:cs typeface="Arial"/>
              </a:rPr>
              <a:t>canonical identity + provenance</a:t>
            </a:r>
          </a:p>
        </p:txBody>
      </p:sp>
      <p:sp>
        <p:nvSpPr>
          <p:cNvPr id="13" name="">
            <a:extLst xmlns:a="http://schemas.openxmlformats.org/drawingml/2006/main">
              <a:ext uri="{FF2B5EF4-FFF2-40B4-BE49-F238E27FC236}">
                <a16:creationId xmlns:a16="http://schemas.microsoft.com/office/drawing/2014/main" id="{A5E0256A-A9F9-4530-8BF5-2175EBA4FD64}"/>
              </a:ext>
            </a:extLst>
          </p:cNvPr>
          <p:cNvSpPr>
            <a:spLocks xmlns:a="http://schemas.openxmlformats.org/drawingml/2006/main" noGrp="1"/>
          </p:cNvSpPr>
          <p:nvPr/>
        </p:nvSpPr>
        <p:spPr>
          <a:xfrm xmlns:a="http://schemas.openxmlformats.org/drawingml/2006/main">
            <a:off x="4667250" y="1657350"/>
            <a:ext cx="2667000" cy="666750"/>
          </a:xfrm>
          <a:prstGeom xmlns:a="http://schemas.openxmlformats.org/drawingml/2006/main" prst="rect">
            <a:avLst/>
          </a:prstGeom>
          <a:solidFill xmlns:a="http://schemas.openxmlformats.org/drawingml/2006/main">
            <a:srgbClr val="F1E2D8"/>
          </a:solidFill>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BAAA714C-A646-41FC-B18A-227F1AE76F28}"/>
              </a:ext>
            </a:extLst>
          </p:cNvPr>
          <p:cNvSpPr>
            <a:spLocks xmlns:a="http://schemas.openxmlformats.org/drawingml/2006/main" noGrp="1"/>
          </p:cNvSpPr>
          <p:nvPr/>
        </p:nvSpPr>
        <p:spPr>
          <a:xfrm xmlns:a="http://schemas.openxmlformats.org/drawingml/2006/main">
            <a:off x="4838700" y="17907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B8663B"/>
                </a:solidFill>
                <a:latin typeface="Arial"/>
                <a:ea typeface="Arial"/>
                <a:cs typeface="Arial"/>
              </a:defRPr>
            </a:pPr>
            <a:r>
              <a:rPr sz="1200" b="1" i="0">
                <a:solidFill>
                  <a:srgbClr val="B8663B"/>
                </a:solidFill>
                <a:latin typeface="Arial"/>
                <a:ea typeface="Arial"/>
                <a:cs typeface="Arial"/>
              </a:rPr>
              <a:t>PEOPLE</a:t>
            </a:r>
          </a:p>
        </p:txBody>
      </p:sp>
      <p:sp>
        <p:nvSpPr>
          <p:cNvPr id="15" name="">
            <a:extLst xmlns:a="http://schemas.openxmlformats.org/drawingml/2006/main">
              <a:ext uri="{FF2B5EF4-FFF2-40B4-BE49-F238E27FC236}">
                <a16:creationId xmlns:a16="http://schemas.microsoft.com/office/drawing/2014/main" id="{D1F509D5-2035-40C4-94F3-9B0EB9AEE603}"/>
              </a:ext>
            </a:extLst>
          </p:cNvPr>
          <p:cNvSpPr>
            <a:spLocks xmlns:a="http://schemas.openxmlformats.org/drawingml/2006/main" noGrp="1"/>
          </p:cNvSpPr>
          <p:nvPr/>
        </p:nvSpPr>
        <p:spPr>
          <a:xfrm xmlns:a="http://schemas.openxmlformats.org/drawingml/2006/main">
            <a:off x="4838700" y="2076450"/>
            <a:ext cx="2324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160"/>
          </a:bodyPr>
          <a:lstStyle xmlns:a="http://schemas.openxmlformats.org/drawingml/2006/main"/>
          <a:p xmlns:a="http://schemas.openxmlformats.org/drawingml/2006/main">
            <a:pPr algn="ctr">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direct AC author · matched identity</a:t>
            </a:r>
          </a:p>
        </p:txBody>
      </p:sp>
      <p:sp>
        <p:nvSpPr>
          <p:cNvPr id="16" name="">
            <a:extLst xmlns:a="http://schemas.openxmlformats.org/drawingml/2006/main">
              <a:ext uri="{FF2B5EF4-FFF2-40B4-BE49-F238E27FC236}">
                <a16:creationId xmlns:a16="http://schemas.microsoft.com/office/drawing/2014/main" id="{968BEC78-68E4-46C9-9DA8-7306E8A7EEDD}"/>
              </a:ext>
            </a:extLst>
          </p:cNvPr>
          <p:cNvSpPr>
            <a:spLocks xmlns:a="http://schemas.openxmlformats.org/drawingml/2006/main" noGrp="1"/>
          </p:cNvSpPr>
          <p:nvPr/>
        </p:nvSpPr>
        <p:spPr>
          <a:xfrm xmlns:a="http://schemas.openxmlformats.org/drawingml/2006/main">
            <a:off x="666750" y="23812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7" name="">
            <a:extLst xmlns:a="http://schemas.openxmlformats.org/drawingml/2006/main">
              <a:ext uri="{FF2B5EF4-FFF2-40B4-BE49-F238E27FC236}">
                <a16:creationId xmlns:a16="http://schemas.microsoft.com/office/drawing/2014/main" id="{E2064C01-C4C9-4DAC-9C36-3733AC85D231}"/>
              </a:ext>
            </a:extLst>
          </p:cNvPr>
          <p:cNvSpPr>
            <a:spLocks xmlns:a="http://schemas.openxmlformats.org/drawingml/2006/main" noGrp="1"/>
          </p:cNvSpPr>
          <p:nvPr/>
        </p:nvSpPr>
        <p:spPr>
          <a:xfrm xmlns:a="http://schemas.openxmlformats.org/drawingml/2006/main">
            <a:off x="838200" y="25146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87F96"/>
                </a:solidFill>
                <a:latin typeface="Arial"/>
                <a:ea typeface="Arial"/>
                <a:cs typeface="Arial"/>
              </a:defRPr>
            </a:pPr>
            <a:r>
              <a:rPr sz="1200" b="1" i="0">
                <a:solidFill>
                  <a:srgbClr val="587F96"/>
                </a:solidFill>
                <a:latin typeface="Arial"/>
                <a:ea typeface="Arial"/>
                <a:cs typeface="Arial"/>
              </a:rPr>
              <a:t>INSTITUTIONS</a:t>
            </a:r>
          </a:p>
        </p:txBody>
      </p:sp>
      <p:sp>
        <p:nvSpPr>
          <p:cNvPr id="18" name="">
            <a:extLst xmlns:a="http://schemas.openxmlformats.org/drawingml/2006/main">
              <a:ext uri="{FF2B5EF4-FFF2-40B4-BE49-F238E27FC236}">
                <a16:creationId xmlns:a16="http://schemas.microsoft.com/office/drawing/2014/main" id="{C92F499D-0C54-48CE-A145-1ABD1E519EE4}"/>
              </a:ext>
            </a:extLst>
          </p:cNvPr>
          <p:cNvSpPr>
            <a:spLocks xmlns:a="http://schemas.openxmlformats.org/drawingml/2006/main" noGrp="1"/>
          </p:cNvSpPr>
          <p:nvPr/>
        </p:nvSpPr>
        <p:spPr>
          <a:xfrm xmlns:a="http://schemas.openxmlformats.org/drawingml/2006/main">
            <a:off x="838200" y="2800350"/>
            <a:ext cx="2324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partner / external affiliation</a:t>
            </a:r>
          </a:p>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alias-resolved identity</a:t>
            </a:r>
          </a:p>
        </p:txBody>
      </p:sp>
      <p:sp>
        <p:nvSpPr>
          <p:cNvPr id="19" name="">
            <a:extLst xmlns:a="http://schemas.openxmlformats.org/drawingml/2006/main">
              <a:ext uri="{FF2B5EF4-FFF2-40B4-BE49-F238E27FC236}">
                <a16:creationId xmlns:a16="http://schemas.microsoft.com/office/drawing/2014/main" id="{BEB2E4B1-E994-4AED-B361-F27EDF67EA3F}"/>
              </a:ext>
            </a:extLst>
          </p:cNvPr>
          <p:cNvSpPr>
            <a:spLocks xmlns:a="http://schemas.openxmlformats.org/drawingml/2006/main" noGrp="1"/>
          </p:cNvSpPr>
          <p:nvPr/>
        </p:nvSpPr>
        <p:spPr>
          <a:xfrm xmlns:a="http://schemas.openxmlformats.org/drawingml/2006/main">
            <a:off x="8667750" y="23812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78DCEFE4-5FAE-4A83-862C-C3FA12FE76BA}"/>
              </a:ext>
            </a:extLst>
          </p:cNvPr>
          <p:cNvSpPr>
            <a:spLocks xmlns:a="http://schemas.openxmlformats.org/drawingml/2006/main" noGrp="1"/>
          </p:cNvSpPr>
          <p:nvPr/>
        </p:nvSpPr>
        <p:spPr>
          <a:xfrm xmlns:a="http://schemas.openxmlformats.org/drawingml/2006/main">
            <a:off x="8839200" y="25146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87F96"/>
                </a:solidFill>
                <a:latin typeface="Arial"/>
                <a:ea typeface="Arial"/>
                <a:cs typeface="Arial"/>
              </a:defRPr>
            </a:pPr>
            <a:r>
              <a:rPr sz="1200" b="1" i="0">
                <a:solidFill>
                  <a:srgbClr val="587F96"/>
                </a:solidFill>
                <a:latin typeface="Arial"/>
                <a:ea typeface="Arial"/>
                <a:cs typeface="Arial"/>
              </a:rPr>
              <a:t>SUPPORT</a:t>
            </a:r>
          </a:p>
        </p:txBody>
      </p:sp>
      <p:sp>
        <p:nvSpPr>
          <p:cNvPr id="21" name="">
            <a:extLst xmlns:a="http://schemas.openxmlformats.org/drawingml/2006/main">
              <a:ext uri="{FF2B5EF4-FFF2-40B4-BE49-F238E27FC236}">
                <a16:creationId xmlns:a16="http://schemas.microsoft.com/office/drawing/2014/main" id="{DE0187D6-A21A-49B8-8ABB-8302C45D1D83}"/>
              </a:ext>
            </a:extLst>
          </p:cNvPr>
          <p:cNvSpPr>
            <a:spLocks xmlns:a="http://schemas.openxmlformats.org/drawingml/2006/main" noGrp="1"/>
          </p:cNvSpPr>
          <p:nvPr/>
        </p:nvSpPr>
        <p:spPr>
          <a:xfrm xmlns:a="http://schemas.openxmlformats.org/drawingml/2006/main">
            <a:off x="8839200" y="2800350"/>
            <a:ext cx="2324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funding · acknowledgement</a:t>
            </a:r>
          </a:p>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program or partner mention</a:t>
            </a:r>
          </a:p>
        </p:txBody>
      </p:sp>
      <p:sp>
        <p:nvSpPr>
          <p:cNvPr id="22" name="">
            <a:extLst xmlns:a="http://schemas.openxmlformats.org/drawingml/2006/main">
              <a:ext uri="{FF2B5EF4-FFF2-40B4-BE49-F238E27FC236}">
                <a16:creationId xmlns:a16="http://schemas.microsoft.com/office/drawing/2014/main" id="{1BAA7B21-4A06-467F-A64E-A10DB066AE0B}"/>
              </a:ext>
            </a:extLst>
          </p:cNvPr>
          <p:cNvSpPr>
            <a:spLocks xmlns:a="http://schemas.openxmlformats.org/drawingml/2006/main" noGrp="1"/>
          </p:cNvSpPr>
          <p:nvPr/>
        </p:nvSpPr>
        <p:spPr>
          <a:xfrm xmlns:a="http://schemas.openxmlformats.org/drawingml/2006/main">
            <a:off x="666750" y="43243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3" name="">
            <a:extLst xmlns:a="http://schemas.openxmlformats.org/drawingml/2006/main">
              <a:ext uri="{FF2B5EF4-FFF2-40B4-BE49-F238E27FC236}">
                <a16:creationId xmlns:a16="http://schemas.microsoft.com/office/drawing/2014/main" id="{4EE9BDA4-9F99-4E59-A106-EE7BE58898B4}"/>
              </a:ext>
            </a:extLst>
          </p:cNvPr>
          <p:cNvSpPr>
            <a:spLocks xmlns:a="http://schemas.openxmlformats.org/drawingml/2006/main" noGrp="1"/>
          </p:cNvSpPr>
          <p:nvPr/>
        </p:nvSpPr>
        <p:spPr>
          <a:xfrm xmlns:a="http://schemas.openxmlformats.org/drawingml/2006/main">
            <a:off x="838200" y="44577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87F96"/>
                </a:solidFill>
                <a:latin typeface="Arial"/>
                <a:ea typeface="Arial"/>
                <a:cs typeface="Arial"/>
              </a:defRPr>
            </a:pPr>
            <a:r>
              <a:rPr sz="1200" b="1" i="0">
                <a:solidFill>
                  <a:srgbClr val="587F96"/>
                </a:solidFill>
                <a:latin typeface="Arial"/>
                <a:ea typeface="Arial"/>
                <a:cs typeface="Arial"/>
              </a:rPr>
              <a:t>SCIENTIFIC CONTENT</a:t>
            </a:r>
          </a:p>
        </p:txBody>
      </p:sp>
      <p:sp>
        <p:nvSpPr>
          <p:cNvPr id="24" name="">
            <a:extLst xmlns:a="http://schemas.openxmlformats.org/drawingml/2006/main">
              <a:ext uri="{FF2B5EF4-FFF2-40B4-BE49-F238E27FC236}">
                <a16:creationId xmlns:a16="http://schemas.microsoft.com/office/drawing/2014/main" id="{BA59DE77-71DB-4A70-9056-C6E7AFAD648B}"/>
              </a:ext>
            </a:extLst>
          </p:cNvPr>
          <p:cNvSpPr>
            <a:spLocks xmlns:a="http://schemas.openxmlformats.org/drawingml/2006/main" noGrp="1"/>
          </p:cNvSpPr>
          <p:nvPr/>
        </p:nvSpPr>
        <p:spPr>
          <a:xfrm xmlns:a="http://schemas.openxmlformats.org/drawingml/2006/main">
            <a:off x="838200" y="4743450"/>
            <a:ext cx="2324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core / adjacent topics</a:t>
            </a:r>
          </a:p>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methods · entities · propositions</a:t>
            </a:r>
          </a:p>
        </p:txBody>
      </p:sp>
      <p:sp>
        <p:nvSpPr>
          <p:cNvPr id="25" name="">
            <a:extLst xmlns:a="http://schemas.openxmlformats.org/drawingml/2006/main">
              <a:ext uri="{FF2B5EF4-FFF2-40B4-BE49-F238E27FC236}">
                <a16:creationId xmlns:a16="http://schemas.microsoft.com/office/drawing/2014/main" id="{1A32DAE5-9E1C-4393-9227-F4B9AF0C295B}"/>
              </a:ext>
            </a:extLst>
          </p:cNvPr>
          <p:cNvSpPr>
            <a:spLocks xmlns:a="http://schemas.openxmlformats.org/drawingml/2006/main" noGrp="1"/>
          </p:cNvSpPr>
          <p:nvPr/>
        </p:nvSpPr>
        <p:spPr>
          <a:xfrm xmlns:a="http://schemas.openxmlformats.org/drawingml/2006/main">
            <a:off x="8667750" y="4324350"/>
            <a:ext cx="2667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6" name="">
            <a:extLst xmlns:a="http://schemas.openxmlformats.org/drawingml/2006/main">
              <a:ext uri="{FF2B5EF4-FFF2-40B4-BE49-F238E27FC236}">
                <a16:creationId xmlns:a16="http://schemas.microsoft.com/office/drawing/2014/main" id="{B53E2401-2BDC-4B03-AF48-5812EF9630DC}"/>
              </a:ext>
            </a:extLst>
          </p:cNvPr>
          <p:cNvSpPr>
            <a:spLocks xmlns:a="http://schemas.openxmlformats.org/drawingml/2006/main" noGrp="1"/>
          </p:cNvSpPr>
          <p:nvPr/>
        </p:nvSpPr>
        <p:spPr>
          <a:xfrm xmlns:a="http://schemas.openxmlformats.org/drawingml/2006/main">
            <a:off x="8839200" y="44577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87F96"/>
                </a:solidFill>
                <a:latin typeface="Arial"/>
                <a:ea typeface="Arial"/>
                <a:cs typeface="Arial"/>
              </a:defRPr>
            </a:pPr>
            <a:r>
              <a:rPr sz="1200" b="1" i="0">
                <a:solidFill>
                  <a:srgbClr val="587F96"/>
                </a:solidFill>
                <a:latin typeface="Arial"/>
                <a:ea typeface="Arial"/>
                <a:cs typeface="Arial"/>
              </a:rPr>
              <a:t>NETWORK</a:t>
            </a:r>
          </a:p>
        </p:txBody>
      </p:sp>
      <p:sp>
        <p:nvSpPr>
          <p:cNvPr id="27" name="">
            <a:extLst xmlns:a="http://schemas.openxmlformats.org/drawingml/2006/main">
              <a:ext uri="{FF2B5EF4-FFF2-40B4-BE49-F238E27FC236}">
                <a16:creationId xmlns:a16="http://schemas.microsoft.com/office/drawing/2014/main" id="{DE344028-7BF0-4C59-A7B4-0F944221BEF6}"/>
              </a:ext>
            </a:extLst>
          </p:cNvPr>
          <p:cNvSpPr>
            <a:spLocks xmlns:a="http://schemas.openxmlformats.org/drawingml/2006/main" noGrp="1"/>
          </p:cNvSpPr>
          <p:nvPr/>
        </p:nvSpPr>
        <p:spPr>
          <a:xfrm xmlns:a="http://schemas.openxmlformats.org/drawingml/2006/main">
            <a:off x="8839200" y="4743450"/>
            <a:ext cx="2324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coauthor paths · AC-core citations</a:t>
            </a:r>
          </a:p>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cited by corpus</a:t>
            </a:r>
          </a:p>
        </p:txBody>
      </p:sp>
      <p:sp>
        <p:nvSpPr>
          <p:cNvPr id="28" name="">
            <a:extLst xmlns:a="http://schemas.openxmlformats.org/drawingml/2006/main">
              <a:ext uri="{FF2B5EF4-FFF2-40B4-BE49-F238E27FC236}">
                <a16:creationId xmlns:a16="http://schemas.microsoft.com/office/drawing/2014/main" id="{B0981838-47FD-4996-9194-829434B5C618}"/>
              </a:ext>
            </a:extLst>
          </p:cNvPr>
          <p:cNvSpPr>
            <a:spLocks xmlns:a="http://schemas.openxmlformats.org/drawingml/2006/main" noGrp="1"/>
          </p:cNvSpPr>
          <p:nvPr/>
        </p:nvSpPr>
        <p:spPr>
          <a:xfrm xmlns:a="http://schemas.openxmlformats.org/drawingml/2006/main">
            <a:off x="2381250" y="5810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29"/>
          </a:bodyPr>
          <a:lstStyle xmlns:a="http://schemas.openxmlformats.org/drawingml/2006/main"/>
          <a:p xmlns:a="http://schemas.openxmlformats.org/drawingml/2006/main">
            <a:pPr algn="ctr">
              <a:lnSpc>
                <a:spcPct val="108000"/>
              </a:lnSpc>
              <a:buNone/>
              <a:defRPr sz="1425" b="1" i="0">
                <a:solidFill>
                  <a:srgbClr val="203A4C"/>
                </a:solidFill>
                <a:latin typeface="Arial"/>
                <a:ea typeface="Arial"/>
                <a:cs typeface="Arial"/>
              </a:defRPr>
            </a:pPr>
            <a:r>
              <a:rPr sz="1425" b="1" i="0">
                <a:solidFill>
                  <a:srgbClr val="203A4C"/>
                </a:solidFill>
                <a:latin typeface="Arial"/>
                <a:ea typeface="Arial"/>
                <a:cs typeface="Arial"/>
              </a:rPr>
              <a:t>Human review records the final decision and locks it against later automated overrides.</a:t>
            </a:r>
          </a:p>
        </p:txBody>
      </p:sp>
      <p:sp>
        <p:nvSpPr>
          <p:cNvPr id="29" name="">
            <a:extLst xmlns:a="http://schemas.openxmlformats.org/drawingml/2006/main">
              <a:ext uri="{FF2B5EF4-FFF2-40B4-BE49-F238E27FC236}">
                <a16:creationId xmlns:a16="http://schemas.microsoft.com/office/drawing/2014/main" id="{47078CBE-6872-4CCD-94BB-8101273D2E96}"/>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30" name="">
            <a:extLst xmlns:a="http://schemas.openxmlformats.org/drawingml/2006/main">
              <a:ext uri="{FF2B5EF4-FFF2-40B4-BE49-F238E27FC236}">
                <a16:creationId xmlns:a16="http://schemas.microsoft.com/office/drawing/2014/main" id="{9944BBF8-AAAA-4CF0-8DF4-5F6609055F76}"/>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31" name="">
            <a:extLst xmlns:a="http://schemas.openxmlformats.org/drawingml/2006/main">
              <a:ext uri="{FF2B5EF4-FFF2-40B4-BE49-F238E27FC236}">
                <a16:creationId xmlns:a16="http://schemas.microsoft.com/office/drawing/2014/main" id="{CE18A2B6-7028-4372-97E7-1C1D214E901C}"/>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25592532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D62F0BE-7BF5-4129-804C-390E7ED37CED}"/>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PAPER ATTRIBUTION</a:t>
            </a:r>
          </a:p>
        </p:txBody>
      </p:sp>
      <p:sp>
        <p:nvSpPr>
          <p:cNvPr id="2" name="">
            <a:extLst xmlns:a="http://schemas.openxmlformats.org/drawingml/2006/main">
              <a:ext uri="{FF2B5EF4-FFF2-40B4-BE49-F238E27FC236}">
                <a16:creationId xmlns:a16="http://schemas.microsoft.com/office/drawing/2014/main" id="{5F2AA55B-41C9-4F45-933C-1CDB1D8AFEDF}"/>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A8E8AA0-E8B3-48B7-AD34-27925E97DB74}"/>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What the system stores for one attributed paper</a:t>
            </a:r>
          </a:p>
        </p:txBody>
      </p:sp>
      <p:sp>
        <p:nvSpPr>
          <p:cNvPr id="4" name="">
            <a:extLst xmlns:a="http://schemas.openxmlformats.org/drawingml/2006/main">
              <a:ext uri="{FF2B5EF4-FFF2-40B4-BE49-F238E27FC236}">
                <a16:creationId xmlns:a16="http://schemas.microsoft.com/office/drawing/2014/main" id="{D71324E5-D9F9-4704-B775-C7996952A518}"/>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53A946E3-FFF0-4E26-B1A4-5916A61CE399}"/>
              </a:ext>
            </a:extLst>
          </p:cNvPr>
          <p:cNvSpPr>
            <a:spLocks xmlns:a="http://schemas.openxmlformats.org/drawingml/2006/main" noGrp="1"/>
          </p:cNvSpPr>
          <p:nvPr/>
        </p:nvSpPr>
        <p:spPr>
          <a:xfrm xmlns:a="http://schemas.openxmlformats.org/drawingml/2006/main">
            <a:off x="495300" y="1790700"/>
            <a:ext cx="23812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6" name="">
            <a:extLst xmlns:a="http://schemas.openxmlformats.org/drawingml/2006/main">
              <a:ext uri="{FF2B5EF4-FFF2-40B4-BE49-F238E27FC236}">
                <a16:creationId xmlns:a16="http://schemas.microsoft.com/office/drawing/2014/main" id="{34C69C98-3D36-4944-98C6-2781877E1EA7}"/>
              </a:ext>
            </a:extLst>
          </p:cNvPr>
          <p:cNvSpPr>
            <a:spLocks xmlns:a="http://schemas.openxmlformats.org/drawingml/2006/main" noGrp="1"/>
          </p:cNvSpPr>
          <p:nvPr/>
        </p:nvSpPr>
        <p:spPr>
          <a:xfrm xmlns:a="http://schemas.openxmlformats.org/drawingml/2006/main">
            <a:off x="609600" y="18669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OUTPUT FIELD</a:t>
            </a:r>
          </a:p>
        </p:txBody>
      </p:sp>
      <p:sp>
        <p:nvSpPr>
          <p:cNvPr id="7" name="">
            <a:extLst xmlns:a="http://schemas.openxmlformats.org/drawingml/2006/main">
              <a:ext uri="{FF2B5EF4-FFF2-40B4-BE49-F238E27FC236}">
                <a16:creationId xmlns:a16="http://schemas.microsoft.com/office/drawing/2014/main" id="{184B7EE1-5736-4954-A0DF-713AD6C57A4A}"/>
              </a:ext>
            </a:extLst>
          </p:cNvPr>
          <p:cNvSpPr>
            <a:spLocks xmlns:a="http://schemas.openxmlformats.org/drawingml/2006/main" noGrp="1"/>
          </p:cNvSpPr>
          <p:nvPr/>
        </p:nvSpPr>
        <p:spPr>
          <a:xfrm xmlns:a="http://schemas.openxmlformats.org/drawingml/2006/main">
            <a:off x="2876550" y="1790700"/>
            <a:ext cx="46863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8" name="">
            <a:extLst xmlns:a="http://schemas.openxmlformats.org/drawingml/2006/main">
              <a:ext uri="{FF2B5EF4-FFF2-40B4-BE49-F238E27FC236}">
                <a16:creationId xmlns:a16="http://schemas.microsoft.com/office/drawing/2014/main" id="{2D1CB356-9A4F-4388-9362-6D712E987DCB}"/>
              </a:ext>
            </a:extLst>
          </p:cNvPr>
          <p:cNvSpPr>
            <a:spLocks xmlns:a="http://schemas.openxmlformats.org/drawingml/2006/main" noGrp="1"/>
          </p:cNvSpPr>
          <p:nvPr/>
        </p:nvSpPr>
        <p:spPr>
          <a:xfrm xmlns:a="http://schemas.openxmlformats.org/drawingml/2006/main">
            <a:off x="2990850" y="1866900"/>
            <a:ext cx="445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WHAT IT CONTAINS</a:t>
            </a:r>
          </a:p>
        </p:txBody>
      </p:sp>
      <p:sp>
        <p:nvSpPr>
          <p:cNvPr id="9" name="">
            <a:extLst xmlns:a="http://schemas.openxmlformats.org/drawingml/2006/main">
              <a:ext uri="{FF2B5EF4-FFF2-40B4-BE49-F238E27FC236}">
                <a16:creationId xmlns:a16="http://schemas.microsoft.com/office/drawing/2014/main" id="{EF551692-CA9E-4DC2-B349-DD62C7B776E9}"/>
              </a:ext>
            </a:extLst>
          </p:cNvPr>
          <p:cNvSpPr>
            <a:spLocks xmlns:a="http://schemas.openxmlformats.org/drawingml/2006/main" noGrp="1"/>
          </p:cNvSpPr>
          <p:nvPr/>
        </p:nvSpPr>
        <p:spPr>
          <a:xfrm xmlns:a="http://schemas.openxmlformats.org/drawingml/2006/main">
            <a:off x="7562850" y="1790700"/>
            <a:ext cx="41338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0" name="">
            <a:extLst xmlns:a="http://schemas.openxmlformats.org/drawingml/2006/main">
              <a:ext uri="{FF2B5EF4-FFF2-40B4-BE49-F238E27FC236}">
                <a16:creationId xmlns:a16="http://schemas.microsoft.com/office/drawing/2014/main" id="{EA861FBE-E971-4554-95A8-44BA57B623F6}"/>
              </a:ext>
            </a:extLst>
          </p:cNvPr>
          <p:cNvSpPr>
            <a:spLocks xmlns:a="http://schemas.openxmlformats.org/drawingml/2006/main" noGrp="1"/>
          </p:cNvSpPr>
          <p:nvPr/>
        </p:nvSpPr>
        <p:spPr>
          <a:xfrm xmlns:a="http://schemas.openxmlformats.org/drawingml/2006/main">
            <a:off x="7677150" y="18669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WHY IT MATTERS</a:t>
            </a:r>
          </a:p>
        </p:txBody>
      </p:sp>
      <p:sp>
        <p:nvSpPr>
          <p:cNvPr id="11" name="">
            <a:extLst xmlns:a="http://schemas.openxmlformats.org/drawingml/2006/main">
              <a:ext uri="{FF2B5EF4-FFF2-40B4-BE49-F238E27FC236}">
                <a16:creationId xmlns:a16="http://schemas.microsoft.com/office/drawing/2014/main" id="{2F04B2FF-BC43-4AFD-BF5A-9C659DA65B07}"/>
              </a:ext>
            </a:extLst>
          </p:cNvPr>
          <p:cNvSpPr>
            <a:spLocks xmlns:a="http://schemas.openxmlformats.org/drawingml/2006/main" noGrp="1"/>
          </p:cNvSpPr>
          <p:nvPr/>
        </p:nvSpPr>
        <p:spPr>
          <a:xfrm xmlns:a="http://schemas.openxmlformats.org/drawingml/2006/main">
            <a:off x="495300" y="2209800"/>
            <a:ext cx="2381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2" name="">
            <a:extLst xmlns:a="http://schemas.openxmlformats.org/drawingml/2006/main">
              <a:ext uri="{FF2B5EF4-FFF2-40B4-BE49-F238E27FC236}">
                <a16:creationId xmlns:a16="http://schemas.microsoft.com/office/drawing/2014/main" id="{8DCFADA2-D624-40A0-831A-6B2473299657}"/>
              </a:ext>
            </a:extLst>
          </p:cNvPr>
          <p:cNvSpPr>
            <a:spLocks xmlns:a="http://schemas.openxmlformats.org/drawingml/2006/main" noGrp="1"/>
          </p:cNvSpPr>
          <p:nvPr/>
        </p:nvSpPr>
        <p:spPr>
          <a:xfrm xmlns:a="http://schemas.openxmlformats.org/drawingml/2006/main">
            <a:off x="609600" y="228600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paper identity</a:t>
            </a:r>
          </a:p>
        </p:txBody>
      </p:sp>
      <p:sp>
        <p:nvSpPr>
          <p:cNvPr id="13" name="">
            <a:extLst xmlns:a="http://schemas.openxmlformats.org/drawingml/2006/main">
              <a:ext uri="{FF2B5EF4-FFF2-40B4-BE49-F238E27FC236}">
                <a16:creationId xmlns:a16="http://schemas.microsoft.com/office/drawing/2014/main" id="{0023C8B5-A705-4670-BD0B-B60FF978F0E3}"/>
              </a:ext>
            </a:extLst>
          </p:cNvPr>
          <p:cNvSpPr>
            <a:spLocks xmlns:a="http://schemas.openxmlformats.org/drawingml/2006/main" noGrp="1"/>
          </p:cNvSpPr>
          <p:nvPr/>
        </p:nvSpPr>
        <p:spPr>
          <a:xfrm xmlns:a="http://schemas.openxmlformats.org/drawingml/2006/main">
            <a:off x="2876550" y="2209800"/>
            <a:ext cx="46863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71EF7C41-4E86-407E-967C-F623C127AE4B}"/>
              </a:ext>
            </a:extLst>
          </p:cNvPr>
          <p:cNvSpPr>
            <a:spLocks xmlns:a="http://schemas.openxmlformats.org/drawingml/2006/main" noGrp="1"/>
          </p:cNvSpPr>
          <p:nvPr/>
        </p:nvSpPr>
        <p:spPr>
          <a:xfrm xmlns:a="http://schemas.openxmlformats.org/drawingml/2006/main">
            <a:off x="2990850" y="22860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DOI, title, year, venue, source provenance</a:t>
            </a:r>
          </a:p>
        </p:txBody>
      </p:sp>
      <p:sp>
        <p:nvSpPr>
          <p:cNvPr id="15" name="">
            <a:extLst xmlns:a="http://schemas.openxmlformats.org/drawingml/2006/main">
              <a:ext uri="{FF2B5EF4-FFF2-40B4-BE49-F238E27FC236}">
                <a16:creationId xmlns:a16="http://schemas.microsoft.com/office/drawing/2014/main" id="{FDB21186-B0E1-4200-B9DD-B1D9FFE65604}"/>
              </a:ext>
            </a:extLst>
          </p:cNvPr>
          <p:cNvSpPr>
            <a:spLocks xmlns:a="http://schemas.openxmlformats.org/drawingml/2006/main" noGrp="1"/>
          </p:cNvSpPr>
          <p:nvPr/>
        </p:nvSpPr>
        <p:spPr>
          <a:xfrm xmlns:a="http://schemas.openxmlformats.org/drawingml/2006/main">
            <a:off x="7562850" y="2209800"/>
            <a:ext cx="41338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7CA14835-15A4-46E1-B126-1B780241A22C}"/>
              </a:ext>
            </a:extLst>
          </p:cNvPr>
          <p:cNvSpPr>
            <a:spLocks xmlns:a="http://schemas.openxmlformats.org/drawingml/2006/main" noGrp="1"/>
          </p:cNvSpPr>
          <p:nvPr/>
        </p:nvSpPr>
        <p:spPr>
          <a:xfrm xmlns:a="http://schemas.openxmlformats.org/drawingml/2006/main">
            <a:off x="7677150" y="22860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prevents duplicate or ambiguous records</a:t>
            </a:r>
          </a:p>
        </p:txBody>
      </p:sp>
      <p:sp>
        <p:nvSpPr>
          <p:cNvPr id="17" name="">
            <a:extLst xmlns:a="http://schemas.openxmlformats.org/drawingml/2006/main">
              <a:ext uri="{FF2B5EF4-FFF2-40B4-BE49-F238E27FC236}">
                <a16:creationId xmlns:a16="http://schemas.microsoft.com/office/drawing/2014/main" id="{4488762F-1CE6-429F-91F6-FB3435BA09B7}"/>
              </a:ext>
            </a:extLst>
          </p:cNvPr>
          <p:cNvSpPr>
            <a:spLocks xmlns:a="http://schemas.openxmlformats.org/drawingml/2006/main" noGrp="1"/>
          </p:cNvSpPr>
          <p:nvPr/>
        </p:nvSpPr>
        <p:spPr>
          <a:xfrm xmlns:a="http://schemas.openxmlformats.org/drawingml/2006/main">
            <a:off x="495300" y="2762250"/>
            <a:ext cx="23812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4800441F-0F3B-42C5-BC2A-5A0969D6C2BF}"/>
              </a:ext>
            </a:extLst>
          </p:cNvPr>
          <p:cNvSpPr>
            <a:spLocks xmlns:a="http://schemas.openxmlformats.org/drawingml/2006/main" noGrp="1"/>
          </p:cNvSpPr>
          <p:nvPr/>
        </p:nvSpPr>
        <p:spPr>
          <a:xfrm xmlns:a="http://schemas.openxmlformats.org/drawingml/2006/main">
            <a:off x="609600" y="283845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classification</a:t>
            </a:r>
          </a:p>
        </p:txBody>
      </p:sp>
      <p:sp>
        <p:nvSpPr>
          <p:cNvPr id="19" name="">
            <a:extLst xmlns:a="http://schemas.openxmlformats.org/drawingml/2006/main">
              <a:ext uri="{FF2B5EF4-FFF2-40B4-BE49-F238E27FC236}">
                <a16:creationId xmlns:a16="http://schemas.microsoft.com/office/drawing/2014/main" id="{69B97A70-00DF-403A-ADFD-209EBB6F64C0}"/>
              </a:ext>
            </a:extLst>
          </p:cNvPr>
          <p:cNvSpPr>
            <a:spLocks xmlns:a="http://schemas.openxmlformats.org/drawingml/2006/main" noGrp="1"/>
          </p:cNvSpPr>
          <p:nvPr/>
        </p:nvSpPr>
        <p:spPr>
          <a:xfrm xmlns:a="http://schemas.openxmlformats.org/drawingml/2006/main">
            <a:off x="2876550" y="2762250"/>
            <a:ext cx="468630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D4E74782-24D9-4AAE-BAA7-43CC3CA92B6D}"/>
              </a:ext>
            </a:extLst>
          </p:cNvPr>
          <p:cNvSpPr>
            <a:spLocks xmlns:a="http://schemas.openxmlformats.org/drawingml/2006/main" noGrp="1"/>
          </p:cNvSpPr>
          <p:nvPr/>
        </p:nvSpPr>
        <p:spPr>
          <a:xfrm xmlns:a="http://schemas.openxmlformats.org/drawingml/2006/main">
            <a:off x="2990850" y="283845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label, confidence, model version, reasons</a:t>
            </a:r>
          </a:p>
        </p:txBody>
      </p:sp>
      <p:sp>
        <p:nvSpPr>
          <p:cNvPr id="21" name="">
            <a:extLst xmlns:a="http://schemas.openxmlformats.org/drawingml/2006/main">
              <a:ext uri="{FF2B5EF4-FFF2-40B4-BE49-F238E27FC236}">
                <a16:creationId xmlns:a16="http://schemas.microsoft.com/office/drawing/2014/main" id="{183497F3-4711-46C7-8E46-B9E7BB3612D8}"/>
              </a:ext>
            </a:extLst>
          </p:cNvPr>
          <p:cNvSpPr>
            <a:spLocks xmlns:a="http://schemas.openxmlformats.org/drawingml/2006/main" noGrp="1"/>
          </p:cNvSpPr>
          <p:nvPr/>
        </p:nvSpPr>
        <p:spPr>
          <a:xfrm xmlns:a="http://schemas.openxmlformats.org/drawingml/2006/main">
            <a:off x="7562850" y="2762250"/>
            <a:ext cx="41338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2" name="">
            <a:extLst xmlns:a="http://schemas.openxmlformats.org/drawingml/2006/main">
              <a:ext uri="{FF2B5EF4-FFF2-40B4-BE49-F238E27FC236}">
                <a16:creationId xmlns:a16="http://schemas.microsoft.com/office/drawing/2014/main" id="{3FF36B2E-0334-499D-AB38-35C27CE475BD}"/>
              </a:ext>
            </a:extLst>
          </p:cNvPr>
          <p:cNvSpPr>
            <a:spLocks xmlns:a="http://schemas.openxmlformats.org/drawingml/2006/main" noGrp="1"/>
          </p:cNvSpPr>
          <p:nvPr/>
        </p:nvSpPr>
        <p:spPr>
          <a:xfrm xmlns:a="http://schemas.openxmlformats.org/drawingml/2006/main">
            <a:off x="7677150" y="28384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supports filtering and review priority</a:t>
            </a:r>
          </a:p>
        </p:txBody>
      </p:sp>
      <p:sp>
        <p:nvSpPr>
          <p:cNvPr id="23" name="">
            <a:extLst xmlns:a="http://schemas.openxmlformats.org/drawingml/2006/main">
              <a:ext uri="{FF2B5EF4-FFF2-40B4-BE49-F238E27FC236}">
                <a16:creationId xmlns:a16="http://schemas.microsoft.com/office/drawing/2014/main" id="{910C7000-DEB2-4189-9153-EDDCAEDCDEA5}"/>
              </a:ext>
            </a:extLst>
          </p:cNvPr>
          <p:cNvSpPr>
            <a:spLocks xmlns:a="http://schemas.openxmlformats.org/drawingml/2006/main" noGrp="1"/>
          </p:cNvSpPr>
          <p:nvPr/>
        </p:nvSpPr>
        <p:spPr>
          <a:xfrm xmlns:a="http://schemas.openxmlformats.org/drawingml/2006/main">
            <a:off x="495300" y="3314700"/>
            <a:ext cx="2381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4" name="">
            <a:extLst xmlns:a="http://schemas.openxmlformats.org/drawingml/2006/main">
              <a:ext uri="{FF2B5EF4-FFF2-40B4-BE49-F238E27FC236}">
                <a16:creationId xmlns:a16="http://schemas.microsoft.com/office/drawing/2014/main" id="{85F9DF9A-BB55-49B8-80D5-EE94DC6E8BA6}"/>
              </a:ext>
            </a:extLst>
          </p:cNvPr>
          <p:cNvSpPr>
            <a:spLocks xmlns:a="http://schemas.openxmlformats.org/drawingml/2006/main" noGrp="1"/>
          </p:cNvSpPr>
          <p:nvPr/>
        </p:nvSpPr>
        <p:spPr>
          <a:xfrm xmlns:a="http://schemas.openxmlformats.org/drawingml/2006/main">
            <a:off x="609600" y="339090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matched people</a:t>
            </a:r>
          </a:p>
        </p:txBody>
      </p:sp>
      <p:sp>
        <p:nvSpPr>
          <p:cNvPr id="25" name="">
            <a:extLst xmlns:a="http://schemas.openxmlformats.org/drawingml/2006/main">
              <a:ext uri="{FF2B5EF4-FFF2-40B4-BE49-F238E27FC236}">
                <a16:creationId xmlns:a16="http://schemas.microsoft.com/office/drawing/2014/main" id="{5C8FCC82-9152-414E-9A5E-DDC24E517E03}"/>
              </a:ext>
            </a:extLst>
          </p:cNvPr>
          <p:cNvSpPr>
            <a:spLocks xmlns:a="http://schemas.openxmlformats.org/drawingml/2006/main" noGrp="1"/>
          </p:cNvSpPr>
          <p:nvPr/>
        </p:nvSpPr>
        <p:spPr>
          <a:xfrm xmlns:a="http://schemas.openxmlformats.org/drawingml/2006/main">
            <a:off x="2876550" y="3314700"/>
            <a:ext cx="46863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6" name="">
            <a:extLst xmlns:a="http://schemas.openxmlformats.org/drawingml/2006/main">
              <a:ext uri="{FF2B5EF4-FFF2-40B4-BE49-F238E27FC236}">
                <a16:creationId xmlns:a16="http://schemas.microsoft.com/office/drawing/2014/main" id="{64266F18-B1E5-4E32-87E4-B7482B493DAC}"/>
              </a:ext>
            </a:extLst>
          </p:cNvPr>
          <p:cNvSpPr>
            <a:spLocks xmlns:a="http://schemas.openxmlformats.org/drawingml/2006/main" noGrp="1"/>
          </p:cNvSpPr>
          <p:nvPr/>
        </p:nvSpPr>
        <p:spPr>
          <a:xfrm xmlns:a="http://schemas.openxmlformats.org/drawingml/2006/main">
            <a:off x="2990850" y="33909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person ID, name, match type: exact / alias / initials / fuzzy / AC publication</a:t>
            </a:r>
          </a:p>
        </p:txBody>
      </p:sp>
      <p:sp>
        <p:nvSpPr>
          <p:cNvPr id="27" name="">
            <a:extLst xmlns:a="http://schemas.openxmlformats.org/drawingml/2006/main">
              <a:ext uri="{FF2B5EF4-FFF2-40B4-BE49-F238E27FC236}">
                <a16:creationId xmlns:a16="http://schemas.microsoft.com/office/drawing/2014/main" id="{C8D7D2C8-975A-484D-A1DB-4C406A18265D}"/>
              </a:ext>
            </a:extLst>
          </p:cNvPr>
          <p:cNvSpPr>
            <a:spLocks xmlns:a="http://schemas.openxmlformats.org/drawingml/2006/main" noGrp="1"/>
          </p:cNvSpPr>
          <p:nvPr/>
        </p:nvSpPr>
        <p:spPr>
          <a:xfrm xmlns:a="http://schemas.openxmlformats.org/drawingml/2006/main">
            <a:off x="7562850" y="3314700"/>
            <a:ext cx="41338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8" name="">
            <a:extLst xmlns:a="http://schemas.openxmlformats.org/drawingml/2006/main">
              <a:ext uri="{FF2B5EF4-FFF2-40B4-BE49-F238E27FC236}">
                <a16:creationId xmlns:a16="http://schemas.microsoft.com/office/drawing/2014/main" id="{8A0E2D21-9CCA-4470-BF47-CBC6B2ECBFD0}"/>
              </a:ext>
            </a:extLst>
          </p:cNvPr>
          <p:cNvSpPr>
            <a:spLocks xmlns:a="http://schemas.openxmlformats.org/drawingml/2006/main" noGrp="1"/>
          </p:cNvSpPr>
          <p:nvPr/>
        </p:nvSpPr>
        <p:spPr>
          <a:xfrm xmlns:a="http://schemas.openxmlformats.org/drawingml/2006/main">
            <a:off x="7677150" y="33909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distinguishes identity evidence from topic similarity</a:t>
            </a:r>
          </a:p>
        </p:txBody>
      </p:sp>
      <p:sp>
        <p:nvSpPr>
          <p:cNvPr id="29" name="">
            <a:extLst xmlns:a="http://schemas.openxmlformats.org/drawingml/2006/main">
              <a:ext uri="{FF2B5EF4-FFF2-40B4-BE49-F238E27FC236}">
                <a16:creationId xmlns:a16="http://schemas.microsoft.com/office/drawing/2014/main" id="{1F91698B-7E8B-4D6C-84E0-12AE26956CEE}"/>
              </a:ext>
            </a:extLst>
          </p:cNvPr>
          <p:cNvSpPr>
            <a:spLocks xmlns:a="http://schemas.openxmlformats.org/drawingml/2006/main" noGrp="1"/>
          </p:cNvSpPr>
          <p:nvPr/>
        </p:nvSpPr>
        <p:spPr>
          <a:xfrm xmlns:a="http://schemas.openxmlformats.org/drawingml/2006/main">
            <a:off x="495300" y="3867150"/>
            <a:ext cx="23812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0" name="">
            <a:extLst xmlns:a="http://schemas.openxmlformats.org/drawingml/2006/main">
              <a:ext uri="{FF2B5EF4-FFF2-40B4-BE49-F238E27FC236}">
                <a16:creationId xmlns:a16="http://schemas.microsoft.com/office/drawing/2014/main" id="{B2AAB220-757B-4FE7-9CB1-D893650EA752}"/>
              </a:ext>
            </a:extLst>
          </p:cNvPr>
          <p:cNvSpPr>
            <a:spLocks xmlns:a="http://schemas.openxmlformats.org/drawingml/2006/main" noGrp="1"/>
          </p:cNvSpPr>
          <p:nvPr/>
        </p:nvSpPr>
        <p:spPr>
          <a:xfrm xmlns:a="http://schemas.openxmlformats.org/drawingml/2006/main">
            <a:off x="609600" y="394335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matched institutions</a:t>
            </a:r>
          </a:p>
        </p:txBody>
      </p:sp>
      <p:sp>
        <p:nvSpPr>
          <p:cNvPr id="31" name="">
            <a:extLst xmlns:a="http://schemas.openxmlformats.org/drawingml/2006/main">
              <a:ext uri="{FF2B5EF4-FFF2-40B4-BE49-F238E27FC236}">
                <a16:creationId xmlns:a16="http://schemas.microsoft.com/office/drawing/2014/main" id="{2743DFC4-804A-4D1B-A197-DE57E66FD0F4}"/>
              </a:ext>
            </a:extLst>
          </p:cNvPr>
          <p:cNvSpPr>
            <a:spLocks xmlns:a="http://schemas.openxmlformats.org/drawingml/2006/main" noGrp="1"/>
          </p:cNvSpPr>
          <p:nvPr/>
        </p:nvSpPr>
        <p:spPr>
          <a:xfrm xmlns:a="http://schemas.openxmlformats.org/drawingml/2006/main">
            <a:off x="2876550" y="3867150"/>
            <a:ext cx="468630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2" name="">
            <a:extLst xmlns:a="http://schemas.openxmlformats.org/drawingml/2006/main">
              <a:ext uri="{FF2B5EF4-FFF2-40B4-BE49-F238E27FC236}">
                <a16:creationId xmlns:a16="http://schemas.microsoft.com/office/drawing/2014/main" id="{DD93D757-1A8B-4425-94C2-5E63A68A6F14}"/>
              </a:ext>
            </a:extLst>
          </p:cNvPr>
          <p:cNvSpPr>
            <a:spLocks xmlns:a="http://schemas.openxmlformats.org/drawingml/2006/main" noGrp="1"/>
          </p:cNvSpPr>
          <p:nvPr/>
        </p:nvSpPr>
        <p:spPr>
          <a:xfrm xmlns:a="http://schemas.openxmlformats.org/drawingml/2006/main">
            <a:off x="2990850" y="394335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canonical institution ID and partner status</a:t>
            </a:r>
          </a:p>
        </p:txBody>
      </p:sp>
      <p:sp>
        <p:nvSpPr>
          <p:cNvPr id="33" name="">
            <a:extLst xmlns:a="http://schemas.openxmlformats.org/drawingml/2006/main">
              <a:ext uri="{FF2B5EF4-FFF2-40B4-BE49-F238E27FC236}">
                <a16:creationId xmlns:a16="http://schemas.microsoft.com/office/drawing/2014/main" id="{468376EA-94F4-48F0-A56E-550B93313E9A}"/>
              </a:ext>
            </a:extLst>
          </p:cNvPr>
          <p:cNvSpPr>
            <a:spLocks xmlns:a="http://schemas.openxmlformats.org/drawingml/2006/main" noGrp="1"/>
          </p:cNvSpPr>
          <p:nvPr/>
        </p:nvSpPr>
        <p:spPr>
          <a:xfrm xmlns:a="http://schemas.openxmlformats.org/drawingml/2006/main">
            <a:off x="7562850" y="3867150"/>
            <a:ext cx="41338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4" name="">
            <a:extLst xmlns:a="http://schemas.openxmlformats.org/drawingml/2006/main">
              <a:ext uri="{FF2B5EF4-FFF2-40B4-BE49-F238E27FC236}">
                <a16:creationId xmlns:a16="http://schemas.microsoft.com/office/drawing/2014/main" id="{D9155B89-37B5-4A4A-9534-DA9DCACD2B79}"/>
              </a:ext>
            </a:extLst>
          </p:cNvPr>
          <p:cNvSpPr>
            <a:spLocks xmlns:a="http://schemas.openxmlformats.org/drawingml/2006/main" noGrp="1"/>
          </p:cNvSpPr>
          <p:nvPr/>
        </p:nvSpPr>
        <p:spPr>
          <a:xfrm xmlns:a="http://schemas.openxmlformats.org/drawingml/2006/main">
            <a:off x="7677150" y="39433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supports partner and collaboration reporting</a:t>
            </a:r>
          </a:p>
        </p:txBody>
      </p:sp>
      <p:sp>
        <p:nvSpPr>
          <p:cNvPr id="35" name="">
            <a:extLst xmlns:a="http://schemas.openxmlformats.org/drawingml/2006/main">
              <a:ext uri="{FF2B5EF4-FFF2-40B4-BE49-F238E27FC236}">
                <a16:creationId xmlns:a16="http://schemas.microsoft.com/office/drawing/2014/main" id="{518D89E7-4AC0-4100-BFBD-75E9F8E13D6C}"/>
              </a:ext>
            </a:extLst>
          </p:cNvPr>
          <p:cNvSpPr>
            <a:spLocks xmlns:a="http://schemas.openxmlformats.org/drawingml/2006/main" noGrp="1"/>
          </p:cNvSpPr>
          <p:nvPr/>
        </p:nvSpPr>
        <p:spPr>
          <a:xfrm xmlns:a="http://schemas.openxmlformats.org/drawingml/2006/main">
            <a:off x="495300" y="4419600"/>
            <a:ext cx="2381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6" name="">
            <a:extLst xmlns:a="http://schemas.openxmlformats.org/drawingml/2006/main">
              <a:ext uri="{FF2B5EF4-FFF2-40B4-BE49-F238E27FC236}">
                <a16:creationId xmlns:a16="http://schemas.microsoft.com/office/drawing/2014/main" id="{B2658F75-2105-4DF3-9702-0AFCBE50B845}"/>
              </a:ext>
            </a:extLst>
          </p:cNvPr>
          <p:cNvSpPr>
            <a:spLocks xmlns:a="http://schemas.openxmlformats.org/drawingml/2006/main" noGrp="1"/>
          </p:cNvSpPr>
          <p:nvPr/>
        </p:nvSpPr>
        <p:spPr>
          <a:xfrm xmlns:a="http://schemas.openxmlformats.org/drawingml/2006/main">
            <a:off x="609600" y="449580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scientific evidence</a:t>
            </a:r>
          </a:p>
        </p:txBody>
      </p:sp>
      <p:sp>
        <p:nvSpPr>
          <p:cNvPr id="37" name="">
            <a:extLst xmlns:a="http://schemas.openxmlformats.org/drawingml/2006/main">
              <a:ext uri="{FF2B5EF4-FFF2-40B4-BE49-F238E27FC236}">
                <a16:creationId xmlns:a16="http://schemas.microsoft.com/office/drawing/2014/main" id="{454BF406-8CF3-4B43-A9A2-0A6D1014E2C1}"/>
              </a:ext>
            </a:extLst>
          </p:cNvPr>
          <p:cNvSpPr>
            <a:spLocks xmlns:a="http://schemas.openxmlformats.org/drawingml/2006/main" noGrp="1"/>
          </p:cNvSpPr>
          <p:nvPr/>
        </p:nvSpPr>
        <p:spPr>
          <a:xfrm xmlns:a="http://schemas.openxmlformats.org/drawingml/2006/main">
            <a:off x="2876550" y="4419600"/>
            <a:ext cx="46863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8" name="">
            <a:extLst xmlns:a="http://schemas.openxmlformats.org/drawingml/2006/main">
              <a:ext uri="{FF2B5EF4-FFF2-40B4-BE49-F238E27FC236}">
                <a16:creationId xmlns:a16="http://schemas.microsoft.com/office/drawing/2014/main" id="{A4DA76C2-A197-461A-A1EF-B8B58F2BB1C6}"/>
              </a:ext>
            </a:extLst>
          </p:cNvPr>
          <p:cNvSpPr>
            <a:spLocks xmlns:a="http://schemas.openxmlformats.org/drawingml/2006/main" noGrp="1"/>
          </p:cNvSpPr>
          <p:nvPr/>
        </p:nvSpPr>
        <p:spPr>
          <a:xfrm xmlns:a="http://schemas.openxmlformats.org/drawingml/2006/main">
            <a:off x="2990850" y="44958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topics, methods, entities, full-text evidence, chunk IDs</a:t>
            </a:r>
          </a:p>
        </p:txBody>
      </p:sp>
      <p:sp>
        <p:nvSpPr>
          <p:cNvPr id="39" name="">
            <a:extLst xmlns:a="http://schemas.openxmlformats.org/drawingml/2006/main">
              <a:ext uri="{FF2B5EF4-FFF2-40B4-BE49-F238E27FC236}">
                <a16:creationId xmlns:a16="http://schemas.microsoft.com/office/drawing/2014/main" id="{731E2A81-3F10-4C8E-8707-67C4FBEBAF8E}"/>
              </a:ext>
            </a:extLst>
          </p:cNvPr>
          <p:cNvSpPr>
            <a:spLocks xmlns:a="http://schemas.openxmlformats.org/drawingml/2006/main" noGrp="1"/>
          </p:cNvSpPr>
          <p:nvPr/>
        </p:nvSpPr>
        <p:spPr>
          <a:xfrm xmlns:a="http://schemas.openxmlformats.org/drawingml/2006/main">
            <a:off x="7562850" y="4419600"/>
            <a:ext cx="41338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0" name="">
            <a:extLst xmlns:a="http://schemas.openxmlformats.org/drawingml/2006/main">
              <a:ext uri="{FF2B5EF4-FFF2-40B4-BE49-F238E27FC236}">
                <a16:creationId xmlns:a16="http://schemas.microsoft.com/office/drawing/2014/main" id="{51C7C3B9-E5FF-4B38-A6CF-4E12988F5720}"/>
              </a:ext>
            </a:extLst>
          </p:cNvPr>
          <p:cNvSpPr>
            <a:spLocks xmlns:a="http://schemas.openxmlformats.org/drawingml/2006/main" noGrp="1"/>
          </p:cNvSpPr>
          <p:nvPr/>
        </p:nvSpPr>
        <p:spPr>
          <a:xfrm xmlns:a="http://schemas.openxmlformats.org/drawingml/2006/main">
            <a:off x="7677150" y="44958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keeps the scientific basis source-addressable</a:t>
            </a:r>
          </a:p>
        </p:txBody>
      </p:sp>
      <p:sp>
        <p:nvSpPr>
          <p:cNvPr id="41" name="">
            <a:extLst xmlns:a="http://schemas.openxmlformats.org/drawingml/2006/main">
              <a:ext uri="{FF2B5EF4-FFF2-40B4-BE49-F238E27FC236}">
                <a16:creationId xmlns:a16="http://schemas.microsoft.com/office/drawing/2014/main" id="{7CD1E2D4-40FF-4AF4-A8A8-10A744D103D1}"/>
              </a:ext>
            </a:extLst>
          </p:cNvPr>
          <p:cNvSpPr>
            <a:spLocks xmlns:a="http://schemas.openxmlformats.org/drawingml/2006/main" noGrp="1"/>
          </p:cNvSpPr>
          <p:nvPr/>
        </p:nvSpPr>
        <p:spPr>
          <a:xfrm xmlns:a="http://schemas.openxmlformats.org/drawingml/2006/main">
            <a:off x="495300" y="4972050"/>
            <a:ext cx="23812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2" name="">
            <a:extLst xmlns:a="http://schemas.openxmlformats.org/drawingml/2006/main">
              <a:ext uri="{FF2B5EF4-FFF2-40B4-BE49-F238E27FC236}">
                <a16:creationId xmlns:a16="http://schemas.microsoft.com/office/drawing/2014/main" id="{D02328D7-E2B7-4CCA-BF44-BBEFF682B04E}"/>
              </a:ext>
            </a:extLst>
          </p:cNvPr>
          <p:cNvSpPr>
            <a:spLocks xmlns:a="http://schemas.openxmlformats.org/drawingml/2006/main" noGrp="1"/>
          </p:cNvSpPr>
          <p:nvPr/>
        </p:nvSpPr>
        <p:spPr>
          <a:xfrm xmlns:a="http://schemas.openxmlformats.org/drawingml/2006/main">
            <a:off x="609600" y="504825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graph explanation</a:t>
            </a:r>
          </a:p>
        </p:txBody>
      </p:sp>
      <p:sp>
        <p:nvSpPr>
          <p:cNvPr id="43" name="">
            <a:extLst xmlns:a="http://schemas.openxmlformats.org/drawingml/2006/main">
              <a:ext uri="{FF2B5EF4-FFF2-40B4-BE49-F238E27FC236}">
                <a16:creationId xmlns:a16="http://schemas.microsoft.com/office/drawing/2014/main" id="{33CA092E-FBC9-4C3B-939C-F80C6749159C}"/>
              </a:ext>
            </a:extLst>
          </p:cNvPr>
          <p:cNvSpPr>
            <a:spLocks xmlns:a="http://schemas.openxmlformats.org/drawingml/2006/main" noGrp="1"/>
          </p:cNvSpPr>
          <p:nvPr/>
        </p:nvSpPr>
        <p:spPr>
          <a:xfrm xmlns:a="http://schemas.openxmlformats.org/drawingml/2006/main">
            <a:off x="2876550" y="4972050"/>
            <a:ext cx="468630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4" name="">
            <a:extLst xmlns:a="http://schemas.openxmlformats.org/drawingml/2006/main">
              <a:ext uri="{FF2B5EF4-FFF2-40B4-BE49-F238E27FC236}">
                <a16:creationId xmlns:a16="http://schemas.microsoft.com/office/drawing/2014/main" id="{9A49A92C-DFA8-4637-85A3-F465431967C3}"/>
              </a:ext>
            </a:extLst>
          </p:cNvPr>
          <p:cNvSpPr>
            <a:spLocks xmlns:a="http://schemas.openxmlformats.org/drawingml/2006/main" noGrp="1"/>
          </p:cNvSpPr>
          <p:nvPr/>
        </p:nvSpPr>
        <p:spPr>
          <a:xfrm xmlns:a="http://schemas.openxmlformats.org/drawingml/2006/main">
            <a:off x="2990850" y="504825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direct AC authors, second-degree paths, AC-core citations, cited-by-corpus</a:t>
            </a:r>
          </a:p>
        </p:txBody>
      </p:sp>
      <p:sp>
        <p:nvSpPr>
          <p:cNvPr id="45" name="">
            <a:extLst xmlns:a="http://schemas.openxmlformats.org/drawingml/2006/main">
              <a:ext uri="{FF2B5EF4-FFF2-40B4-BE49-F238E27FC236}">
                <a16:creationId xmlns:a16="http://schemas.microsoft.com/office/drawing/2014/main" id="{0FA9EF0B-764A-4253-824A-C56184A596B0}"/>
              </a:ext>
            </a:extLst>
          </p:cNvPr>
          <p:cNvSpPr>
            <a:spLocks xmlns:a="http://schemas.openxmlformats.org/drawingml/2006/main" noGrp="1"/>
          </p:cNvSpPr>
          <p:nvPr/>
        </p:nvSpPr>
        <p:spPr>
          <a:xfrm xmlns:a="http://schemas.openxmlformats.org/drawingml/2006/main">
            <a:off x="7562850" y="4972050"/>
            <a:ext cx="41338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6" name="">
            <a:extLst xmlns:a="http://schemas.openxmlformats.org/drawingml/2006/main">
              <a:ext uri="{FF2B5EF4-FFF2-40B4-BE49-F238E27FC236}">
                <a16:creationId xmlns:a16="http://schemas.microsoft.com/office/drawing/2014/main" id="{75F9A46E-B4A6-4303-B3CA-03DB232599F4}"/>
              </a:ext>
            </a:extLst>
          </p:cNvPr>
          <p:cNvSpPr>
            <a:spLocks xmlns:a="http://schemas.openxmlformats.org/drawingml/2006/main" noGrp="1"/>
          </p:cNvSpPr>
          <p:nvPr/>
        </p:nvSpPr>
        <p:spPr>
          <a:xfrm xmlns:a="http://schemas.openxmlformats.org/drawingml/2006/main">
            <a:off x="7677150" y="504825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makes indirect attribution inspectable</a:t>
            </a:r>
          </a:p>
        </p:txBody>
      </p:sp>
      <p:sp>
        <p:nvSpPr>
          <p:cNvPr id="47" name="">
            <a:extLst xmlns:a="http://schemas.openxmlformats.org/drawingml/2006/main">
              <a:ext uri="{FF2B5EF4-FFF2-40B4-BE49-F238E27FC236}">
                <a16:creationId xmlns:a16="http://schemas.microsoft.com/office/drawing/2014/main" id="{5F259E14-2FB6-43BB-8819-98351096E300}"/>
              </a:ext>
            </a:extLst>
          </p:cNvPr>
          <p:cNvSpPr>
            <a:spLocks xmlns:a="http://schemas.openxmlformats.org/drawingml/2006/main" noGrp="1"/>
          </p:cNvSpPr>
          <p:nvPr/>
        </p:nvSpPr>
        <p:spPr>
          <a:xfrm xmlns:a="http://schemas.openxmlformats.org/drawingml/2006/main">
            <a:off x="495300" y="5524500"/>
            <a:ext cx="2381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8" name="">
            <a:extLst xmlns:a="http://schemas.openxmlformats.org/drawingml/2006/main">
              <a:ext uri="{FF2B5EF4-FFF2-40B4-BE49-F238E27FC236}">
                <a16:creationId xmlns:a16="http://schemas.microsoft.com/office/drawing/2014/main" id="{FF5EFAD4-CC17-4A41-9814-8195FB39C9C6}"/>
              </a:ext>
            </a:extLst>
          </p:cNvPr>
          <p:cNvSpPr>
            <a:spLocks xmlns:a="http://schemas.openxmlformats.org/drawingml/2006/main" noGrp="1"/>
          </p:cNvSpPr>
          <p:nvPr/>
        </p:nvSpPr>
        <p:spPr>
          <a:xfrm xmlns:a="http://schemas.openxmlformats.org/drawingml/2006/main">
            <a:off x="609600" y="5600700"/>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human review</a:t>
            </a:r>
          </a:p>
        </p:txBody>
      </p:sp>
      <p:sp>
        <p:nvSpPr>
          <p:cNvPr id="49" name="">
            <a:extLst xmlns:a="http://schemas.openxmlformats.org/drawingml/2006/main">
              <a:ext uri="{FF2B5EF4-FFF2-40B4-BE49-F238E27FC236}">
                <a16:creationId xmlns:a16="http://schemas.microsoft.com/office/drawing/2014/main" id="{8BBD356A-5CB8-4873-8C45-AD8985765783}"/>
              </a:ext>
            </a:extLst>
          </p:cNvPr>
          <p:cNvSpPr>
            <a:spLocks xmlns:a="http://schemas.openxmlformats.org/drawingml/2006/main" noGrp="1"/>
          </p:cNvSpPr>
          <p:nvPr/>
        </p:nvSpPr>
        <p:spPr>
          <a:xfrm xmlns:a="http://schemas.openxmlformats.org/drawingml/2006/main">
            <a:off x="2876550" y="5524500"/>
            <a:ext cx="46863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50" name="">
            <a:extLst xmlns:a="http://schemas.openxmlformats.org/drawingml/2006/main">
              <a:ext uri="{FF2B5EF4-FFF2-40B4-BE49-F238E27FC236}">
                <a16:creationId xmlns:a16="http://schemas.microsoft.com/office/drawing/2014/main" id="{95A3AFC4-9C59-4558-BF59-92BF932B4EA0}"/>
              </a:ext>
            </a:extLst>
          </p:cNvPr>
          <p:cNvSpPr>
            <a:spLocks xmlns:a="http://schemas.openxmlformats.org/drawingml/2006/main" noGrp="1"/>
          </p:cNvSpPr>
          <p:nvPr/>
        </p:nvSpPr>
        <p:spPr>
          <a:xfrm xmlns:a="http://schemas.openxmlformats.org/drawingml/2006/main">
            <a:off x="2990850" y="56007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human label, reviewer, notes, timestamp / lock state</a:t>
            </a:r>
          </a:p>
        </p:txBody>
      </p:sp>
      <p:sp>
        <p:nvSpPr>
          <p:cNvPr id="51" name="">
            <a:extLst xmlns:a="http://schemas.openxmlformats.org/drawingml/2006/main">
              <a:ext uri="{FF2B5EF4-FFF2-40B4-BE49-F238E27FC236}">
                <a16:creationId xmlns:a16="http://schemas.microsoft.com/office/drawing/2014/main" id="{7F6C921B-303C-4F3A-8911-1EF652849D56}"/>
              </a:ext>
            </a:extLst>
          </p:cNvPr>
          <p:cNvSpPr>
            <a:spLocks xmlns:a="http://schemas.openxmlformats.org/drawingml/2006/main" noGrp="1"/>
          </p:cNvSpPr>
          <p:nvPr/>
        </p:nvSpPr>
        <p:spPr>
          <a:xfrm xmlns:a="http://schemas.openxmlformats.org/drawingml/2006/main">
            <a:off x="7562850" y="5524500"/>
            <a:ext cx="41338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52" name="">
            <a:extLst xmlns:a="http://schemas.openxmlformats.org/drawingml/2006/main">
              <a:ext uri="{FF2B5EF4-FFF2-40B4-BE49-F238E27FC236}">
                <a16:creationId xmlns:a16="http://schemas.microsoft.com/office/drawing/2014/main" id="{530FAD4F-92DD-469F-B554-F63D9D05D8F6}"/>
              </a:ext>
            </a:extLst>
          </p:cNvPr>
          <p:cNvSpPr>
            <a:spLocks xmlns:a="http://schemas.openxmlformats.org/drawingml/2006/main" noGrp="1"/>
          </p:cNvSpPr>
          <p:nvPr/>
        </p:nvSpPr>
        <p:spPr>
          <a:xfrm xmlns:a="http://schemas.openxmlformats.org/drawingml/2006/main">
            <a:off x="7677150" y="56007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preserves accountable decision authority</a:t>
            </a:r>
          </a:p>
        </p:txBody>
      </p:sp>
      <p:sp>
        <p:nvSpPr>
          <p:cNvPr id="53" name="">
            <a:extLst xmlns:a="http://schemas.openxmlformats.org/drawingml/2006/main">
              <a:ext uri="{FF2B5EF4-FFF2-40B4-BE49-F238E27FC236}">
                <a16:creationId xmlns:a16="http://schemas.microsoft.com/office/drawing/2014/main" id="{AC603B10-7B1D-4431-8407-3BF68C9408C7}"/>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4" name="">
            <a:extLst xmlns:a="http://schemas.openxmlformats.org/drawingml/2006/main">
              <a:ext uri="{FF2B5EF4-FFF2-40B4-BE49-F238E27FC236}">
                <a16:creationId xmlns:a16="http://schemas.microsoft.com/office/drawing/2014/main" id="{E3F341F6-C944-49EC-ADCE-88626C4F8908}"/>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55" name="">
            <a:extLst xmlns:a="http://schemas.openxmlformats.org/drawingml/2006/main">
              <a:ext uri="{FF2B5EF4-FFF2-40B4-BE49-F238E27FC236}">
                <a16:creationId xmlns:a16="http://schemas.microsoft.com/office/drawing/2014/main" id="{2A1757A0-7B09-46E7-9729-B9272690212A}"/>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72045686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155E735-314C-4E40-9FF1-C19CCDE37FD4}"/>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CLASSIFICATION SUBROUTINE</a:t>
            </a:r>
          </a:p>
        </p:txBody>
      </p:sp>
      <p:sp>
        <p:nvSpPr>
          <p:cNvPr id="2" name="">
            <a:extLst xmlns:a="http://schemas.openxmlformats.org/drawingml/2006/main">
              <a:ext uri="{FF2B5EF4-FFF2-40B4-BE49-F238E27FC236}">
                <a16:creationId xmlns:a16="http://schemas.microsoft.com/office/drawing/2014/main" id="{8162B810-F082-40B8-84B9-9EAE5774C66B}"/>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FEB5613-3A02-44EC-A317-D2E09830AD55}"/>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Seven evidence signals feed label-specific gates</a:t>
            </a:r>
          </a:p>
        </p:txBody>
      </p:sp>
      <p:sp>
        <p:nvSpPr>
          <p:cNvPr id="4" name="">
            <a:extLst xmlns:a="http://schemas.openxmlformats.org/drawingml/2006/main">
              <a:ext uri="{FF2B5EF4-FFF2-40B4-BE49-F238E27FC236}">
                <a16:creationId xmlns:a16="http://schemas.microsoft.com/office/drawing/2014/main" id="{9D376051-0F70-4BE0-8708-1730927E0437}"/>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F54604CE-E041-4209-BFDF-5B86A4099C57}"/>
              </a:ext>
            </a:extLst>
          </p:cNvPr>
          <p:cNvSpPr>
            <a:spLocks xmlns:a="http://schemas.openxmlformats.org/drawingml/2006/main" noGrp="1"/>
          </p:cNvSpPr>
          <p:nvPr/>
        </p:nvSpPr>
        <p:spPr>
          <a:xfrm xmlns:a="http://schemas.openxmlformats.org/drawingml/2006/main">
            <a:off x="4953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B8663B"/>
                </a:solidFill>
                <a:latin typeface="Arial"/>
                <a:ea typeface="Arial"/>
                <a:cs typeface="Arial"/>
              </a:defRPr>
            </a:pPr>
            <a:r>
              <a:rPr sz="2025" b="1" i="0">
                <a:solidFill>
                  <a:srgbClr val="B8663B"/>
                </a:solidFill>
                <a:latin typeface="Arial"/>
                <a:ea typeface="Arial"/>
                <a:cs typeface="Arial"/>
              </a:rPr>
              <a:t>A</a:t>
            </a:r>
          </a:p>
        </p:txBody>
      </p:sp>
      <p:sp>
        <p:nvSpPr>
          <p:cNvPr id="6" name="">
            <a:extLst xmlns:a="http://schemas.openxmlformats.org/drawingml/2006/main">
              <a:ext uri="{FF2B5EF4-FFF2-40B4-BE49-F238E27FC236}">
                <a16:creationId xmlns:a16="http://schemas.microsoft.com/office/drawing/2014/main" id="{35EC270F-9C54-45B8-9390-4F47426A9E8F}"/>
              </a:ext>
            </a:extLst>
          </p:cNvPr>
          <p:cNvSpPr>
            <a:spLocks xmlns:a="http://schemas.openxmlformats.org/drawingml/2006/main" noGrp="1"/>
          </p:cNvSpPr>
          <p:nvPr/>
        </p:nvSpPr>
        <p:spPr>
          <a:xfrm xmlns:a="http://schemas.openxmlformats.org/drawingml/2006/main">
            <a:off x="36195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author identity</a:t>
            </a:r>
          </a:p>
        </p:txBody>
      </p:sp>
      <p:sp>
        <p:nvSpPr>
          <p:cNvPr id="7" name="">
            <a:extLst xmlns:a="http://schemas.openxmlformats.org/drawingml/2006/main">
              <a:ext uri="{FF2B5EF4-FFF2-40B4-BE49-F238E27FC236}">
                <a16:creationId xmlns:a16="http://schemas.microsoft.com/office/drawing/2014/main" id="{6C2610AE-FBBD-4C1F-94CD-2532C50DEE47}"/>
              </a:ext>
            </a:extLst>
          </p:cNvPr>
          <p:cNvSpPr>
            <a:spLocks xmlns:a="http://schemas.openxmlformats.org/drawingml/2006/main" noGrp="1"/>
          </p:cNvSpPr>
          <p:nvPr/>
        </p:nvSpPr>
        <p:spPr>
          <a:xfrm xmlns:a="http://schemas.openxmlformats.org/drawingml/2006/main">
            <a:off x="100965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8" name="">
            <a:extLst xmlns:a="http://schemas.openxmlformats.org/drawingml/2006/main">
              <a:ext uri="{FF2B5EF4-FFF2-40B4-BE49-F238E27FC236}">
                <a16:creationId xmlns:a16="http://schemas.microsoft.com/office/drawing/2014/main" id="{88C1F50C-9D8E-49A1-B9ED-B64C35884E17}"/>
              </a:ext>
            </a:extLst>
          </p:cNvPr>
          <p:cNvSpPr>
            <a:spLocks xmlns:a="http://schemas.openxmlformats.org/drawingml/2006/main" noGrp="1"/>
          </p:cNvSpPr>
          <p:nvPr/>
        </p:nvSpPr>
        <p:spPr>
          <a:xfrm xmlns:a="http://schemas.openxmlformats.org/drawingml/2006/main">
            <a:off x="150495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B8663B"/>
                </a:solidFill>
                <a:latin typeface="Arial"/>
                <a:ea typeface="Arial"/>
                <a:cs typeface="Arial"/>
              </a:defRPr>
            </a:pPr>
            <a:r>
              <a:rPr sz="2025" b="1" i="0">
                <a:solidFill>
                  <a:srgbClr val="B8663B"/>
                </a:solidFill>
                <a:latin typeface="Arial"/>
                <a:ea typeface="Arial"/>
                <a:cs typeface="Arial"/>
              </a:rPr>
              <a:t>I</a:t>
            </a:r>
          </a:p>
        </p:txBody>
      </p:sp>
      <p:sp>
        <p:nvSpPr>
          <p:cNvPr id="9" name="">
            <a:extLst xmlns:a="http://schemas.openxmlformats.org/drawingml/2006/main">
              <a:ext uri="{FF2B5EF4-FFF2-40B4-BE49-F238E27FC236}">
                <a16:creationId xmlns:a16="http://schemas.microsoft.com/office/drawing/2014/main" id="{B855EABE-4BD4-498A-91DF-B3EF131C9E0A}"/>
              </a:ext>
            </a:extLst>
          </p:cNvPr>
          <p:cNvSpPr>
            <a:spLocks xmlns:a="http://schemas.openxmlformats.org/drawingml/2006/main" noGrp="1"/>
          </p:cNvSpPr>
          <p:nvPr/>
        </p:nvSpPr>
        <p:spPr>
          <a:xfrm xmlns:a="http://schemas.openxmlformats.org/drawingml/2006/main">
            <a:off x="137160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institution</a:t>
            </a:r>
          </a:p>
        </p:txBody>
      </p:sp>
      <p:sp>
        <p:nvSpPr>
          <p:cNvPr id="10" name="">
            <a:extLst xmlns:a="http://schemas.openxmlformats.org/drawingml/2006/main">
              <a:ext uri="{FF2B5EF4-FFF2-40B4-BE49-F238E27FC236}">
                <a16:creationId xmlns:a16="http://schemas.microsoft.com/office/drawing/2014/main" id="{BC4B3222-CD19-4A45-A00E-5CAF4DC502FD}"/>
              </a:ext>
            </a:extLst>
          </p:cNvPr>
          <p:cNvSpPr>
            <a:spLocks xmlns:a="http://schemas.openxmlformats.org/drawingml/2006/main" noGrp="1"/>
          </p:cNvSpPr>
          <p:nvPr/>
        </p:nvSpPr>
        <p:spPr>
          <a:xfrm xmlns:a="http://schemas.openxmlformats.org/drawingml/2006/main">
            <a:off x="201930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1" name="">
            <a:extLst xmlns:a="http://schemas.openxmlformats.org/drawingml/2006/main">
              <a:ext uri="{FF2B5EF4-FFF2-40B4-BE49-F238E27FC236}">
                <a16:creationId xmlns:a16="http://schemas.microsoft.com/office/drawing/2014/main" id="{5FE6CEAA-57CD-452A-A957-65C699FEF1F7}"/>
              </a:ext>
            </a:extLst>
          </p:cNvPr>
          <p:cNvSpPr>
            <a:spLocks xmlns:a="http://schemas.openxmlformats.org/drawingml/2006/main" noGrp="1"/>
          </p:cNvSpPr>
          <p:nvPr/>
        </p:nvSpPr>
        <p:spPr>
          <a:xfrm xmlns:a="http://schemas.openxmlformats.org/drawingml/2006/main">
            <a:off x="25146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587F96"/>
                </a:solidFill>
                <a:latin typeface="Arial"/>
                <a:ea typeface="Arial"/>
                <a:cs typeface="Arial"/>
              </a:defRPr>
            </a:pPr>
            <a:r>
              <a:rPr sz="2025" b="1" i="0">
                <a:solidFill>
                  <a:srgbClr val="587F96"/>
                </a:solidFill>
                <a:latin typeface="Arial"/>
                <a:ea typeface="Arial"/>
                <a:cs typeface="Arial"/>
              </a:rPr>
              <a:t>T</a:t>
            </a:r>
          </a:p>
        </p:txBody>
      </p:sp>
      <p:sp>
        <p:nvSpPr>
          <p:cNvPr id="12" name="">
            <a:extLst xmlns:a="http://schemas.openxmlformats.org/drawingml/2006/main">
              <a:ext uri="{FF2B5EF4-FFF2-40B4-BE49-F238E27FC236}">
                <a16:creationId xmlns:a16="http://schemas.microsoft.com/office/drawing/2014/main" id="{BB096AA9-C26F-4B05-A9A4-72768A70060F}"/>
              </a:ext>
            </a:extLst>
          </p:cNvPr>
          <p:cNvSpPr>
            <a:spLocks xmlns:a="http://schemas.openxmlformats.org/drawingml/2006/main" noGrp="1"/>
          </p:cNvSpPr>
          <p:nvPr/>
        </p:nvSpPr>
        <p:spPr>
          <a:xfrm xmlns:a="http://schemas.openxmlformats.org/drawingml/2006/main">
            <a:off x="238125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topic</a:t>
            </a:r>
          </a:p>
        </p:txBody>
      </p:sp>
      <p:sp>
        <p:nvSpPr>
          <p:cNvPr id="13" name="">
            <a:extLst xmlns:a="http://schemas.openxmlformats.org/drawingml/2006/main">
              <a:ext uri="{FF2B5EF4-FFF2-40B4-BE49-F238E27FC236}">
                <a16:creationId xmlns:a16="http://schemas.microsoft.com/office/drawing/2014/main" id="{56BB6D86-991B-4EE0-9DA6-1D1FD039FE47}"/>
              </a:ext>
            </a:extLst>
          </p:cNvPr>
          <p:cNvSpPr>
            <a:spLocks xmlns:a="http://schemas.openxmlformats.org/drawingml/2006/main" noGrp="1"/>
          </p:cNvSpPr>
          <p:nvPr/>
        </p:nvSpPr>
        <p:spPr>
          <a:xfrm xmlns:a="http://schemas.openxmlformats.org/drawingml/2006/main">
            <a:off x="302895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AC46ABA4-3149-4083-9166-CCEF9E09E03C}"/>
              </a:ext>
            </a:extLst>
          </p:cNvPr>
          <p:cNvSpPr>
            <a:spLocks xmlns:a="http://schemas.openxmlformats.org/drawingml/2006/main" noGrp="1"/>
          </p:cNvSpPr>
          <p:nvPr/>
        </p:nvSpPr>
        <p:spPr>
          <a:xfrm xmlns:a="http://schemas.openxmlformats.org/drawingml/2006/main">
            <a:off x="352425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587F96"/>
                </a:solidFill>
                <a:latin typeface="Arial"/>
                <a:ea typeface="Arial"/>
                <a:cs typeface="Arial"/>
              </a:defRPr>
            </a:pPr>
            <a:r>
              <a:rPr sz="2025" b="1" i="0">
                <a:solidFill>
                  <a:srgbClr val="587F96"/>
                </a:solidFill>
                <a:latin typeface="Arial"/>
                <a:ea typeface="Arial"/>
                <a:cs typeface="Arial"/>
              </a:rPr>
              <a:t>F</a:t>
            </a:r>
          </a:p>
        </p:txBody>
      </p:sp>
      <p:sp>
        <p:nvSpPr>
          <p:cNvPr id="15" name="">
            <a:extLst xmlns:a="http://schemas.openxmlformats.org/drawingml/2006/main">
              <a:ext uri="{FF2B5EF4-FFF2-40B4-BE49-F238E27FC236}">
                <a16:creationId xmlns:a16="http://schemas.microsoft.com/office/drawing/2014/main" id="{0C49FF9E-ED16-4C2E-9D10-DCCB29C91F9F}"/>
              </a:ext>
            </a:extLst>
          </p:cNvPr>
          <p:cNvSpPr>
            <a:spLocks xmlns:a="http://schemas.openxmlformats.org/drawingml/2006/main" noGrp="1"/>
          </p:cNvSpPr>
          <p:nvPr/>
        </p:nvSpPr>
        <p:spPr>
          <a:xfrm xmlns:a="http://schemas.openxmlformats.org/drawingml/2006/main">
            <a:off x="339090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full text</a:t>
            </a:r>
          </a:p>
        </p:txBody>
      </p:sp>
      <p:sp>
        <p:nvSpPr>
          <p:cNvPr id="16" name="">
            <a:extLst xmlns:a="http://schemas.openxmlformats.org/drawingml/2006/main">
              <a:ext uri="{FF2B5EF4-FFF2-40B4-BE49-F238E27FC236}">
                <a16:creationId xmlns:a16="http://schemas.microsoft.com/office/drawing/2014/main" id="{EA1B8F4B-CBE3-443A-9538-98118CAAD6D7}"/>
              </a:ext>
            </a:extLst>
          </p:cNvPr>
          <p:cNvSpPr>
            <a:spLocks xmlns:a="http://schemas.openxmlformats.org/drawingml/2006/main" noGrp="1"/>
          </p:cNvSpPr>
          <p:nvPr/>
        </p:nvSpPr>
        <p:spPr>
          <a:xfrm xmlns:a="http://schemas.openxmlformats.org/drawingml/2006/main">
            <a:off x="403860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7" name="">
            <a:extLst xmlns:a="http://schemas.openxmlformats.org/drawingml/2006/main">
              <a:ext uri="{FF2B5EF4-FFF2-40B4-BE49-F238E27FC236}">
                <a16:creationId xmlns:a16="http://schemas.microsoft.com/office/drawing/2014/main" id="{0B9F0682-6808-4EBA-A941-F44B79D00196}"/>
              </a:ext>
            </a:extLst>
          </p:cNvPr>
          <p:cNvSpPr>
            <a:spLocks xmlns:a="http://schemas.openxmlformats.org/drawingml/2006/main" noGrp="1"/>
          </p:cNvSpPr>
          <p:nvPr/>
        </p:nvSpPr>
        <p:spPr>
          <a:xfrm xmlns:a="http://schemas.openxmlformats.org/drawingml/2006/main">
            <a:off x="45339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587F96"/>
                </a:solidFill>
                <a:latin typeface="Arial"/>
                <a:ea typeface="Arial"/>
                <a:cs typeface="Arial"/>
              </a:defRPr>
            </a:pPr>
            <a:r>
              <a:rPr sz="2025" b="1" i="0">
                <a:solidFill>
                  <a:srgbClr val="587F96"/>
                </a:solidFill>
                <a:latin typeface="Arial"/>
                <a:ea typeface="Arial"/>
                <a:cs typeface="Arial"/>
              </a:rPr>
              <a:t>N</a:t>
            </a:r>
          </a:p>
        </p:txBody>
      </p:sp>
      <p:sp>
        <p:nvSpPr>
          <p:cNvPr id="18" name="">
            <a:extLst xmlns:a="http://schemas.openxmlformats.org/drawingml/2006/main">
              <a:ext uri="{FF2B5EF4-FFF2-40B4-BE49-F238E27FC236}">
                <a16:creationId xmlns:a16="http://schemas.microsoft.com/office/drawing/2014/main" id="{DF7AFA06-11DC-4336-8F77-77D079CD9E2A}"/>
              </a:ext>
            </a:extLst>
          </p:cNvPr>
          <p:cNvSpPr>
            <a:spLocks xmlns:a="http://schemas.openxmlformats.org/drawingml/2006/main" noGrp="1"/>
          </p:cNvSpPr>
          <p:nvPr/>
        </p:nvSpPr>
        <p:spPr>
          <a:xfrm xmlns:a="http://schemas.openxmlformats.org/drawingml/2006/main">
            <a:off x="440055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network</a:t>
            </a:r>
          </a:p>
        </p:txBody>
      </p:sp>
      <p:sp>
        <p:nvSpPr>
          <p:cNvPr id="19" name="">
            <a:extLst xmlns:a="http://schemas.openxmlformats.org/drawingml/2006/main">
              <a:ext uri="{FF2B5EF4-FFF2-40B4-BE49-F238E27FC236}">
                <a16:creationId xmlns:a16="http://schemas.microsoft.com/office/drawing/2014/main" id="{1A4A7171-4677-4BE5-963E-A8944EA9F479}"/>
              </a:ext>
            </a:extLst>
          </p:cNvPr>
          <p:cNvSpPr>
            <a:spLocks xmlns:a="http://schemas.openxmlformats.org/drawingml/2006/main" noGrp="1"/>
          </p:cNvSpPr>
          <p:nvPr/>
        </p:nvSpPr>
        <p:spPr>
          <a:xfrm xmlns:a="http://schemas.openxmlformats.org/drawingml/2006/main">
            <a:off x="504825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E3DF7833-5C23-4CA7-8F0A-7500C1EF4C2E}"/>
              </a:ext>
            </a:extLst>
          </p:cNvPr>
          <p:cNvSpPr>
            <a:spLocks xmlns:a="http://schemas.openxmlformats.org/drawingml/2006/main" noGrp="1"/>
          </p:cNvSpPr>
          <p:nvPr/>
        </p:nvSpPr>
        <p:spPr>
          <a:xfrm xmlns:a="http://schemas.openxmlformats.org/drawingml/2006/main">
            <a:off x="554355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587F96"/>
                </a:solidFill>
                <a:latin typeface="Arial"/>
                <a:ea typeface="Arial"/>
                <a:cs typeface="Arial"/>
              </a:defRPr>
            </a:pPr>
            <a:r>
              <a:rPr sz="2025" b="1" i="0">
                <a:solidFill>
                  <a:srgbClr val="587F96"/>
                </a:solidFill>
                <a:latin typeface="Arial"/>
                <a:ea typeface="Arial"/>
                <a:cs typeface="Arial"/>
              </a:rPr>
              <a:t>Q</a:t>
            </a:r>
          </a:p>
        </p:txBody>
      </p:sp>
      <p:sp>
        <p:nvSpPr>
          <p:cNvPr id="21" name="">
            <a:extLst xmlns:a="http://schemas.openxmlformats.org/drawingml/2006/main">
              <a:ext uri="{FF2B5EF4-FFF2-40B4-BE49-F238E27FC236}">
                <a16:creationId xmlns:a16="http://schemas.microsoft.com/office/drawing/2014/main" id="{AB3223AE-7EEF-4E5C-8852-165217F76801}"/>
              </a:ext>
            </a:extLst>
          </p:cNvPr>
          <p:cNvSpPr>
            <a:spLocks xmlns:a="http://schemas.openxmlformats.org/drawingml/2006/main" noGrp="1"/>
          </p:cNvSpPr>
          <p:nvPr/>
        </p:nvSpPr>
        <p:spPr>
          <a:xfrm xmlns:a="http://schemas.openxmlformats.org/drawingml/2006/main">
            <a:off x="541020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citations</a:t>
            </a:r>
          </a:p>
        </p:txBody>
      </p:sp>
      <p:sp>
        <p:nvSpPr>
          <p:cNvPr id="22" name="">
            <a:extLst xmlns:a="http://schemas.openxmlformats.org/drawingml/2006/main">
              <a:ext uri="{FF2B5EF4-FFF2-40B4-BE49-F238E27FC236}">
                <a16:creationId xmlns:a16="http://schemas.microsoft.com/office/drawing/2014/main" id="{7DBE0849-6E39-44F8-8CD0-6FF92E9BAF6D}"/>
              </a:ext>
            </a:extLst>
          </p:cNvPr>
          <p:cNvSpPr>
            <a:spLocks xmlns:a="http://schemas.openxmlformats.org/drawingml/2006/main" noGrp="1"/>
          </p:cNvSpPr>
          <p:nvPr/>
        </p:nvSpPr>
        <p:spPr>
          <a:xfrm xmlns:a="http://schemas.openxmlformats.org/drawingml/2006/main">
            <a:off x="6057900" y="2028825"/>
            <a:ext cx="4953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23" name="">
            <a:extLst xmlns:a="http://schemas.openxmlformats.org/drawingml/2006/main">
              <a:ext uri="{FF2B5EF4-FFF2-40B4-BE49-F238E27FC236}">
                <a16:creationId xmlns:a16="http://schemas.microsoft.com/office/drawing/2014/main" id="{3434026F-AFF7-4620-9494-80448DB6BE6F}"/>
              </a:ext>
            </a:extLst>
          </p:cNvPr>
          <p:cNvSpPr>
            <a:spLocks xmlns:a="http://schemas.openxmlformats.org/drawingml/2006/main" noGrp="1"/>
          </p:cNvSpPr>
          <p:nvPr/>
        </p:nvSpPr>
        <p:spPr>
          <a:xfrm xmlns:a="http://schemas.openxmlformats.org/drawingml/2006/main">
            <a:off x="65532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2025" b="1" i="0">
                <a:solidFill>
                  <a:srgbClr val="587F96"/>
                </a:solidFill>
                <a:latin typeface="Arial"/>
                <a:ea typeface="Arial"/>
                <a:cs typeface="Arial"/>
              </a:defRPr>
            </a:pPr>
            <a:r>
              <a:rPr sz="2025" b="1" i="0">
                <a:solidFill>
                  <a:srgbClr val="587F96"/>
                </a:solidFill>
                <a:latin typeface="Arial"/>
                <a:ea typeface="Arial"/>
                <a:cs typeface="Arial"/>
              </a:rPr>
              <a:t>E</a:t>
            </a:r>
          </a:p>
        </p:txBody>
      </p:sp>
      <p:sp>
        <p:nvSpPr>
          <p:cNvPr id="24" name="">
            <a:extLst xmlns:a="http://schemas.openxmlformats.org/drawingml/2006/main">
              <a:ext uri="{FF2B5EF4-FFF2-40B4-BE49-F238E27FC236}">
                <a16:creationId xmlns:a16="http://schemas.microsoft.com/office/drawing/2014/main" id="{DC8A4F2B-D039-4050-A12E-5A4260C1E50B}"/>
              </a:ext>
            </a:extLst>
          </p:cNvPr>
          <p:cNvSpPr>
            <a:spLocks xmlns:a="http://schemas.openxmlformats.org/drawingml/2006/main" noGrp="1"/>
          </p:cNvSpPr>
          <p:nvPr/>
        </p:nvSpPr>
        <p:spPr>
          <a:xfrm xmlns:a="http://schemas.openxmlformats.org/drawingml/2006/main">
            <a:off x="6419850" y="2266950"/>
            <a:ext cx="64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06972"/>
                </a:solidFill>
                <a:latin typeface="Arial"/>
                <a:ea typeface="Arial"/>
                <a:cs typeface="Arial"/>
              </a:defRPr>
            </a:pPr>
            <a:r>
              <a:rPr sz="1050" b="0" i="0">
                <a:solidFill>
                  <a:srgbClr val="606972"/>
                </a:solidFill>
                <a:latin typeface="Arial"/>
                <a:ea typeface="Arial"/>
                <a:cs typeface="Arial"/>
              </a:rPr>
              <a:t>entities</a:t>
            </a:r>
          </a:p>
        </p:txBody>
      </p:sp>
      <p:sp>
        <p:nvSpPr>
          <p:cNvPr id="25" name="">
            <a:extLst xmlns:a="http://schemas.openxmlformats.org/drawingml/2006/main">
              <a:ext uri="{FF2B5EF4-FFF2-40B4-BE49-F238E27FC236}">
                <a16:creationId xmlns:a16="http://schemas.microsoft.com/office/drawing/2014/main" id="{A9246820-6823-4096-AD5E-294845E52B47}"/>
              </a:ext>
            </a:extLst>
          </p:cNvPr>
          <p:cNvSpPr>
            <a:spLocks xmlns:a="http://schemas.openxmlformats.org/drawingml/2006/main" noGrp="1"/>
          </p:cNvSpPr>
          <p:nvPr/>
        </p:nvSpPr>
        <p:spPr>
          <a:xfrm xmlns:a="http://schemas.openxmlformats.org/drawingml/2006/main">
            <a:off x="495300" y="2914650"/>
            <a:ext cx="7067550" cy="7239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39FCE90-7774-4C75-8B60-E56E2845E9C7}"/>
              </a:ext>
            </a:extLst>
          </p:cNvPr>
          <p:cNvSpPr>
            <a:spLocks xmlns:a="http://schemas.openxmlformats.org/drawingml/2006/main" noGrp="1"/>
          </p:cNvSpPr>
          <p:nvPr/>
        </p:nvSpPr>
        <p:spPr>
          <a:xfrm xmlns:a="http://schemas.openxmlformats.org/drawingml/2006/main">
            <a:off x="704850" y="3057525"/>
            <a:ext cx="664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C = .35A + .15I + .25T + .20F + .10N + .10Q + .05E − .15D</a:t>
            </a:r>
          </a:p>
        </p:txBody>
      </p:sp>
      <p:sp>
        <p:nvSpPr>
          <p:cNvPr id="27" name="">
            <a:extLst xmlns:a="http://schemas.openxmlformats.org/drawingml/2006/main">
              <a:ext uri="{FF2B5EF4-FFF2-40B4-BE49-F238E27FC236}">
                <a16:creationId xmlns:a16="http://schemas.microsoft.com/office/drawing/2014/main" id="{32100CBD-093F-472B-AE8F-3729FAF44E82}"/>
              </a:ext>
            </a:extLst>
          </p:cNvPr>
          <p:cNvSpPr>
            <a:spLocks xmlns:a="http://schemas.openxmlformats.org/drawingml/2006/main" noGrp="1"/>
          </p:cNvSpPr>
          <p:nvPr/>
        </p:nvSpPr>
        <p:spPr>
          <a:xfrm xmlns:a="http://schemas.openxmlformats.org/drawingml/2006/main">
            <a:off x="495300" y="3781425"/>
            <a:ext cx="7067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06972"/>
                </a:solidFill>
                <a:latin typeface="Arial"/>
                <a:ea typeface="Arial"/>
                <a:cs typeface="Arial"/>
              </a:defRPr>
            </a:pPr>
            <a:r>
              <a:rPr sz="1200" b="0" i="0">
                <a:solidFill>
                  <a:srgbClr val="606972"/>
                </a:solidFill>
                <a:latin typeface="Arial"/>
                <a:ea typeface="Arial"/>
                <a:cs typeface="Arial"/>
              </a:rPr>
              <a:t>D = disqualifying evidence count. Metadata-only mode redistributes weight toward A, I, and T.</a:t>
            </a:r>
          </a:p>
        </p:txBody>
      </p:sp>
      <p:sp>
        <p:nvSpPr>
          <p:cNvPr id="28" name="">
            <a:extLst xmlns:a="http://schemas.openxmlformats.org/drawingml/2006/main">
              <a:ext uri="{FF2B5EF4-FFF2-40B4-BE49-F238E27FC236}">
                <a16:creationId xmlns:a16="http://schemas.microsoft.com/office/drawing/2014/main" id="{68FEAF2B-D480-431A-828C-1FCADB555D59}"/>
              </a:ext>
            </a:extLst>
          </p:cNvPr>
          <p:cNvSpPr>
            <a:spLocks xmlns:a="http://schemas.openxmlformats.org/drawingml/2006/main" noGrp="1"/>
          </p:cNvSpPr>
          <p:nvPr/>
        </p:nvSpPr>
        <p:spPr>
          <a:xfrm xmlns:a="http://schemas.openxmlformats.org/drawingml/2006/main">
            <a:off x="8096250" y="1790700"/>
            <a:ext cx="3600450" cy="590550"/>
          </a:xfrm>
          <a:prstGeom xmlns:a="http://schemas.openxmlformats.org/drawingml/2006/main" prst="rect">
            <a:avLst/>
          </a:prstGeom>
          <a:solidFill xmlns:a="http://schemas.openxmlformats.org/drawingml/2006/main">
            <a:srgbClr val="F1E2D8"/>
          </a:solidFill>
          <a:ln xmlns:a="http://schemas.openxmlformats.org/drawingml/2006/main" w="9525">
            <a:solidFill>
              <a:srgbClr val="BEB8AD"/>
            </a:solidFill>
            <a:prstDash val="solid"/>
          </a:ln>
        </p:spPr>
      </p:sp>
      <p:sp>
        <p:nvSpPr>
          <p:cNvPr id="29" name="">
            <a:extLst xmlns:a="http://schemas.openxmlformats.org/drawingml/2006/main">
              <a:ext uri="{FF2B5EF4-FFF2-40B4-BE49-F238E27FC236}">
                <a16:creationId xmlns:a16="http://schemas.microsoft.com/office/drawing/2014/main" id="{06DA760D-1B06-4FA3-9741-6E8AE4715924}"/>
              </a:ext>
            </a:extLst>
          </p:cNvPr>
          <p:cNvSpPr>
            <a:spLocks xmlns:a="http://schemas.openxmlformats.org/drawingml/2006/main" noGrp="1"/>
          </p:cNvSpPr>
          <p:nvPr/>
        </p:nvSpPr>
        <p:spPr>
          <a:xfrm xmlns:a="http://schemas.openxmlformats.org/drawingml/2006/main">
            <a:off x="8096250" y="1790700"/>
            <a:ext cx="76200" cy="590550"/>
          </a:xfrm>
          <a:prstGeom xmlns:a="http://schemas.openxmlformats.org/drawingml/2006/main" prst="rect">
            <a:avLst/>
          </a:prstGeom>
          <a:solidFill xmlns:a="http://schemas.openxmlformats.org/drawingml/2006/main">
            <a:srgbClr val="B866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0A530D1-BAF1-4FA4-B25C-6120849B78EB}"/>
              </a:ext>
            </a:extLst>
          </p:cNvPr>
          <p:cNvSpPr>
            <a:spLocks xmlns:a="http://schemas.openxmlformats.org/drawingml/2006/main" noGrp="1"/>
          </p:cNvSpPr>
          <p:nvPr/>
        </p:nvSpPr>
        <p:spPr>
          <a:xfrm xmlns:a="http://schemas.openxmlformats.org/drawingml/2006/main">
            <a:off x="8343900" y="19050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B8663B"/>
                </a:solidFill>
                <a:latin typeface="Arial"/>
                <a:ea typeface="Arial"/>
                <a:cs typeface="Arial"/>
              </a:defRPr>
            </a:pPr>
            <a:r>
              <a:rPr sz="1125" b="1" i="0">
                <a:solidFill>
                  <a:srgbClr val="B8663B"/>
                </a:solidFill>
                <a:latin typeface="Arial"/>
                <a:ea typeface="Arial"/>
                <a:cs typeface="Arial"/>
              </a:rPr>
              <a:t>CORE</a:t>
            </a:r>
          </a:p>
        </p:txBody>
      </p:sp>
      <p:sp>
        <p:nvSpPr>
          <p:cNvPr id="31" name="">
            <a:extLst xmlns:a="http://schemas.openxmlformats.org/drawingml/2006/main">
              <a:ext uri="{FF2B5EF4-FFF2-40B4-BE49-F238E27FC236}">
                <a16:creationId xmlns:a16="http://schemas.microsoft.com/office/drawing/2014/main" id="{1507F572-77A8-457B-910D-8A053C806921}"/>
              </a:ext>
            </a:extLst>
          </p:cNvPr>
          <p:cNvSpPr>
            <a:spLocks xmlns:a="http://schemas.openxmlformats.org/drawingml/2006/main" noGrp="1"/>
          </p:cNvSpPr>
          <p:nvPr/>
        </p:nvSpPr>
        <p:spPr>
          <a:xfrm xmlns:a="http://schemas.openxmlformats.org/drawingml/2006/main">
            <a:off x="9353550" y="18859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7202A"/>
                </a:solidFill>
                <a:latin typeface="Arial"/>
                <a:ea typeface="Arial"/>
                <a:cs typeface="Arial"/>
              </a:defRPr>
            </a:pPr>
            <a:r>
              <a:rPr sz="1125" b="0" i="0">
                <a:solidFill>
                  <a:srgbClr val="17202A"/>
                </a:solidFill>
                <a:latin typeface="Arial"/>
                <a:ea typeface="Arial"/>
                <a:cs typeface="Arial"/>
              </a:rPr>
              <a:t>direct / gold AC evidence + core SDL evidence</a:t>
            </a:r>
          </a:p>
        </p:txBody>
      </p:sp>
      <p:sp>
        <p:nvSpPr>
          <p:cNvPr id="32" name="">
            <a:extLst xmlns:a="http://schemas.openxmlformats.org/drawingml/2006/main">
              <a:ext uri="{FF2B5EF4-FFF2-40B4-BE49-F238E27FC236}">
                <a16:creationId xmlns:a16="http://schemas.microsoft.com/office/drawing/2014/main" id="{4D033E27-9616-4677-95E6-C6D5BED04611}"/>
              </a:ext>
            </a:extLst>
          </p:cNvPr>
          <p:cNvSpPr>
            <a:spLocks xmlns:a="http://schemas.openxmlformats.org/drawingml/2006/main" noGrp="1"/>
          </p:cNvSpPr>
          <p:nvPr/>
        </p:nvSpPr>
        <p:spPr>
          <a:xfrm xmlns:a="http://schemas.openxmlformats.org/drawingml/2006/main">
            <a:off x="8096250" y="2581275"/>
            <a:ext cx="3600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3" name="">
            <a:extLst xmlns:a="http://schemas.openxmlformats.org/drawingml/2006/main">
              <a:ext uri="{FF2B5EF4-FFF2-40B4-BE49-F238E27FC236}">
                <a16:creationId xmlns:a16="http://schemas.microsoft.com/office/drawing/2014/main" id="{6FA11C6B-6885-40D4-9EBB-B129309754F7}"/>
              </a:ext>
            </a:extLst>
          </p:cNvPr>
          <p:cNvSpPr>
            <a:spLocks xmlns:a="http://schemas.openxmlformats.org/drawingml/2006/main" noGrp="1"/>
          </p:cNvSpPr>
          <p:nvPr/>
        </p:nvSpPr>
        <p:spPr>
          <a:xfrm xmlns:a="http://schemas.openxmlformats.org/drawingml/2006/main">
            <a:off x="8096250" y="2581275"/>
            <a:ext cx="76200" cy="590550"/>
          </a:xfrm>
          <a:prstGeom xmlns:a="http://schemas.openxmlformats.org/drawingml/2006/main" prst="rect">
            <a:avLst/>
          </a:prstGeom>
          <a:solidFill xmlns:a="http://schemas.openxmlformats.org/drawingml/2006/main">
            <a:srgbClr val="587F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32762F0-E043-44BE-B0FE-BC9030884258}"/>
              </a:ext>
            </a:extLst>
          </p:cNvPr>
          <p:cNvSpPr>
            <a:spLocks xmlns:a="http://schemas.openxmlformats.org/drawingml/2006/main" noGrp="1"/>
          </p:cNvSpPr>
          <p:nvPr/>
        </p:nvSpPr>
        <p:spPr>
          <a:xfrm xmlns:a="http://schemas.openxmlformats.org/drawingml/2006/main">
            <a:off x="8343900" y="2695575"/>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87F96"/>
                </a:solidFill>
                <a:latin typeface="Arial"/>
                <a:ea typeface="Arial"/>
                <a:cs typeface="Arial"/>
              </a:defRPr>
            </a:pPr>
            <a:r>
              <a:rPr sz="1125" b="1" i="0">
                <a:solidFill>
                  <a:srgbClr val="587F96"/>
                </a:solidFill>
                <a:latin typeface="Arial"/>
                <a:ea typeface="Arial"/>
                <a:cs typeface="Arial"/>
              </a:rPr>
              <a:t>RELATED</a:t>
            </a:r>
          </a:p>
        </p:txBody>
      </p:sp>
      <p:sp>
        <p:nvSpPr>
          <p:cNvPr id="35" name="">
            <a:extLst xmlns:a="http://schemas.openxmlformats.org/drawingml/2006/main">
              <a:ext uri="{FF2B5EF4-FFF2-40B4-BE49-F238E27FC236}">
                <a16:creationId xmlns:a16="http://schemas.microsoft.com/office/drawing/2014/main" id="{835D23E2-94D3-422D-A86B-0328CF5FE27F}"/>
              </a:ext>
            </a:extLst>
          </p:cNvPr>
          <p:cNvSpPr>
            <a:spLocks xmlns:a="http://schemas.openxmlformats.org/drawingml/2006/main" noGrp="1"/>
          </p:cNvSpPr>
          <p:nvPr/>
        </p:nvSpPr>
        <p:spPr>
          <a:xfrm xmlns:a="http://schemas.openxmlformats.org/drawingml/2006/main">
            <a:off x="9353550" y="2676525"/>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7202A"/>
                </a:solidFill>
                <a:latin typeface="Arial"/>
                <a:ea typeface="Arial"/>
                <a:cs typeface="Arial"/>
              </a:defRPr>
            </a:pPr>
            <a:r>
              <a:rPr sz="1125" b="0" i="0">
                <a:solidFill>
                  <a:srgbClr val="17202A"/>
                </a:solidFill>
                <a:latin typeface="Arial"/>
                <a:ea typeface="Arial"/>
                <a:cs typeface="Arial"/>
              </a:rPr>
              <a:t>strong identity, funding, or AC-core citation support</a:t>
            </a:r>
          </a:p>
        </p:txBody>
      </p:sp>
      <p:sp>
        <p:nvSpPr>
          <p:cNvPr id="36" name="">
            <a:extLst xmlns:a="http://schemas.openxmlformats.org/drawingml/2006/main">
              <a:ext uri="{FF2B5EF4-FFF2-40B4-BE49-F238E27FC236}">
                <a16:creationId xmlns:a16="http://schemas.microsoft.com/office/drawing/2014/main" id="{29F500A2-8A00-4EB4-9D76-507BE27CABA5}"/>
              </a:ext>
            </a:extLst>
          </p:cNvPr>
          <p:cNvSpPr>
            <a:spLocks xmlns:a="http://schemas.openxmlformats.org/drawingml/2006/main" noGrp="1"/>
          </p:cNvSpPr>
          <p:nvPr/>
        </p:nvSpPr>
        <p:spPr>
          <a:xfrm xmlns:a="http://schemas.openxmlformats.org/drawingml/2006/main">
            <a:off x="8096250" y="3371850"/>
            <a:ext cx="3600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7" name="">
            <a:extLst xmlns:a="http://schemas.openxmlformats.org/drawingml/2006/main">
              <a:ext uri="{FF2B5EF4-FFF2-40B4-BE49-F238E27FC236}">
                <a16:creationId xmlns:a16="http://schemas.microsoft.com/office/drawing/2014/main" id="{16BC89CA-928E-4D12-BBC1-0289E1E9317F}"/>
              </a:ext>
            </a:extLst>
          </p:cNvPr>
          <p:cNvSpPr>
            <a:spLocks xmlns:a="http://schemas.openxmlformats.org/drawingml/2006/main" noGrp="1"/>
          </p:cNvSpPr>
          <p:nvPr/>
        </p:nvSpPr>
        <p:spPr>
          <a:xfrm xmlns:a="http://schemas.openxmlformats.org/drawingml/2006/main">
            <a:off x="8096250" y="3371850"/>
            <a:ext cx="76200" cy="590550"/>
          </a:xfrm>
          <a:prstGeom xmlns:a="http://schemas.openxmlformats.org/drawingml/2006/main" prst="rect">
            <a:avLst/>
          </a:prstGeom>
          <a:solidFill xmlns:a="http://schemas.openxmlformats.org/drawingml/2006/main">
            <a:srgbClr val="557A6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28C36D7-9F38-4B74-932A-FC9769037396}"/>
              </a:ext>
            </a:extLst>
          </p:cNvPr>
          <p:cNvSpPr>
            <a:spLocks xmlns:a="http://schemas.openxmlformats.org/drawingml/2006/main" noGrp="1"/>
          </p:cNvSpPr>
          <p:nvPr/>
        </p:nvSpPr>
        <p:spPr>
          <a:xfrm xmlns:a="http://schemas.openxmlformats.org/drawingml/2006/main">
            <a:off x="8343900" y="34861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57A63"/>
                </a:solidFill>
                <a:latin typeface="Arial"/>
                <a:ea typeface="Arial"/>
                <a:cs typeface="Arial"/>
              </a:defRPr>
            </a:pPr>
            <a:r>
              <a:rPr sz="1125" b="1" i="0">
                <a:solidFill>
                  <a:srgbClr val="557A63"/>
                </a:solidFill>
                <a:latin typeface="Arial"/>
                <a:ea typeface="Arial"/>
                <a:cs typeface="Arial"/>
              </a:rPr>
              <a:t>ADJACENT</a:t>
            </a:r>
          </a:p>
        </p:txBody>
      </p:sp>
      <p:sp>
        <p:nvSpPr>
          <p:cNvPr id="39" name="">
            <a:extLst xmlns:a="http://schemas.openxmlformats.org/drawingml/2006/main">
              <a:ext uri="{FF2B5EF4-FFF2-40B4-BE49-F238E27FC236}">
                <a16:creationId xmlns:a16="http://schemas.microsoft.com/office/drawing/2014/main" id="{9EB941E0-5B90-46A7-9021-953D1A27B60A}"/>
              </a:ext>
            </a:extLst>
          </p:cNvPr>
          <p:cNvSpPr>
            <a:spLocks xmlns:a="http://schemas.openxmlformats.org/drawingml/2006/main" noGrp="1"/>
          </p:cNvSpPr>
          <p:nvPr/>
        </p:nvSpPr>
        <p:spPr>
          <a:xfrm xmlns:a="http://schemas.openxmlformats.org/drawingml/2006/main">
            <a:off x="9353550" y="34671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7202A"/>
                </a:solidFill>
                <a:latin typeface="Arial"/>
                <a:ea typeface="Arial"/>
                <a:cs typeface="Arial"/>
              </a:defRPr>
            </a:pPr>
            <a:r>
              <a:rPr sz="1125" b="0" i="0">
                <a:solidFill>
                  <a:srgbClr val="17202A"/>
                </a:solidFill>
                <a:latin typeface="Arial"/>
                <a:ea typeface="Arial"/>
                <a:cs typeface="Arial"/>
              </a:rPr>
              <a:t>strong scientific relevance without sufficient attribution</a:t>
            </a:r>
          </a:p>
        </p:txBody>
      </p:sp>
      <p:sp>
        <p:nvSpPr>
          <p:cNvPr id="40" name="">
            <a:extLst xmlns:a="http://schemas.openxmlformats.org/drawingml/2006/main">
              <a:ext uri="{FF2B5EF4-FFF2-40B4-BE49-F238E27FC236}">
                <a16:creationId xmlns:a16="http://schemas.microsoft.com/office/drawing/2014/main" id="{F85885C1-8B49-4C78-9370-AFE149C3733C}"/>
              </a:ext>
            </a:extLst>
          </p:cNvPr>
          <p:cNvSpPr>
            <a:spLocks xmlns:a="http://schemas.openxmlformats.org/drawingml/2006/main" noGrp="1"/>
          </p:cNvSpPr>
          <p:nvPr/>
        </p:nvSpPr>
        <p:spPr>
          <a:xfrm xmlns:a="http://schemas.openxmlformats.org/drawingml/2006/main">
            <a:off x="8096250" y="4162425"/>
            <a:ext cx="3600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1" name="">
            <a:extLst xmlns:a="http://schemas.openxmlformats.org/drawingml/2006/main">
              <a:ext uri="{FF2B5EF4-FFF2-40B4-BE49-F238E27FC236}">
                <a16:creationId xmlns:a16="http://schemas.microsoft.com/office/drawing/2014/main" id="{9698F4ED-D009-4C53-979B-8EE4B549868C}"/>
              </a:ext>
            </a:extLst>
          </p:cNvPr>
          <p:cNvSpPr>
            <a:spLocks xmlns:a="http://schemas.openxmlformats.org/drawingml/2006/main" noGrp="1"/>
          </p:cNvSpPr>
          <p:nvPr/>
        </p:nvSpPr>
        <p:spPr>
          <a:xfrm xmlns:a="http://schemas.openxmlformats.org/drawingml/2006/main">
            <a:off x="8096250" y="4162425"/>
            <a:ext cx="76200" cy="590550"/>
          </a:xfrm>
          <a:prstGeom xmlns:a="http://schemas.openxmlformats.org/drawingml/2006/main" prst="rect">
            <a:avLst/>
          </a:prstGeom>
          <a:solidFill xmlns:a="http://schemas.openxmlformats.org/drawingml/2006/main">
            <a:srgbClr val="B866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D23FE78-350A-4FC2-8849-CE1103E83536}"/>
              </a:ext>
            </a:extLst>
          </p:cNvPr>
          <p:cNvSpPr>
            <a:spLocks xmlns:a="http://schemas.openxmlformats.org/drawingml/2006/main" noGrp="1"/>
          </p:cNvSpPr>
          <p:nvPr/>
        </p:nvSpPr>
        <p:spPr>
          <a:xfrm xmlns:a="http://schemas.openxmlformats.org/drawingml/2006/main">
            <a:off x="8343900" y="4276725"/>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B8663B"/>
                </a:solidFill>
                <a:latin typeface="Arial"/>
                <a:ea typeface="Arial"/>
                <a:cs typeface="Arial"/>
              </a:defRPr>
            </a:pPr>
            <a:r>
              <a:rPr sz="1125" b="1" i="0">
                <a:solidFill>
                  <a:srgbClr val="B8663B"/>
                </a:solidFill>
                <a:latin typeface="Arial"/>
                <a:ea typeface="Arial"/>
                <a:cs typeface="Arial"/>
              </a:rPr>
              <a:t>UNCERTAIN</a:t>
            </a:r>
          </a:p>
        </p:txBody>
      </p:sp>
      <p:sp>
        <p:nvSpPr>
          <p:cNvPr id="43" name="">
            <a:extLst xmlns:a="http://schemas.openxmlformats.org/drawingml/2006/main">
              <a:ext uri="{FF2B5EF4-FFF2-40B4-BE49-F238E27FC236}">
                <a16:creationId xmlns:a16="http://schemas.microsoft.com/office/drawing/2014/main" id="{5C37B36F-444E-4360-BFE4-2826C9050A4E}"/>
              </a:ext>
            </a:extLst>
          </p:cNvPr>
          <p:cNvSpPr>
            <a:spLocks xmlns:a="http://schemas.openxmlformats.org/drawingml/2006/main" noGrp="1"/>
          </p:cNvSpPr>
          <p:nvPr/>
        </p:nvSpPr>
        <p:spPr>
          <a:xfrm xmlns:a="http://schemas.openxmlformats.org/drawingml/2006/main">
            <a:off x="9353550" y="4257675"/>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7202A"/>
                </a:solidFill>
                <a:latin typeface="Arial"/>
                <a:ea typeface="Arial"/>
                <a:cs typeface="Arial"/>
              </a:defRPr>
            </a:pPr>
            <a:r>
              <a:rPr sz="1125" b="0" i="0">
                <a:solidFill>
                  <a:srgbClr val="17202A"/>
                </a:solidFill>
                <a:latin typeface="Arial"/>
                <a:ea typeface="Arial"/>
                <a:cs typeface="Arial"/>
              </a:rPr>
              <a:t>partial or conflicting evidence requiring review</a:t>
            </a:r>
          </a:p>
        </p:txBody>
      </p:sp>
      <p:sp>
        <p:nvSpPr>
          <p:cNvPr id="44" name="">
            <a:extLst xmlns:a="http://schemas.openxmlformats.org/drawingml/2006/main">
              <a:ext uri="{FF2B5EF4-FFF2-40B4-BE49-F238E27FC236}">
                <a16:creationId xmlns:a16="http://schemas.microsoft.com/office/drawing/2014/main" id="{41E65665-2ED0-4F73-AFFD-35DC7645ED2F}"/>
              </a:ext>
            </a:extLst>
          </p:cNvPr>
          <p:cNvSpPr>
            <a:spLocks xmlns:a="http://schemas.openxmlformats.org/drawingml/2006/main" noGrp="1"/>
          </p:cNvSpPr>
          <p:nvPr/>
        </p:nvSpPr>
        <p:spPr>
          <a:xfrm xmlns:a="http://schemas.openxmlformats.org/drawingml/2006/main">
            <a:off x="8096250" y="4953000"/>
            <a:ext cx="3600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5" name="">
            <a:extLst xmlns:a="http://schemas.openxmlformats.org/drawingml/2006/main">
              <a:ext uri="{FF2B5EF4-FFF2-40B4-BE49-F238E27FC236}">
                <a16:creationId xmlns:a16="http://schemas.microsoft.com/office/drawing/2014/main" id="{051777A0-63AF-4472-B281-0E2382DCBB1B}"/>
              </a:ext>
            </a:extLst>
          </p:cNvPr>
          <p:cNvSpPr>
            <a:spLocks xmlns:a="http://schemas.openxmlformats.org/drawingml/2006/main" noGrp="1"/>
          </p:cNvSpPr>
          <p:nvPr/>
        </p:nvSpPr>
        <p:spPr>
          <a:xfrm xmlns:a="http://schemas.openxmlformats.org/drawingml/2006/main">
            <a:off x="8096250" y="4953000"/>
            <a:ext cx="76200" cy="590550"/>
          </a:xfrm>
          <a:prstGeom xmlns:a="http://schemas.openxmlformats.org/drawingml/2006/main" prst="rect">
            <a:avLst/>
          </a:prstGeom>
          <a:solidFill xmlns:a="http://schemas.openxmlformats.org/drawingml/2006/main">
            <a:srgbClr val="8B8F91"/>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C9A682A-F7C5-4A67-A4CE-6F77884A869B}"/>
              </a:ext>
            </a:extLst>
          </p:cNvPr>
          <p:cNvSpPr>
            <a:spLocks xmlns:a="http://schemas.openxmlformats.org/drawingml/2006/main" noGrp="1"/>
          </p:cNvSpPr>
          <p:nvPr/>
        </p:nvSpPr>
        <p:spPr>
          <a:xfrm xmlns:a="http://schemas.openxmlformats.org/drawingml/2006/main">
            <a:off x="8343900" y="50673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8B8F91"/>
                </a:solidFill>
                <a:latin typeface="Arial"/>
                <a:ea typeface="Arial"/>
                <a:cs typeface="Arial"/>
              </a:defRPr>
            </a:pPr>
            <a:r>
              <a:rPr sz="1125" b="1" i="0">
                <a:solidFill>
                  <a:srgbClr val="8B8F91"/>
                </a:solidFill>
                <a:latin typeface="Arial"/>
                <a:ea typeface="Arial"/>
                <a:cs typeface="Arial"/>
              </a:rPr>
              <a:t>EXCLUDE</a:t>
            </a:r>
          </a:p>
        </p:txBody>
      </p:sp>
      <p:sp>
        <p:nvSpPr>
          <p:cNvPr id="47" name="">
            <a:extLst xmlns:a="http://schemas.openxmlformats.org/drawingml/2006/main">
              <a:ext uri="{FF2B5EF4-FFF2-40B4-BE49-F238E27FC236}">
                <a16:creationId xmlns:a16="http://schemas.microsoft.com/office/drawing/2014/main" id="{76BF4FC2-8F09-42BF-84D1-2F457194842C}"/>
              </a:ext>
            </a:extLst>
          </p:cNvPr>
          <p:cNvSpPr>
            <a:spLocks xmlns:a="http://schemas.openxmlformats.org/drawingml/2006/main" noGrp="1"/>
          </p:cNvSpPr>
          <p:nvPr/>
        </p:nvSpPr>
        <p:spPr>
          <a:xfrm xmlns:a="http://schemas.openxmlformats.org/drawingml/2006/main">
            <a:off x="9353550" y="50482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7202A"/>
                </a:solidFill>
                <a:latin typeface="Arial"/>
                <a:ea typeface="Arial"/>
                <a:cs typeface="Arial"/>
              </a:defRPr>
            </a:pPr>
            <a:r>
              <a:rPr sz="1125" b="0" i="0">
                <a:solidFill>
                  <a:srgbClr val="17202A"/>
                </a:solidFill>
                <a:latin typeface="Arial"/>
                <a:ea typeface="Arial"/>
                <a:cs typeface="Arial"/>
              </a:rPr>
              <a:t>no necessary condition survives</a:t>
            </a:r>
          </a:p>
        </p:txBody>
      </p:sp>
      <p:sp>
        <p:nvSpPr>
          <p:cNvPr id="48" name="">
            <a:extLst xmlns:a="http://schemas.openxmlformats.org/drawingml/2006/main">
              <a:ext uri="{FF2B5EF4-FFF2-40B4-BE49-F238E27FC236}">
                <a16:creationId xmlns:a16="http://schemas.microsoft.com/office/drawing/2014/main" id="{8EF5C9A5-88ED-4BC3-BE35-5817BF3D38E8}"/>
              </a:ext>
            </a:extLst>
          </p:cNvPr>
          <p:cNvSpPr>
            <a:spLocks xmlns:a="http://schemas.openxmlformats.org/drawingml/2006/main" noGrp="1"/>
          </p:cNvSpPr>
          <p:nvPr/>
        </p:nvSpPr>
        <p:spPr>
          <a:xfrm xmlns:a="http://schemas.openxmlformats.org/drawingml/2006/main">
            <a:off x="495300" y="4686300"/>
            <a:ext cx="7067550" cy="1123950"/>
          </a:xfrm>
          <a:prstGeom xmlns:a="http://schemas.openxmlformats.org/drawingml/2006/main" prst="rect">
            <a:avLst/>
          </a:prstGeom>
          <a:solidFill xmlns:a="http://schemas.openxmlformats.org/drawingml/2006/main">
            <a:srgbClr val="E8E1D5"/>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C2998F0-1685-4F15-B5F5-35A6D4F204C4}"/>
              </a:ext>
            </a:extLst>
          </p:cNvPr>
          <p:cNvSpPr>
            <a:spLocks xmlns:a="http://schemas.openxmlformats.org/drawingml/2006/main" noGrp="1"/>
          </p:cNvSpPr>
          <p:nvPr/>
        </p:nvSpPr>
        <p:spPr>
          <a:xfrm xmlns:a="http://schemas.openxmlformats.org/drawingml/2006/main">
            <a:off x="723900" y="48768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IMPORTANT</a:t>
            </a:r>
          </a:p>
        </p:txBody>
      </p:sp>
      <p:sp>
        <p:nvSpPr>
          <p:cNvPr id="50" name="">
            <a:extLst xmlns:a="http://schemas.openxmlformats.org/drawingml/2006/main">
              <a:ext uri="{FF2B5EF4-FFF2-40B4-BE49-F238E27FC236}">
                <a16:creationId xmlns:a16="http://schemas.microsoft.com/office/drawing/2014/main" id="{E26505C4-A39F-49B7-9864-6C14BAD70260}"/>
              </a:ext>
            </a:extLst>
          </p:cNvPr>
          <p:cNvSpPr>
            <a:spLocks xmlns:a="http://schemas.openxmlformats.org/drawingml/2006/main" noGrp="1"/>
          </p:cNvSpPr>
          <p:nvPr/>
        </p:nvSpPr>
        <p:spPr>
          <a:xfrm xmlns:a="http://schemas.openxmlformats.org/drawingml/2006/main">
            <a:off x="723900" y="5191125"/>
            <a:ext cx="6553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37"/>
          </a:bodyPr>
          <a:lstStyle xmlns:a="http://schemas.openxmlformats.org/drawingml/2006/main"/>
          <a:p xmlns:a="http://schemas.openxmlformats.org/drawingml/2006/main">
            <a:pPr algn="l">
              <a:lnSpc>
                <a:spcPct val="108000"/>
              </a:lnSpc>
              <a:buNone/>
              <a:defRPr sz="1500" b="1" i="0">
                <a:solidFill>
                  <a:srgbClr val="17202A"/>
                </a:solidFill>
                <a:latin typeface="Georgia"/>
                <a:ea typeface="Georgia"/>
                <a:cs typeface="Georgia"/>
              </a:defRPr>
            </a:pPr>
            <a:r>
              <a:rPr sz="1500" b="1" i="0">
                <a:solidFill>
                  <a:srgbClr val="17202A"/>
                </a:solidFill>
                <a:latin typeface="Georgia"/>
                <a:ea typeface="Georgia"/>
                <a:cs typeface="Georgia"/>
              </a:rPr>
              <a:t>Confidence ranks cases. Necessary conditions assign labels. A high score cannot bypass the evidence required for a high-value attribution.</a:t>
            </a:r>
          </a:p>
        </p:txBody>
      </p:sp>
      <p:sp>
        <p:nvSpPr>
          <p:cNvPr id="51" name="">
            <a:extLst xmlns:a="http://schemas.openxmlformats.org/drawingml/2006/main">
              <a:ext uri="{FF2B5EF4-FFF2-40B4-BE49-F238E27FC236}">
                <a16:creationId xmlns:a16="http://schemas.microsoft.com/office/drawing/2014/main" id="{767AA097-B3E7-4B72-AB11-A6E35E6EA97B}"/>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2" name="">
            <a:extLst xmlns:a="http://schemas.openxmlformats.org/drawingml/2006/main">
              <a:ext uri="{FF2B5EF4-FFF2-40B4-BE49-F238E27FC236}">
                <a16:creationId xmlns:a16="http://schemas.microsoft.com/office/drawing/2014/main" id="{7BCC1FA7-390C-44E3-BEF1-4D3E397F9CE1}"/>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53" name="">
            <a:extLst xmlns:a="http://schemas.openxmlformats.org/drawingml/2006/main">
              <a:ext uri="{FF2B5EF4-FFF2-40B4-BE49-F238E27FC236}">
                <a16:creationId xmlns:a16="http://schemas.microsoft.com/office/drawing/2014/main" id="{5CC78F82-24F6-43C7-B6F5-0D744048AC42}"/>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657855536"/>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E883259-B925-44B7-AF4C-7BB0D4E57323}"/>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PAPER ATTRIBUTION</a:t>
            </a:r>
          </a:p>
        </p:txBody>
      </p:sp>
      <p:sp>
        <p:nvSpPr>
          <p:cNvPr id="2" name="">
            <a:extLst xmlns:a="http://schemas.openxmlformats.org/drawingml/2006/main">
              <a:ext uri="{FF2B5EF4-FFF2-40B4-BE49-F238E27FC236}">
                <a16:creationId xmlns:a16="http://schemas.microsoft.com/office/drawing/2014/main" id="{28E39749-8F4A-47F2-A012-0B5CE573BFC1}"/>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21157F6-CABF-4423-BB81-4ACDAAB49F4E}"/>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Attribution is an evidence tree, not a flat score</a:t>
            </a:r>
          </a:p>
        </p:txBody>
      </p:sp>
      <p:sp>
        <p:nvSpPr>
          <p:cNvPr id="4" name="">
            <a:extLst xmlns:a="http://schemas.openxmlformats.org/drawingml/2006/main">
              <a:ext uri="{FF2B5EF4-FFF2-40B4-BE49-F238E27FC236}">
                <a16:creationId xmlns:a16="http://schemas.microsoft.com/office/drawing/2014/main" id="{907389A9-357A-4034-B689-6C219D9F8893}"/>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9DC74097-22D2-46E6-8860-BD294977E986}"/>
              </a:ext>
            </a:extLst>
          </p:cNvPr>
          <p:cNvSpPr>
            <a:spLocks xmlns:a="http://schemas.openxmlformats.org/drawingml/2006/main" noGrp="1"/>
          </p:cNvSpPr>
          <p:nvPr/>
        </p:nvSpPr>
        <p:spPr>
          <a:xfrm xmlns:a="http://schemas.openxmlformats.org/drawingml/2006/main">
            <a:off x="2552700" y="2057400"/>
            <a:ext cx="0" cy="3162300"/>
          </a:xfrm>
          <a:prstGeom xmlns:a="http://schemas.openxmlformats.org/drawingml/2006/main" prst="line">
            <a:avLst/>
          </a:prstGeom>
          <a:noFill xmlns:a="http://schemas.openxmlformats.org/drawingml/2006/main"/>
          <a:ln xmlns:a="http://schemas.openxmlformats.org/drawingml/2006/main" w="19050">
            <a:solidFill>
              <a:srgbClr val="BEB8AD"/>
            </a:solidFill>
            <a:prstDash val="solid"/>
          </a:ln>
        </p:spPr>
      </p:sp>
      <p:sp>
        <p:nvSpPr>
          <p:cNvPr id="6" name="">
            <a:extLst xmlns:a="http://schemas.openxmlformats.org/drawingml/2006/main">
              <a:ext uri="{FF2B5EF4-FFF2-40B4-BE49-F238E27FC236}">
                <a16:creationId xmlns:a16="http://schemas.microsoft.com/office/drawing/2014/main" id="{CACF3D7C-EF5D-48C9-9E83-69A83E86CD27}"/>
              </a:ext>
            </a:extLst>
          </p:cNvPr>
          <p:cNvSpPr>
            <a:spLocks xmlns:a="http://schemas.openxmlformats.org/drawingml/2006/main" noGrp="1"/>
          </p:cNvSpPr>
          <p:nvPr/>
        </p:nvSpPr>
        <p:spPr>
          <a:xfrm xmlns:a="http://schemas.openxmlformats.org/drawingml/2006/main">
            <a:off x="2552700" y="2114550"/>
            <a:ext cx="381000" cy="0"/>
          </a:xfrm>
          <a:prstGeom xmlns:a="http://schemas.openxmlformats.org/drawingml/2006/main" prst="line">
            <a:avLst/>
          </a:prstGeom>
          <a:noFill xmlns:a="http://schemas.openxmlformats.org/drawingml/2006/main"/>
          <a:ln xmlns:a="http://schemas.openxmlformats.org/drawingml/2006/main" w="19050">
            <a:solidFill>
              <a:srgbClr val="B8663B"/>
            </a:solidFill>
            <a:prstDash val="solid"/>
          </a:ln>
        </p:spPr>
      </p:sp>
      <p:sp>
        <p:nvSpPr>
          <p:cNvPr id="7" name="">
            <a:extLst xmlns:a="http://schemas.openxmlformats.org/drawingml/2006/main">
              <a:ext uri="{FF2B5EF4-FFF2-40B4-BE49-F238E27FC236}">
                <a16:creationId xmlns:a16="http://schemas.microsoft.com/office/drawing/2014/main" id="{6E3EEF94-BE1B-4DB5-8FF3-E59CA7D5EDB4}"/>
              </a:ext>
            </a:extLst>
          </p:cNvPr>
          <p:cNvSpPr>
            <a:spLocks xmlns:a="http://schemas.openxmlformats.org/drawingml/2006/main" noGrp="1"/>
          </p:cNvSpPr>
          <p:nvPr/>
        </p:nvSpPr>
        <p:spPr>
          <a:xfrm xmlns:a="http://schemas.openxmlformats.org/drawingml/2006/main">
            <a:off x="2476500" y="2038350"/>
            <a:ext cx="152400" cy="152400"/>
          </a:xfrm>
          <a:prstGeom xmlns:a="http://schemas.openxmlformats.org/drawingml/2006/main" prst="ellipse">
            <a:avLst/>
          </a:prstGeom>
          <a:solidFill xmlns:a="http://schemas.openxmlformats.org/drawingml/2006/main">
            <a:srgbClr val="B866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D97731-2FBB-4F86-84C7-83C53FBF0CDC}"/>
              </a:ext>
            </a:extLst>
          </p:cNvPr>
          <p:cNvSpPr>
            <a:spLocks xmlns:a="http://schemas.openxmlformats.org/drawingml/2006/main" noGrp="1"/>
          </p:cNvSpPr>
          <p:nvPr/>
        </p:nvSpPr>
        <p:spPr>
          <a:xfrm xmlns:a="http://schemas.openxmlformats.org/drawingml/2006/main">
            <a:off x="3086100" y="19716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Author → AC member</a:t>
            </a:r>
          </a:p>
        </p:txBody>
      </p:sp>
      <p:sp>
        <p:nvSpPr>
          <p:cNvPr id="9" name="">
            <a:extLst xmlns:a="http://schemas.openxmlformats.org/drawingml/2006/main">
              <a:ext uri="{FF2B5EF4-FFF2-40B4-BE49-F238E27FC236}">
                <a16:creationId xmlns:a16="http://schemas.microsoft.com/office/drawing/2014/main" id="{DC5524A4-DC73-42EC-BA69-FCBD36D79139}"/>
              </a:ext>
            </a:extLst>
          </p:cNvPr>
          <p:cNvSpPr>
            <a:spLocks xmlns:a="http://schemas.openxmlformats.org/drawingml/2006/main" noGrp="1"/>
          </p:cNvSpPr>
          <p:nvPr/>
        </p:nvSpPr>
        <p:spPr>
          <a:xfrm xmlns:a="http://schemas.openxmlformats.org/drawingml/2006/main">
            <a:off x="6724650" y="19716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B8663B"/>
                </a:solidFill>
                <a:latin typeface="Arial"/>
                <a:ea typeface="Arial"/>
                <a:cs typeface="Arial"/>
              </a:defRPr>
            </a:pPr>
            <a:r>
              <a:rPr sz="1350" b="1" i="0">
                <a:solidFill>
                  <a:srgbClr val="B8663B"/>
                </a:solidFill>
                <a:latin typeface="Arial"/>
                <a:ea typeface="Arial"/>
                <a:cs typeface="Arial"/>
              </a:rPr>
              <a:t>+0.25</a:t>
            </a:r>
          </a:p>
        </p:txBody>
      </p:sp>
      <p:sp>
        <p:nvSpPr>
          <p:cNvPr id="10" name="">
            <a:extLst xmlns:a="http://schemas.openxmlformats.org/drawingml/2006/main">
              <a:ext uri="{FF2B5EF4-FFF2-40B4-BE49-F238E27FC236}">
                <a16:creationId xmlns:a16="http://schemas.microsoft.com/office/drawing/2014/main" id="{D98CD337-4CC7-4680-B1CE-58B982082E38}"/>
              </a:ext>
            </a:extLst>
          </p:cNvPr>
          <p:cNvSpPr>
            <a:spLocks xmlns:a="http://schemas.openxmlformats.org/drawingml/2006/main" noGrp="1"/>
          </p:cNvSpPr>
          <p:nvPr/>
        </p:nvSpPr>
        <p:spPr>
          <a:xfrm xmlns:a="http://schemas.openxmlformats.org/drawingml/2006/main">
            <a:off x="2552700" y="2686050"/>
            <a:ext cx="381000" cy="0"/>
          </a:xfrm>
          <a:prstGeom xmlns:a="http://schemas.openxmlformats.org/drawingml/2006/main" prst="line">
            <a:avLst/>
          </a:prstGeom>
          <a:noFill xmlns:a="http://schemas.openxmlformats.org/drawingml/2006/main"/>
          <a:ln xmlns:a="http://schemas.openxmlformats.org/drawingml/2006/main" w="19050">
            <a:solidFill>
              <a:srgbClr val="587F96"/>
            </a:solidFill>
            <a:prstDash val="solid"/>
          </a:ln>
        </p:spPr>
      </p:sp>
      <p:sp>
        <p:nvSpPr>
          <p:cNvPr id="11" name="">
            <a:extLst xmlns:a="http://schemas.openxmlformats.org/drawingml/2006/main">
              <a:ext uri="{FF2B5EF4-FFF2-40B4-BE49-F238E27FC236}">
                <a16:creationId xmlns:a16="http://schemas.microsoft.com/office/drawing/2014/main" id="{930C93FC-C2A3-448C-81AB-253D4671B738}"/>
              </a:ext>
            </a:extLst>
          </p:cNvPr>
          <p:cNvSpPr>
            <a:spLocks xmlns:a="http://schemas.openxmlformats.org/drawingml/2006/main" noGrp="1"/>
          </p:cNvSpPr>
          <p:nvPr/>
        </p:nvSpPr>
        <p:spPr>
          <a:xfrm xmlns:a="http://schemas.openxmlformats.org/drawingml/2006/main">
            <a:off x="2476500" y="2609850"/>
            <a:ext cx="152400" cy="15240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0A03B80-D4BF-4EBD-A5FA-F324F4536EE8}"/>
              </a:ext>
            </a:extLst>
          </p:cNvPr>
          <p:cNvSpPr>
            <a:spLocks xmlns:a="http://schemas.openxmlformats.org/drawingml/2006/main" noGrp="1"/>
          </p:cNvSpPr>
          <p:nvPr/>
        </p:nvSpPr>
        <p:spPr>
          <a:xfrm xmlns:a="http://schemas.openxmlformats.org/drawingml/2006/main">
            <a:off x="3086100" y="25431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Affiliation → AC partner</a:t>
            </a:r>
          </a:p>
        </p:txBody>
      </p:sp>
      <p:sp>
        <p:nvSpPr>
          <p:cNvPr id="13" name="">
            <a:extLst xmlns:a="http://schemas.openxmlformats.org/drawingml/2006/main">
              <a:ext uri="{FF2B5EF4-FFF2-40B4-BE49-F238E27FC236}">
                <a16:creationId xmlns:a16="http://schemas.microsoft.com/office/drawing/2014/main" id="{C415225E-4200-49A5-91DE-50368C709934}"/>
              </a:ext>
            </a:extLst>
          </p:cNvPr>
          <p:cNvSpPr>
            <a:spLocks xmlns:a="http://schemas.openxmlformats.org/drawingml/2006/main" noGrp="1"/>
          </p:cNvSpPr>
          <p:nvPr/>
        </p:nvSpPr>
        <p:spPr>
          <a:xfrm xmlns:a="http://schemas.openxmlformats.org/drawingml/2006/main">
            <a:off x="6724650" y="25431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587F96"/>
                </a:solidFill>
                <a:latin typeface="Arial"/>
                <a:ea typeface="Arial"/>
                <a:cs typeface="Arial"/>
              </a:defRPr>
            </a:pPr>
            <a:r>
              <a:rPr sz="1350" b="1" i="0">
                <a:solidFill>
                  <a:srgbClr val="587F96"/>
                </a:solidFill>
                <a:latin typeface="Arial"/>
                <a:ea typeface="Arial"/>
                <a:cs typeface="Arial"/>
              </a:rPr>
              <a:t>+0.30</a:t>
            </a:r>
          </a:p>
        </p:txBody>
      </p:sp>
      <p:sp>
        <p:nvSpPr>
          <p:cNvPr id="14" name="">
            <a:extLst xmlns:a="http://schemas.openxmlformats.org/drawingml/2006/main">
              <a:ext uri="{FF2B5EF4-FFF2-40B4-BE49-F238E27FC236}">
                <a16:creationId xmlns:a16="http://schemas.microsoft.com/office/drawing/2014/main" id="{ECCE9218-E3D8-4739-9991-21913575C22B}"/>
              </a:ext>
            </a:extLst>
          </p:cNvPr>
          <p:cNvSpPr>
            <a:spLocks xmlns:a="http://schemas.openxmlformats.org/drawingml/2006/main" noGrp="1"/>
          </p:cNvSpPr>
          <p:nvPr/>
        </p:nvSpPr>
        <p:spPr>
          <a:xfrm xmlns:a="http://schemas.openxmlformats.org/drawingml/2006/main">
            <a:off x="2552700" y="3257550"/>
            <a:ext cx="381000" cy="0"/>
          </a:xfrm>
          <a:prstGeom xmlns:a="http://schemas.openxmlformats.org/drawingml/2006/main" prst="line">
            <a:avLst/>
          </a:prstGeom>
          <a:noFill xmlns:a="http://schemas.openxmlformats.org/drawingml/2006/main"/>
          <a:ln xmlns:a="http://schemas.openxmlformats.org/drawingml/2006/main" w="19050">
            <a:solidFill>
              <a:srgbClr val="557A63"/>
            </a:solidFill>
            <a:prstDash val="solid"/>
          </a:ln>
        </p:spPr>
      </p:sp>
      <p:sp>
        <p:nvSpPr>
          <p:cNvPr id="15" name="">
            <a:extLst xmlns:a="http://schemas.openxmlformats.org/drawingml/2006/main">
              <a:ext uri="{FF2B5EF4-FFF2-40B4-BE49-F238E27FC236}">
                <a16:creationId xmlns:a16="http://schemas.microsoft.com/office/drawing/2014/main" id="{49B25B43-344F-4B56-9D11-1FCA2084163B}"/>
              </a:ext>
            </a:extLst>
          </p:cNvPr>
          <p:cNvSpPr>
            <a:spLocks xmlns:a="http://schemas.openxmlformats.org/drawingml/2006/main" noGrp="1"/>
          </p:cNvSpPr>
          <p:nvPr/>
        </p:nvSpPr>
        <p:spPr>
          <a:xfrm xmlns:a="http://schemas.openxmlformats.org/drawingml/2006/main">
            <a:off x="2476500" y="3181350"/>
            <a:ext cx="152400" cy="152400"/>
          </a:xfrm>
          <a:prstGeom xmlns:a="http://schemas.openxmlformats.org/drawingml/2006/main" prst="ellipse">
            <a:avLst/>
          </a:prstGeom>
          <a:solidFill xmlns:a="http://schemas.openxmlformats.org/drawingml/2006/main">
            <a:srgbClr val="557A6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290135-6CED-4478-BE25-7192A324A0D6}"/>
              </a:ext>
            </a:extLst>
          </p:cNvPr>
          <p:cNvSpPr>
            <a:spLocks xmlns:a="http://schemas.openxmlformats.org/drawingml/2006/main" noGrp="1"/>
          </p:cNvSpPr>
          <p:nvPr/>
        </p:nvSpPr>
        <p:spPr>
          <a:xfrm xmlns:a="http://schemas.openxmlformats.org/drawingml/2006/main">
            <a:off x="3086100" y="31146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Funding → AC program</a:t>
            </a:r>
          </a:p>
        </p:txBody>
      </p:sp>
      <p:sp>
        <p:nvSpPr>
          <p:cNvPr id="17" name="">
            <a:extLst xmlns:a="http://schemas.openxmlformats.org/drawingml/2006/main">
              <a:ext uri="{FF2B5EF4-FFF2-40B4-BE49-F238E27FC236}">
                <a16:creationId xmlns:a16="http://schemas.microsoft.com/office/drawing/2014/main" id="{44D8C7C3-EA7E-4357-A02E-081860BFC0EB}"/>
              </a:ext>
            </a:extLst>
          </p:cNvPr>
          <p:cNvSpPr>
            <a:spLocks xmlns:a="http://schemas.openxmlformats.org/drawingml/2006/main" noGrp="1"/>
          </p:cNvSpPr>
          <p:nvPr/>
        </p:nvSpPr>
        <p:spPr>
          <a:xfrm xmlns:a="http://schemas.openxmlformats.org/drawingml/2006/main">
            <a:off x="6724650" y="31146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557A63"/>
                </a:solidFill>
                <a:latin typeface="Arial"/>
                <a:ea typeface="Arial"/>
                <a:cs typeface="Arial"/>
              </a:defRPr>
            </a:pPr>
            <a:r>
              <a:rPr sz="1350" b="1" i="0">
                <a:solidFill>
                  <a:srgbClr val="557A63"/>
                </a:solidFill>
                <a:latin typeface="Arial"/>
                <a:ea typeface="Arial"/>
                <a:cs typeface="Arial"/>
              </a:rPr>
              <a:t>+0.35</a:t>
            </a:r>
          </a:p>
        </p:txBody>
      </p:sp>
      <p:sp>
        <p:nvSpPr>
          <p:cNvPr id="18" name="">
            <a:extLst xmlns:a="http://schemas.openxmlformats.org/drawingml/2006/main">
              <a:ext uri="{FF2B5EF4-FFF2-40B4-BE49-F238E27FC236}">
                <a16:creationId xmlns:a16="http://schemas.microsoft.com/office/drawing/2014/main" id="{4BA3B2E1-3B4C-4E81-A632-C0A14B6E3E3A}"/>
              </a:ext>
            </a:extLst>
          </p:cNvPr>
          <p:cNvSpPr>
            <a:spLocks xmlns:a="http://schemas.openxmlformats.org/drawingml/2006/main" noGrp="1"/>
          </p:cNvSpPr>
          <p:nvPr/>
        </p:nvSpPr>
        <p:spPr>
          <a:xfrm xmlns:a="http://schemas.openxmlformats.org/drawingml/2006/main">
            <a:off x="2552700" y="3829050"/>
            <a:ext cx="381000" cy="0"/>
          </a:xfrm>
          <a:prstGeom xmlns:a="http://schemas.openxmlformats.org/drawingml/2006/main" prst="line">
            <a:avLst/>
          </a:prstGeom>
          <a:noFill xmlns:a="http://schemas.openxmlformats.org/drawingml/2006/main"/>
          <a:ln xmlns:a="http://schemas.openxmlformats.org/drawingml/2006/main" w="19050">
            <a:solidFill>
              <a:srgbClr val="587F96"/>
            </a:solidFill>
            <a:prstDash val="solid"/>
          </a:ln>
        </p:spPr>
      </p:sp>
      <p:sp>
        <p:nvSpPr>
          <p:cNvPr id="19" name="">
            <a:extLst xmlns:a="http://schemas.openxmlformats.org/drawingml/2006/main">
              <a:ext uri="{FF2B5EF4-FFF2-40B4-BE49-F238E27FC236}">
                <a16:creationId xmlns:a16="http://schemas.microsoft.com/office/drawing/2014/main" id="{5CD62135-7E8A-4D70-AC58-BB84E14E0F86}"/>
              </a:ext>
            </a:extLst>
          </p:cNvPr>
          <p:cNvSpPr>
            <a:spLocks xmlns:a="http://schemas.openxmlformats.org/drawingml/2006/main" noGrp="1"/>
          </p:cNvSpPr>
          <p:nvPr/>
        </p:nvSpPr>
        <p:spPr>
          <a:xfrm xmlns:a="http://schemas.openxmlformats.org/drawingml/2006/main">
            <a:off x="2476500" y="3752850"/>
            <a:ext cx="152400" cy="15240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F7E3AD-C663-4A59-BABF-0C224537524A}"/>
              </a:ext>
            </a:extLst>
          </p:cNvPr>
          <p:cNvSpPr>
            <a:spLocks xmlns:a="http://schemas.openxmlformats.org/drawingml/2006/main" noGrp="1"/>
          </p:cNvSpPr>
          <p:nvPr/>
        </p:nvSpPr>
        <p:spPr>
          <a:xfrm xmlns:a="http://schemas.openxmlformats.org/drawingml/2006/main">
            <a:off x="3086100" y="36861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Coauthor → AC author</a:t>
            </a:r>
          </a:p>
        </p:txBody>
      </p:sp>
      <p:sp>
        <p:nvSpPr>
          <p:cNvPr id="21" name="">
            <a:extLst xmlns:a="http://schemas.openxmlformats.org/drawingml/2006/main">
              <a:ext uri="{FF2B5EF4-FFF2-40B4-BE49-F238E27FC236}">
                <a16:creationId xmlns:a16="http://schemas.microsoft.com/office/drawing/2014/main" id="{4BDFAD53-0CC5-4D8B-BA53-AA706979599E}"/>
              </a:ext>
            </a:extLst>
          </p:cNvPr>
          <p:cNvSpPr>
            <a:spLocks xmlns:a="http://schemas.openxmlformats.org/drawingml/2006/main" noGrp="1"/>
          </p:cNvSpPr>
          <p:nvPr/>
        </p:nvSpPr>
        <p:spPr>
          <a:xfrm xmlns:a="http://schemas.openxmlformats.org/drawingml/2006/main">
            <a:off x="6724650" y="36861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587F96"/>
                </a:solidFill>
                <a:latin typeface="Arial"/>
                <a:ea typeface="Arial"/>
                <a:cs typeface="Arial"/>
              </a:defRPr>
            </a:pPr>
            <a:r>
              <a:rPr sz="1350" b="1" i="0">
                <a:solidFill>
                  <a:srgbClr val="587F96"/>
                </a:solidFill>
                <a:latin typeface="Arial"/>
                <a:ea typeface="Arial"/>
                <a:cs typeface="Arial"/>
              </a:rPr>
              <a:t>+0.10</a:t>
            </a:r>
          </a:p>
        </p:txBody>
      </p:sp>
      <p:sp>
        <p:nvSpPr>
          <p:cNvPr id="22" name="">
            <a:extLst xmlns:a="http://schemas.openxmlformats.org/drawingml/2006/main">
              <a:ext uri="{FF2B5EF4-FFF2-40B4-BE49-F238E27FC236}">
                <a16:creationId xmlns:a16="http://schemas.microsoft.com/office/drawing/2014/main" id="{C991F427-90CB-4D73-BCBF-D8747D679E7B}"/>
              </a:ext>
            </a:extLst>
          </p:cNvPr>
          <p:cNvSpPr>
            <a:spLocks xmlns:a="http://schemas.openxmlformats.org/drawingml/2006/main" noGrp="1"/>
          </p:cNvSpPr>
          <p:nvPr/>
        </p:nvSpPr>
        <p:spPr>
          <a:xfrm xmlns:a="http://schemas.openxmlformats.org/drawingml/2006/main">
            <a:off x="2552700" y="4400550"/>
            <a:ext cx="381000" cy="0"/>
          </a:xfrm>
          <a:prstGeom xmlns:a="http://schemas.openxmlformats.org/drawingml/2006/main" prst="line">
            <a:avLst/>
          </a:prstGeom>
          <a:noFill xmlns:a="http://schemas.openxmlformats.org/drawingml/2006/main"/>
          <a:ln xmlns:a="http://schemas.openxmlformats.org/drawingml/2006/main" w="19050">
            <a:solidFill>
              <a:srgbClr val="587F96"/>
            </a:solidFill>
            <a:prstDash val="solid"/>
          </a:ln>
        </p:spPr>
      </p:sp>
      <p:sp>
        <p:nvSpPr>
          <p:cNvPr id="23" name="">
            <a:extLst xmlns:a="http://schemas.openxmlformats.org/drawingml/2006/main">
              <a:ext uri="{FF2B5EF4-FFF2-40B4-BE49-F238E27FC236}">
                <a16:creationId xmlns:a16="http://schemas.microsoft.com/office/drawing/2014/main" id="{CD930234-ED77-4ED8-9F16-8EC8B51B3687}"/>
              </a:ext>
            </a:extLst>
          </p:cNvPr>
          <p:cNvSpPr>
            <a:spLocks xmlns:a="http://schemas.openxmlformats.org/drawingml/2006/main" noGrp="1"/>
          </p:cNvSpPr>
          <p:nvPr/>
        </p:nvSpPr>
        <p:spPr>
          <a:xfrm xmlns:a="http://schemas.openxmlformats.org/drawingml/2006/main">
            <a:off x="2476500" y="4324350"/>
            <a:ext cx="152400" cy="15240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19EC31-A69D-46D9-BE6D-179C20623C33}"/>
              </a:ext>
            </a:extLst>
          </p:cNvPr>
          <p:cNvSpPr>
            <a:spLocks xmlns:a="http://schemas.openxmlformats.org/drawingml/2006/main" noGrp="1"/>
          </p:cNvSpPr>
          <p:nvPr/>
        </p:nvSpPr>
        <p:spPr>
          <a:xfrm xmlns:a="http://schemas.openxmlformats.org/drawingml/2006/main">
            <a:off x="3086100" y="42576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Citation → AC core paper</a:t>
            </a:r>
          </a:p>
        </p:txBody>
      </p:sp>
      <p:sp>
        <p:nvSpPr>
          <p:cNvPr id="25" name="">
            <a:extLst xmlns:a="http://schemas.openxmlformats.org/drawingml/2006/main">
              <a:ext uri="{FF2B5EF4-FFF2-40B4-BE49-F238E27FC236}">
                <a16:creationId xmlns:a16="http://schemas.microsoft.com/office/drawing/2014/main" id="{175AFA65-AF6C-4AB3-9A0A-41DA3063BBEB}"/>
              </a:ext>
            </a:extLst>
          </p:cNvPr>
          <p:cNvSpPr>
            <a:spLocks xmlns:a="http://schemas.openxmlformats.org/drawingml/2006/main" noGrp="1"/>
          </p:cNvSpPr>
          <p:nvPr/>
        </p:nvSpPr>
        <p:spPr>
          <a:xfrm xmlns:a="http://schemas.openxmlformats.org/drawingml/2006/main">
            <a:off x="6724650" y="42576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587F96"/>
                </a:solidFill>
                <a:latin typeface="Arial"/>
                <a:ea typeface="Arial"/>
                <a:cs typeface="Arial"/>
              </a:defRPr>
            </a:pPr>
            <a:r>
              <a:rPr sz="1350" b="1" i="0">
                <a:solidFill>
                  <a:srgbClr val="587F96"/>
                </a:solidFill>
                <a:latin typeface="Arial"/>
                <a:ea typeface="Arial"/>
                <a:cs typeface="Arial"/>
              </a:rPr>
              <a:t>+0.08</a:t>
            </a:r>
          </a:p>
        </p:txBody>
      </p:sp>
      <p:sp>
        <p:nvSpPr>
          <p:cNvPr id="26" name="">
            <a:extLst xmlns:a="http://schemas.openxmlformats.org/drawingml/2006/main">
              <a:ext uri="{FF2B5EF4-FFF2-40B4-BE49-F238E27FC236}">
                <a16:creationId xmlns:a16="http://schemas.microsoft.com/office/drawing/2014/main" id="{3640DD30-C982-4F4B-BF7E-2514CC322977}"/>
              </a:ext>
            </a:extLst>
          </p:cNvPr>
          <p:cNvSpPr>
            <a:spLocks xmlns:a="http://schemas.openxmlformats.org/drawingml/2006/main" noGrp="1"/>
          </p:cNvSpPr>
          <p:nvPr/>
        </p:nvSpPr>
        <p:spPr>
          <a:xfrm xmlns:a="http://schemas.openxmlformats.org/drawingml/2006/main">
            <a:off x="2552700" y="4972050"/>
            <a:ext cx="381000" cy="0"/>
          </a:xfrm>
          <a:prstGeom xmlns:a="http://schemas.openxmlformats.org/drawingml/2006/main" prst="line">
            <a:avLst/>
          </a:prstGeom>
          <a:noFill xmlns:a="http://schemas.openxmlformats.org/drawingml/2006/main"/>
          <a:ln xmlns:a="http://schemas.openxmlformats.org/drawingml/2006/main" w="19050">
            <a:solidFill>
              <a:srgbClr val="557A63"/>
            </a:solidFill>
            <a:prstDash val="solid"/>
          </a:ln>
        </p:spPr>
      </p:sp>
      <p:sp>
        <p:nvSpPr>
          <p:cNvPr id="27" name="">
            <a:extLst xmlns:a="http://schemas.openxmlformats.org/drawingml/2006/main">
              <a:ext uri="{FF2B5EF4-FFF2-40B4-BE49-F238E27FC236}">
                <a16:creationId xmlns:a16="http://schemas.microsoft.com/office/drawing/2014/main" id="{376BD1A1-0BB4-407A-A1DF-7FB00E6C9CBE}"/>
              </a:ext>
            </a:extLst>
          </p:cNvPr>
          <p:cNvSpPr>
            <a:spLocks xmlns:a="http://schemas.openxmlformats.org/drawingml/2006/main" noGrp="1"/>
          </p:cNvSpPr>
          <p:nvPr/>
        </p:nvSpPr>
        <p:spPr>
          <a:xfrm xmlns:a="http://schemas.openxmlformats.org/drawingml/2006/main">
            <a:off x="2476500" y="4895850"/>
            <a:ext cx="152400" cy="152400"/>
          </a:xfrm>
          <a:prstGeom xmlns:a="http://schemas.openxmlformats.org/drawingml/2006/main" prst="ellipse">
            <a:avLst/>
          </a:prstGeom>
          <a:solidFill xmlns:a="http://schemas.openxmlformats.org/drawingml/2006/main">
            <a:srgbClr val="557A6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CD9B8CC-0DC5-4302-8B1C-27D7B2F84BCB}"/>
              </a:ext>
            </a:extLst>
          </p:cNvPr>
          <p:cNvSpPr>
            <a:spLocks xmlns:a="http://schemas.openxmlformats.org/drawingml/2006/main" noGrp="1"/>
          </p:cNvSpPr>
          <p:nvPr/>
        </p:nvSpPr>
        <p:spPr>
          <a:xfrm xmlns:a="http://schemas.openxmlformats.org/drawingml/2006/main">
            <a:off x="3086100" y="4829175"/>
            <a:ext cx="3676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Paper → Methods → SDL workflow</a:t>
            </a:r>
          </a:p>
        </p:txBody>
      </p:sp>
      <p:sp>
        <p:nvSpPr>
          <p:cNvPr id="29" name="">
            <a:extLst xmlns:a="http://schemas.openxmlformats.org/drawingml/2006/main">
              <a:ext uri="{FF2B5EF4-FFF2-40B4-BE49-F238E27FC236}">
                <a16:creationId xmlns:a16="http://schemas.microsoft.com/office/drawing/2014/main" id="{EEC1F300-CCB6-47FA-80E1-523E61A888AB}"/>
              </a:ext>
            </a:extLst>
          </p:cNvPr>
          <p:cNvSpPr>
            <a:spLocks xmlns:a="http://schemas.openxmlformats.org/drawingml/2006/main" noGrp="1"/>
          </p:cNvSpPr>
          <p:nvPr/>
        </p:nvSpPr>
        <p:spPr>
          <a:xfrm xmlns:a="http://schemas.openxmlformats.org/drawingml/2006/main">
            <a:off x="6724650" y="4829175"/>
            <a:ext cx="102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557A63"/>
                </a:solidFill>
                <a:latin typeface="Arial"/>
                <a:ea typeface="Arial"/>
                <a:cs typeface="Arial"/>
              </a:defRPr>
            </a:pPr>
            <a:r>
              <a:rPr sz="1350" b="1" i="0">
                <a:solidFill>
                  <a:srgbClr val="557A63"/>
                </a:solidFill>
                <a:latin typeface="Arial"/>
                <a:ea typeface="Arial"/>
                <a:cs typeface="Arial"/>
              </a:rPr>
              <a:t>+0.30 core</a:t>
            </a:r>
          </a:p>
        </p:txBody>
      </p:sp>
      <p:sp>
        <p:nvSpPr>
          <p:cNvPr id="30" name="">
            <a:extLst xmlns:a="http://schemas.openxmlformats.org/drawingml/2006/main">
              <a:ext uri="{FF2B5EF4-FFF2-40B4-BE49-F238E27FC236}">
                <a16:creationId xmlns:a16="http://schemas.microsoft.com/office/drawing/2014/main" id="{28819A26-D836-466E-8A62-4B4E114F827B}"/>
              </a:ext>
            </a:extLst>
          </p:cNvPr>
          <p:cNvSpPr>
            <a:spLocks xmlns:a="http://schemas.openxmlformats.org/drawingml/2006/main" noGrp="1"/>
          </p:cNvSpPr>
          <p:nvPr/>
        </p:nvSpPr>
        <p:spPr>
          <a:xfrm xmlns:a="http://schemas.openxmlformats.org/drawingml/2006/main">
            <a:off x="8096250" y="1943100"/>
            <a:ext cx="3600450" cy="9525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89883DD-4D42-4EB4-BEA1-39D649CC47C6}"/>
              </a:ext>
            </a:extLst>
          </p:cNvPr>
          <p:cNvSpPr>
            <a:spLocks xmlns:a="http://schemas.openxmlformats.org/drawingml/2006/main" noGrp="1"/>
          </p:cNvSpPr>
          <p:nvPr/>
        </p:nvSpPr>
        <p:spPr>
          <a:xfrm xmlns:a="http://schemas.openxmlformats.org/drawingml/2006/main">
            <a:off x="8305800" y="2085975"/>
            <a:ext cx="3181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75" b="1" i="0">
                <a:solidFill>
                  <a:srgbClr val="FFFFFF"/>
                </a:solidFill>
                <a:latin typeface="Arial"/>
                <a:ea typeface="Arial"/>
                <a:cs typeface="Arial"/>
              </a:defRPr>
            </a:pPr>
            <a:r>
              <a:rPr sz="1275" b="1" i="0">
                <a:solidFill>
                  <a:srgbClr val="FFFFFF"/>
                </a:solidFill>
                <a:latin typeface="Arial"/>
                <a:ea typeface="Arial"/>
                <a:cs typeface="Arial"/>
              </a:rPr>
              <a:t>S(AET) = clamp(Σ positive path weights</a:t>
            </a:r>
          </a:p>
          <a:p xmlns:a="http://schemas.openxmlformats.org/drawingml/2006/main">
            <a:pPr algn="l">
              <a:lnSpc>
                <a:spcPct val="108000"/>
              </a:lnSpc>
              <a:buNone/>
              <a:defRPr sz="1275" b="1" i="0">
                <a:solidFill>
                  <a:srgbClr val="FFFFFF"/>
                </a:solidFill>
                <a:latin typeface="Arial"/>
                <a:ea typeface="Arial"/>
                <a:cs typeface="Arial"/>
              </a:defRPr>
            </a:pPr>
            <a:r>
              <a:rPr sz="1275" b="1" i="0">
                <a:solidFill>
                  <a:srgbClr val="FFFFFF"/>
                </a:solidFill>
                <a:latin typeface="Arial"/>
                <a:ea typeface="Arial"/>
                <a:cs typeface="Arial"/>
              </a:rPr>
              <a:t>− Σ negative path weights, 0, 1)</a:t>
            </a:r>
          </a:p>
        </p:txBody>
      </p:sp>
      <p:sp>
        <p:nvSpPr>
          <p:cNvPr id="32" name="">
            <a:extLst xmlns:a="http://schemas.openxmlformats.org/drawingml/2006/main">
              <a:ext uri="{FF2B5EF4-FFF2-40B4-BE49-F238E27FC236}">
                <a16:creationId xmlns:a16="http://schemas.microsoft.com/office/drawing/2014/main" id="{9C1C2938-CC24-4577-9055-D3F0321152CF}"/>
              </a:ext>
            </a:extLst>
          </p:cNvPr>
          <p:cNvSpPr>
            <a:spLocks xmlns:a="http://schemas.openxmlformats.org/drawingml/2006/main" noGrp="1"/>
          </p:cNvSpPr>
          <p:nvPr/>
        </p:nvSpPr>
        <p:spPr>
          <a:xfrm xmlns:a="http://schemas.openxmlformats.org/drawingml/2006/main">
            <a:off x="8096250" y="3276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EACH PATH RETAINS</a:t>
            </a:r>
          </a:p>
        </p:txBody>
      </p:sp>
      <p:sp>
        <p:nvSpPr>
          <p:cNvPr id="33" name="">
            <a:extLst xmlns:a="http://schemas.openxmlformats.org/drawingml/2006/main">
              <a:ext uri="{FF2B5EF4-FFF2-40B4-BE49-F238E27FC236}">
                <a16:creationId xmlns:a16="http://schemas.microsoft.com/office/drawing/2014/main" id="{E456F9F6-0182-4A12-B21E-018B31E29899}"/>
              </a:ext>
            </a:extLst>
          </p:cNvPr>
          <p:cNvSpPr>
            <a:spLocks xmlns:a="http://schemas.openxmlformats.org/drawingml/2006/main" noGrp="1"/>
          </p:cNvSpPr>
          <p:nvPr/>
        </p:nvSpPr>
        <p:spPr>
          <a:xfrm xmlns:a="http://schemas.openxmlformats.org/drawingml/2006/main">
            <a:off x="8115300" y="3648075"/>
            <a:ext cx="95250" cy="9525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6DC6001-3326-419A-AF83-B479B42DE3C3}"/>
              </a:ext>
            </a:extLst>
          </p:cNvPr>
          <p:cNvSpPr>
            <a:spLocks xmlns:a="http://schemas.openxmlformats.org/drawingml/2006/main" noGrp="1"/>
          </p:cNvSpPr>
          <p:nvPr/>
        </p:nvSpPr>
        <p:spPr>
          <a:xfrm xmlns:a="http://schemas.openxmlformats.org/drawingml/2006/main">
            <a:off x="8343900" y="3581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7202A"/>
                </a:solidFill>
                <a:latin typeface="Arial"/>
                <a:ea typeface="Arial"/>
                <a:cs typeface="Arial"/>
              </a:defRPr>
            </a:pPr>
            <a:r>
              <a:rPr sz="1275" b="0" i="0">
                <a:solidFill>
                  <a:srgbClr val="17202A"/>
                </a:solidFill>
                <a:latin typeface="Arial"/>
                <a:ea typeface="Arial"/>
                <a:cs typeface="Arial"/>
              </a:rPr>
              <a:t>path ID and evidence type</a:t>
            </a:r>
          </a:p>
        </p:txBody>
      </p:sp>
      <p:sp>
        <p:nvSpPr>
          <p:cNvPr id="35" name="">
            <a:extLst xmlns:a="http://schemas.openxmlformats.org/drawingml/2006/main">
              <a:ext uri="{FF2B5EF4-FFF2-40B4-BE49-F238E27FC236}">
                <a16:creationId xmlns:a16="http://schemas.microsoft.com/office/drawing/2014/main" id="{B2012892-EEF4-4681-8276-FFC31F807B09}"/>
              </a:ext>
            </a:extLst>
          </p:cNvPr>
          <p:cNvSpPr>
            <a:spLocks xmlns:a="http://schemas.openxmlformats.org/drawingml/2006/main" noGrp="1"/>
          </p:cNvSpPr>
          <p:nvPr/>
        </p:nvSpPr>
        <p:spPr>
          <a:xfrm xmlns:a="http://schemas.openxmlformats.org/drawingml/2006/main">
            <a:off x="8115300" y="4048125"/>
            <a:ext cx="95250" cy="9525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9503E85-56E9-421A-867F-AED8790880B5}"/>
              </a:ext>
            </a:extLst>
          </p:cNvPr>
          <p:cNvSpPr>
            <a:spLocks xmlns:a="http://schemas.openxmlformats.org/drawingml/2006/main" noGrp="1"/>
          </p:cNvSpPr>
          <p:nvPr/>
        </p:nvSpPr>
        <p:spPr>
          <a:xfrm xmlns:a="http://schemas.openxmlformats.org/drawingml/2006/main">
            <a:off x="8343900" y="39814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7202A"/>
                </a:solidFill>
                <a:latin typeface="Arial"/>
                <a:ea typeface="Arial"/>
                <a:cs typeface="Arial"/>
              </a:defRPr>
            </a:pPr>
            <a:r>
              <a:rPr sz="1275" b="0" i="0">
                <a:solidFill>
                  <a:srgbClr val="17202A"/>
                </a:solidFill>
                <a:latin typeface="Arial"/>
                <a:ea typeface="Arial"/>
                <a:cs typeface="Arial"/>
              </a:rPr>
              <a:t>polarity and weight</a:t>
            </a:r>
          </a:p>
        </p:txBody>
      </p:sp>
      <p:sp>
        <p:nvSpPr>
          <p:cNvPr id="37" name="">
            <a:extLst xmlns:a="http://schemas.openxmlformats.org/drawingml/2006/main">
              <a:ext uri="{FF2B5EF4-FFF2-40B4-BE49-F238E27FC236}">
                <a16:creationId xmlns:a16="http://schemas.microsoft.com/office/drawing/2014/main" id="{606BC3BF-046F-4BA2-A1D6-DB74C2AD66BC}"/>
              </a:ext>
            </a:extLst>
          </p:cNvPr>
          <p:cNvSpPr>
            <a:spLocks xmlns:a="http://schemas.openxmlformats.org/drawingml/2006/main" noGrp="1"/>
          </p:cNvSpPr>
          <p:nvPr/>
        </p:nvSpPr>
        <p:spPr>
          <a:xfrm xmlns:a="http://schemas.openxmlformats.org/drawingml/2006/main">
            <a:off x="8115300" y="4448175"/>
            <a:ext cx="95250" cy="9525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405CF48-B380-4FD7-B9DD-6420E6B1B7E1}"/>
              </a:ext>
            </a:extLst>
          </p:cNvPr>
          <p:cNvSpPr>
            <a:spLocks xmlns:a="http://schemas.openxmlformats.org/drawingml/2006/main" noGrp="1"/>
          </p:cNvSpPr>
          <p:nvPr/>
        </p:nvSpPr>
        <p:spPr>
          <a:xfrm xmlns:a="http://schemas.openxmlformats.org/drawingml/2006/main">
            <a:off x="8343900" y="4381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7202A"/>
                </a:solidFill>
                <a:latin typeface="Arial"/>
                <a:ea typeface="Arial"/>
                <a:cs typeface="Arial"/>
              </a:defRPr>
            </a:pPr>
            <a:r>
              <a:rPr sz="1275" b="0" i="0">
                <a:solidFill>
                  <a:srgbClr val="17202A"/>
                </a:solidFill>
                <a:latin typeface="Arial"/>
                <a:ea typeface="Arial"/>
                <a:cs typeface="Arial"/>
              </a:rPr>
              <a:t>core vs supporting centrality</a:t>
            </a:r>
          </a:p>
        </p:txBody>
      </p:sp>
      <p:sp>
        <p:nvSpPr>
          <p:cNvPr id="39" name="">
            <a:extLst xmlns:a="http://schemas.openxmlformats.org/drawingml/2006/main">
              <a:ext uri="{FF2B5EF4-FFF2-40B4-BE49-F238E27FC236}">
                <a16:creationId xmlns:a16="http://schemas.microsoft.com/office/drawing/2014/main" id="{BAC12696-149E-4605-AA9C-FC9427D8F7F7}"/>
              </a:ext>
            </a:extLst>
          </p:cNvPr>
          <p:cNvSpPr>
            <a:spLocks xmlns:a="http://schemas.openxmlformats.org/drawingml/2006/main" noGrp="1"/>
          </p:cNvSpPr>
          <p:nvPr/>
        </p:nvSpPr>
        <p:spPr>
          <a:xfrm xmlns:a="http://schemas.openxmlformats.org/drawingml/2006/main">
            <a:off x="8115300" y="4848225"/>
            <a:ext cx="95250" cy="95250"/>
          </a:xfrm>
          <a:prstGeom xmlns:a="http://schemas.openxmlformats.org/drawingml/2006/main" prst="ellipse">
            <a:avLst/>
          </a:prstGeom>
          <a:solidFill xmlns:a="http://schemas.openxmlformats.org/drawingml/2006/main">
            <a:srgbClr val="587F9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E5F905B-8C94-435F-BF49-FEFF1F67CA38}"/>
              </a:ext>
            </a:extLst>
          </p:cNvPr>
          <p:cNvSpPr>
            <a:spLocks xmlns:a="http://schemas.openxmlformats.org/drawingml/2006/main" noGrp="1"/>
          </p:cNvSpPr>
          <p:nvPr/>
        </p:nvSpPr>
        <p:spPr>
          <a:xfrm xmlns:a="http://schemas.openxmlformats.org/drawingml/2006/main">
            <a:off x="8343900" y="47815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7202A"/>
                </a:solidFill>
                <a:latin typeface="Arial"/>
                <a:ea typeface="Arial"/>
                <a:cs typeface="Arial"/>
              </a:defRPr>
            </a:pPr>
            <a:r>
              <a:rPr sz="1275" b="0" i="0">
                <a:solidFill>
                  <a:srgbClr val="17202A"/>
                </a:solidFill>
                <a:latin typeface="Arial"/>
                <a:ea typeface="Arial"/>
                <a:cs typeface="Arial"/>
              </a:rPr>
              <a:t>source section and chunk ID</a:t>
            </a:r>
          </a:p>
        </p:txBody>
      </p:sp>
      <p:sp>
        <p:nvSpPr>
          <p:cNvPr id="41" name="">
            <a:extLst xmlns:a="http://schemas.openxmlformats.org/drawingml/2006/main">
              <a:ext uri="{FF2B5EF4-FFF2-40B4-BE49-F238E27FC236}">
                <a16:creationId xmlns:a16="http://schemas.microsoft.com/office/drawing/2014/main" id="{D104D89D-95E8-474C-ACDE-5E9ABE6123F7}"/>
              </a:ext>
            </a:extLst>
          </p:cNvPr>
          <p:cNvSpPr>
            <a:spLocks xmlns:a="http://schemas.openxmlformats.org/drawingml/2006/main" noGrp="1"/>
          </p:cNvSpPr>
          <p:nvPr/>
        </p:nvSpPr>
        <p:spPr>
          <a:xfrm xmlns:a="http://schemas.openxmlformats.org/drawingml/2006/main">
            <a:off x="8115300" y="5248275"/>
            <a:ext cx="95250" cy="95250"/>
          </a:xfrm>
          <a:prstGeom xmlns:a="http://schemas.openxmlformats.org/drawingml/2006/main" prst="ellipse">
            <a:avLst/>
          </a:prstGeom>
          <a:solidFill xmlns:a="http://schemas.openxmlformats.org/drawingml/2006/main">
            <a:srgbClr val="B866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E0A0F22-F649-48E1-BCB3-1CBF0D075701}"/>
              </a:ext>
            </a:extLst>
          </p:cNvPr>
          <p:cNvSpPr>
            <a:spLocks xmlns:a="http://schemas.openxmlformats.org/drawingml/2006/main" noGrp="1"/>
          </p:cNvSpPr>
          <p:nvPr/>
        </p:nvSpPr>
        <p:spPr>
          <a:xfrm xmlns:a="http://schemas.openxmlformats.org/drawingml/2006/main">
            <a:off x="8343900" y="5181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7202A"/>
                </a:solidFill>
                <a:latin typeface="Arial"/>
                <a:ea typeface="Arial"/>
                <a:cs typeface="Arial"/>
              </a:defRPr>
            </a:pPr>
            <a:r>
              <a:rPr sz="1275" b="0" i="0">
                <a:solidFill>
                  <a:srgbClr val="17202A"/>
                </a:solidFill>
                <a:latin typeface="Arial"/>
                <a:ea typeface="Arial"/>
                <a:cs typeface="Arial"/>
              </a:rPr>
              <a:t>generation and review context</a:t>
            </a:r>
          </a:p>
        </p:txBody>
      </p:sp>
      <p:sp>
        <p:nvSpPr>
          <p:cNvPr id="43" name="">
            <a:extLst xmlns:a="http://schemas.openxmlformats.org/drawingml/2006/main">
              <a:ext uri="{FF2B5EF4-FFF2-40B4-BE49-F238E27FC236}">
                <a16:creationId xmlns:a16="http://schemas.microsoft.com/office/drawing/2014/main" id="{CD47589B-F55A-4669-AEF2-09BB04C9D4A5}"/>
              </a:ext>
            </a:extLst>
          </p:cNvPr>
          <p:cNvSpPr>
            <a:spLocks xmlns:a="http://schemas.openxmlformats.org/drawingml/2006/main" noGrp="1"/>
          </p:cNvSpPr>
          <p:nvPr/>
        </p:nvSpPr>
        <p:spPr>
          <a:xfrm xmlns:a="http://schemas.openxmlformats.org/drawingml/2006/main">
            <a:off x="8096250" y="5648325"/>
            <a:ext cx="3600450" cy="476250"/>
          </a:xfrm>
          <a:prstGeom xmlns:a="http://schemas.openxmlformats.org/drawingml/2006/main" prst="rect">
            <a:avLst/>
          </a:prstGeom>
          <a:solidFill xmlns:a="http://schemas.openxmlformats.org/drawingml/2006/main">
            <a:srgbClr val="F1E2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CB93D58-A595-4D15-977D-9C2E700EE2E1}"/>
              </a:ext>
            </a:extLst>
          </p:cNvPr>
          <p:cNvSpPr>
            <a:spLocks xmlns:a="http://schemas.openxmlformats.org/drawingml/2006/main" noGrp="1"/>
          </p:cNvSpPr>
          <p:nvPr/>
        </p:nvSpPr>
        <p:spPr>
          <a:xfrm xmlns:a="http://schemas.openxmlformats.org/drawingml/2006/main">
            <a:off x="8267700" y="5772150"/>
            <a:ext cx="3257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6497"/>
          </a:bodyPr>
          <a:lstStyle xmlns:a="http://schemas.openxmlformats.org/drawingml/2006/main"/>
          <a:p xmlns:a="http://schemas.openxmlformats.org/drawingml/2006/main">
            <a:pPr algn="ctr">
              <a:lnSpc>
                <a:spcPct val="108000"/>
              </a:lnSpc>
              <a:buNone/>
              <a:defRPr sz="1200" b="1" i="0">
                <a:solidFill>
                  <a:srgbClr val="A74D43"/>
                </a:solidFill>
                <a:latin typeface="Arial"/>
                <a:ea typeface="Arial"/>
                <a:cs typeface="Arial"/>
              </a:defRPr>
            </a:pPr>
            <a:r>
              <a:rPr sz="1200" b="1" i="0">
                <a:solidFill>
                  <a:srgbClr val="A74D43"/>
                </a:solidFill>
                <a:latin typeface="Arial"/>
                <a:ea typeface="Arial"/>
                <a:cs typeface="Arial"/>
              </a:rPr>
              <a:t>Negative evidence remains visible; it is not discarded after scoring.</a:t>
            </a:r>
          </a:p>
        </p:txBody>
      </p:sp>
      <p:sp>
        <p:nvSpPr>
          <p:cNvPr id="45" name="">
            <a:extLst xmlns:a="http://schemas.openxmlformats.org/drawingml/2006/main">
              <a:ext uri="{FF2B5EF4-FFF2-40B4-BE49-F238E27FC236}">
                <a16:creationId xmlns:a16="http://schemas.microsoft.com/office/drawing/2014/main" id="{5E4D7496-1047-4555-A65B-1C1EA97EEBFF}"/>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46" name="">
            <a:extLst xmlns:a="http://schemas.openxmlformats.org/drawingml/2006/main">
              <a:ext uri="{FF2B5EF4-FFF2-40B4-BE49-F238E27FC236}">
                <a16:creationId xmlns:a16="http://schemas.microsoft.com/office/drawing/2014/main" id="{680B65C2-6430-4D6D-85B5-922D9FC4FC4D}"/>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47" name="">
            <a:extLst xmlns:a="http://schemas.openxmlformats.org/drawingml/2006/main">
              <a:ext uri="{FF2B5EF4-FFF2-40B4-BE49-F238E27FC236}">
                <a16:creationId xmlns:a16="http://schemas.microsoft.com/office/drawing/2014/main" id="{8FA6EAE6-BC31-4179-A50C-0140670A01D0}"/>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21514540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21678B4-2A96-4CDB-960D-A18001746DD0}"/>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PAPER ATTRIBUTION</a:t>
            </a:r>
          </a:p>
        </p:txBody>
      </p:sp>
      <p:sp>
        <p:nvSpPr>
          <p:cNvPr id="2" name="">
            <a:extLst xmlns:a="http://schemas.openxmlformats.org/drawingml/2006/main">
              <a:ext uri="{FF2B5EF4-FFF2-40B4-BE49-F238E27FC236}">
                <a16:creationId xmlns:a16="http://schemas.microsoft.com/office/drawing/2014/main" id="{D972CD45-0275-474C-9F90-9610A4DF65A0}"/>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110D5BA2-E1DA-426A-8964-345880F2208C}"/>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Every graph claim can be opened as a path</a:t>
            </a:r>
          </a:p>
        </p:txBody>
      </p:sp>
      <p:sp>
        <p:nvSpPr>
          <p:cNvPr id="4" name="">
            <a:extLst xmlns:a="http://schemas.openxmlformats.org/drawingml/2006/main">
              <a:ext uri="{FF2B5EF4-FFF2-40B4-BE49-F238E27FC236}">
                <a16:creationId xmlns:a16="http://schemas.microsoft.com/office/drawing/2014/main" id="{C6F85421-077D-47F3-AD15-40AC700B5C7A}"/>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7D013D1B-D571-4001-9341-4BFF888ABB68}"/>
              </a:ext>
            </a:extLst>
          </p:cNvPr>
          <p:cNvSpPr>
            <a:spLocks xmlns:a="http://schemas.openxmlformats.org/drawingml/2006/main" noGrp="1"/>
          </p:cNvSpPr>
          <p:nvPr/>
        </p:nvSpPr>
        <p:spPr>
          <a:xfrm xmlns:a="http://schemas.openxmlformats.org/drawingml/2006/main">
            <a:off x="495300" y="18478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DIRECT</a:t>
            </a:r>
          </a:p>
        </p:txBody>
      </p:sp>
      <p:sp>
        <p:nvSpPr>
          <p:cNvPr id="6" name="">
            <a:extLst xmlns:a="http://schemas.openxmlformats.org/drawingml/2006/main">
              <a:ext uri="{FF2B5EF4-FFF2-40B4-BE49-F238E27FC236}">
                <a16:creationId xmlns:a16="http://schemas.microsoft.com/office/drawing/2014/main" id="{2A042345-CF55-4EB3-91FA-2F1316D2E5F5}"/>
              </a:ext>
            </a:extLst>
          </p:cNvPr>
          <p:cNvSpPr>
            <a:spLocks xmlns:a="http://schemas.openxmlformats.org/drawingml/2006/main" noGrp="1"/>
          </p:cNvSpPr>
          <p:nvPr/>
        </p:nvSpPr>
        <p:spPr>
          <a:xfrm xmlns:a="http://schemas.openxmlformats.org/drawingml/2006/main">
            <a:off x="495300" y="21526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03A4C"/>
                </a:solidFill>
                <a:latin typeface="Georgia"/>
                <a:ea typeface="Georgia"/>
                <a:cs typeface="Georgia"/>
              </a:defRPr>
            </a:pPr>
            <a:r>
              <a:rPr sz="1650" b="1" i="0">
                <a:solidFill>
                  <a:srgbClr val="203A4C"/>
                </a:solidFill>
                <a:latin typeface="Georgia"/>
                <a:ea typeface="Georgia"/>
                <a:cs typeface="Georgia"/>
              </a:rPr>
              <a:t>Paper → AC author</a:t>
            </a:r>
          </a:p>
        </p:txBody>
      </p:sp>
      <p:sp>
        <p:nvSpPr>
          <p:cNvPr id="7" name="">
            <a:extLst xmlns:a="http://schemas.openxmlformats.org/drawingml/2006/main">
              <a:ext uri="{FF2B5EF4-FFF2-40B4-BE49-F238E27FC236}">
                <a16:creationId xmlns:a16="http://schemas.microsoft.com/office/drawing/2014/main" id="{FB6E8187-4750-4173-AD7E-2157D4EE26D2}"/>
              </a:ext>
            </a:extLst>
          </p:cNvPr>
          <p:cNvSpPr>
            <a:spLocks xmlns:a="http://schemas.openxmlformats.org/drawingml/2006/main" noGrp="1"/>
          </p:cNvSpPr>
          <p:nvPr/>
        </p:nvSpPr>
        <p:spPr>
          <a:xfrm xmlns:a="http://schemas.openxmlformats.org/drawingml/2006/main">
            <a:off x="495300" y="2581275"/>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06972"/>
                </a:solidFill>
                <a:latin typeface="Arial"/>
                <a:ea typeface="Arial"/>
                <a:cs typeface="Arial"/>
              </a:defRPr>
            </a:pPr>
            <a:r>
              <a:rPr sz="1275" b="0" i="0">
                <a:solidFill>
                  <a:srgbClr val="606972"/>
                </a:solidFill>
                <a:latin typeface="Arial"/>
                <a:ea typeface="Arial"/>
                <a:cs typeface="Arial"/>
              </a:rPr>
              <a:t>The paper has a verified AC member among its authors.</a:t>
            </a:r>
          </a:p>
        </p:txBody>
      </p:sp>
      <p:sp>
        <p:nvSpPr>
          <p:cNvPr id="8" name="">
            <a:extLst xmlns:a="http://schemas.openxmlformats.org/drawingml/2006/main">
              <a:ext uri="{FF2B5EF4-FFF2-40B4-BE49-F238E27FC236}">
                <a16:creationId xmlns:a16="http://schemas.microsoft.com/office/drawing/2014/main" id="{AC3BFE0A-DF6C-4031-9667-D11D8A06B40D}"/>
              </a:ext>
            </a:extLst>
          </p:cNvPr>
          <p:cNvSpPr>
            <a:spLocks xmlns:a="http://schemas.openxmlformats.org/drawingml/2006/main" noGrp="1"/>
          </p:cNvSpPr>
          <p:nvPr/>
        </p:nvSpPr>
        <p:spPr>
          <a:xfrm xmlns:a="http://schemas.openxmlformats.org/drawingml/2006/main">
            <a:off x="495300" y="3048000"/>
            <a:ext cx="64008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9" name="">
            <a:extLst xmlns:a="http://schemas.openxmlformats.org/drawingml/2006/main">
              <a:ext uri="{FF2B5EF4-FFF2-40B4-BE49-F238E27FC236}">
                <a16:creationId xmlns:a16="http://schemas.microsoft.com/office/drawing/2014/main" id="{EF7BA228-FAAA-4BE8-8D40-71E1CB0D7DE7}"/>
              </a:ext>
            </a:extLst>
          </p:cNvPr>
          <p:cNvSpPr>
            <a:spLocks xmlns:a="http://schemas.openxmlformats.org/drawingml/2006/main" noGrp="1"/>
          </p:cNvSpPr>
          <p:nvPr/>
        </p:nvSpPr>
        <p:spPr>
          <a:xfrm xmlns:a="http://schemas.openxmlformats.org/drawingml/2006/main">
            <a:off x="495300" y="31337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SECOND DEGREE</a:t>
            </a:r>
          </a:p>
        </p:txBody>
      </p:sp>
      <p:sp>
        <p:nvSpPr>
          <p:cNvPr id="10" name="">
            <a:extLst xmlns:a="http://schemas.openxmlformats.org/drawingml/2006/main">
              <a:ext uri="{FF2B5EF4-FFF2-40B4-BE49-F238E27FC236}">
                <a16:creationId xmlns:a16="http://schemas.microsoft.com/office/drawing/2014/main" id="{F0428C47-A3D2-49CA-8DD3-B168D0E0ECED}"/>
              </a:ext>
            </a:extLst>
          </p:cNvPr>
          <p:cNvSpPr>
            <a:spLocks xmlns:a="http://schemas.openxmlformats.org/drawingml/2006/main" noGrp="1"/>
          </p:cNvSpPr>
          <p:nvPr/>
        </p:nvSpPr>
        <p:spPr>
          <a:xfrm xmlns:a="http://schemas.openxmlformats.org/drawingml/2006/main">
            <a:off x="495300" y="34385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03A4C"/>
                </a:solidFill>
                <a:latin typeface="Georgia"/>
                <a:ea typeface="Georgia"/>
                <a:cs typeface="Georgia"/>
              </a:defRPr>
            </a:pPr>
            <a:r>
              <a:rPr sz="1650" b="1" i="0">
                <a:solidFill>
                  <a:srgbClr val="203A4C"/>
                </a:solidFill>
                <a:latin typeface="Georgia"/>
                <a:ea typeface="Georgia"/>
                <a:cs typeface="Georgia"/>
              </a:rPr>
              <a:t>Paper → external author → AC author</a:t>
            </a:r>
          </a:p>
        </p:txBody>
      </p:sp>
      <p:sp>
        <p:nvSpPr>
          <p:cNvPr id="11" name="">
            <a:extLst xmlns:a="http://schemas.openxmlformats.org/drawingml/2006/main">
              <a:ext uri="{FF2B5EF4-FFF2-40B4-BE49-F238E27FC236}">
                <a16:creationId xmlns:a16="http://schemas.microsoft.com/office/drawing/2014/main" id="{58DD3736-9BCE-4358-8BDD-B045B118ACE7}"/>
              </a:ext>
            </a:extLst>
          </p:cNvPr>
          <p:cNvSpPr>
            <a:spLocks xmlns:a="http://schemas.openxmlformats.org/drawingml/2006/main" noGrp="1"/>
          </p:cNvSpPr>
          <p:nvPr/>
        </p:nvSpPr>
        <p:spPr>
          <a:xfrm xmlns:a="http://schemas.openxmlformats.org/drawingml/2006/main">
            <a:off x="495300" y="3867150"/>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06972"/>
                </a:solidFill>
                <a:latin typeface="Arial"/>
                <a:ea typeface="Arial"/>
                <a:cs typeface="Arial"/>
              </a:defRPr>
            </a:pPr>
            <a:r>
              <a:rPr sz="1275" b="0" i="0">
                <a:solidFill>
                  <a:srgbClr val="606972"/>
                </a:solidFill>
                <a:latin typeface="Arial"/>
                <a:ea typeface="Arial"/>
                <a:cs typeface="Arial"/>
              </a:rPr>
              <a:t>The path records the two authors, shared paper IDs, and a path strength.</a:t>
            </a:r>
          </a:p>
        </p:txBody>
      </p:sp>
      <p:sp>
        <p:nvSpPr>
          <p:cNvPr id="12" name="">
            <a:extLst xmlns:a="http://schemas.openxmlformats.org/drawingml/2006/main">
              <a:ext uri="{FF2B5EF4-FFF2-40B4-BE49-F238E27FC236}">
                <a16:creationId xmlns:a16="http://schemas.microsoft.com/office/drawing/2014/main" id="{DD8BBE79-A613-4C54-977B-FE746F21D488}"/>
              </a:ext>
            </a:extLst>
          </p:cNvPr>
          <p:cNvSpPr>
            <a:spLocks xmlns:a="http://schemas.openxmlformats.org/drawingml/2006/main" noGrp="1"/>
          </p:cNvSpPr>
          <p:nvPr/>
        </p:nvSpPr>
        <p:spPr>
          <a:xfrm xmlns:a="http://schemas.openxmlformats.org/drawingml/2006/main">
            <a:off x="495300" y="4333875"/>
            <a:ext cx="64008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3" name="">
            <a:extLst xmlns:a="http://schemas.openxmlformats.org/drawingml/2006/main">
              <a:ext uri="{FF2B5EF4-FFF2-40B4-BE49-F238E27FC236}">
                <a16:creationId xmlns:a16="http://schemas.microsoft.com/office/drawing/2014/main" id="{0000B2B6-C812-44F6-9C4D-ED07ECF82204}"/>
              </a:ext>
            </a:extLst>
          </p:cNvPr>
          <p:cNvSpPr>
            <a:spLocks xmlns:a="http://schemas.openxmlformats.org/drawingml/2006/main" noGrp="1"/>
          </p:cNvSpPr>
          <p:nvPr/>
        </p:nvSpPr>
        <p:spPr>
          <a:xfrm xmlns:a="http://schemas.openxmlformats.org/drawingml/2006/main">
            <a:off x="495300" y="44196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CITATION</a:t>
            </a:r>
          </a:p>
        </p:txBody>
      </p:sp>
      <p:sp>
        <p:nvSpPr>
          <p:cNvPr id="14" name="">
            <a:extLst xmlns:a="http://schemas.openxmlformats.org/drawingml/2006/main">
              <a:ext uri="{FF2B5EF4-FFF2-40B4-BE49-F238E27FC236}">
                <a16:creationId xmlns:a16="http://schemas.microsoft.com/office/drawing/2014/main" id="{55CA3EAD-8A89-4EC0-98DC-2329A2AC8427}"/>
              </a:ext>
            </a:extLst>
          </p:cNvPr>
          <p:cNvSpPr>
            <a:spLocks xmlns:a="http://schemas.openxmlformats.org/drawingml/2006/main" noGrp="1"/>
          </p:cNvSpPr>
          <p:nvPr/>
        </p:nvSpPr>
        <p:spPr>
          <a:xfrm xmlns:a="http://schemas.openxmlformats.org/drawingml/2006/main">
            <a:off x="495300" y="47244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03A4C"/>
                </a:solidFill>
                <a:latin typeface="Georgia"/>
                <a:ea typeface="Georgia"/>
                <a:cs typeface="Georgia"/>
              </a:defRPr>
            </a:pPr>
            <a:r>
              <a:rPr sz="1650" b="1" i="0">
                <a:solidFill>
                  <a:srgbClr val="203A4C"/>
                </a:solidFill>
                <a:latin typeface="Georgia"/>
                <a:ea typeface="Georgia"/>
                <a:cs typeface="Georgia"/>
              </a:rPr>
              <a:t>Paper → cites → AC core paper</a:t>
            </a:r>
          </a:p>
        </p:txBody>
      </p:sp>
      <p:sp>
        <p:nvSpPr>
          <p:cNvPr id="15" name="">
            <a:extLst xmlns:a="http://schemas.openxmlformats.org/drawingml/2006/main">
              <a:ext uri="{FF2B5EF4-FFF2-40B4-BE49-F238E27FC236}">
                <a16:creationId xmlns:a16="http://schemas.microsoft.com/office/drawing/2014/main" id="{810AA630-1A8C-4D9F-9FEA-46AB91B827DE}"/>
              </a:ext>
            </a:extLst>
          </p:cNvPr>
          <p:cNvSpPr>
            <a:spLocks xmlns:a="http://schemas.openxmlformats.org/drawingml/2006/main" noGrp="1"/>
          </p:cNvSpPr>
          <p:nvPr/>
        </p:nvSpPr>
        <p:spPr>
          <a:xfrm xmlns:a="http://schemas.openxmlformats.org/drawingml/2006/main">
            <a:off x="495300" y="5153025"/>
            <a:ext cx="571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06972"/>
                </a:solidFill>
                <a:latin typeface="Arial"/>
                <a:ea typeface="Arial"/>
                <a:cs typeface="Arial"/>
              </a:defRPr>
            </a:pPr>
            <a:r>
              <a:rPr sz="1275" b="0" i="0">
                <a:solidFill>
                  <a:srgbClr val="606972"/>
                </a:solidFill>
                <a:latin typeface="Arial"/>
                <a:ea typeface="Arial"/>
                <a:cs typeface="Arial"/>
              </a:rPr>
              <a:t>The cited AC-core title and DOI remain attached to the signal.</a:t>
            </a:r>
          </a:p>
        </p:txBody>
      </p:sp>
      <p:sp>
        <p:nvSpPr>
          <p:cNvPr id="16" name="">
            <a:extLst xmlns:a="http://schemas.openxmlformats.org/drawingml/2006/main">
              <a:ext uri="{FF2B5EF4-FFF2-40B4-BE49-F238E27FC236}">
                <a16:creationId xmlns:a16="http://schemas.microsoft.com/office/drawing/2014/main" id="{52199079-4DC3-485D-A36A-C463EB9814FF}"/>
              </a:ext>
            </a:extLst>
          </p:cNvPr>
          <p:cNvSpPr>
            <a:spLocks xmlns:a="http://schemas.openxmlformats.org/drawingml/2006/main" noGrp="1"/>
          </p:cNvSpPr>
          <p:nvPr/>
        </p:nvSpPr>
        <p:spPr>
          <a:xfrm xmlns:a="http://schemas.openxmlformats.org/drawingml/2006/main">
            <a:off x="7372350" y="1809750"/>
            <a:ext cx="4324350" cy="22669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7" name="">
            <a:extLst xmlns:a="http://schemas.openxmlformats.org/drawingml/2006/main">
              <a:ext uri="{FF2B5EF4-FFF2-40B4-BE49-F238E27FC236}">
                <a16:creationId xmlns:a16="http://schemas.microsoft.com/office/drawing/2014/main" id="{DAB42112-87AC-4FA8-BC6D-87CEA646BAB6}"/>
              </a:ext>
            </a:extLst>
          </p:cNvPr>
          <p:cNvSpPr>
            <a:spLocks xmlns:a="http://schemas.openxmlformats.org/drawingml/2006/main" noGrp="1"/>
          </p:cNvSpPr>
          <p:nvPr/>
        </p:nvSpPr>
        <p:spPr>
          <a:xfrm xmlns:a="http://schemas.openxmlformats.org/drawingml/2006/main">
            <a:off x="7600950" y="2038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GRAPH EXPLANATION OUTPUT</a:t>
            </a:r>
          </a:p>
        </p:txBody>
      </p:sp>
      <p:sp>
        <p:nvSpPr>
          <p:cNvPr id="18" name="">
            <a:extLst xmlns:a="http://schemas.openxmlformats.org/drawingml/2006/main">
              <a:ext uri="{FF2B5EF4-FFF2-40B4-BE49-F238E27FC236}">
                <a16:creationId xmlns:a16="http://schemas.microsoft.com/office/drawing/2014/main" id="{E9152371-7A87-4E5A-9F39-3FFB4FAB425C}"/>
              </a:ext>
            </a:extLst>
          </p:cNvPr>
          <p:cNvSpPr>
            <a:spLocks xmlns:a="http://schemas.openxmlformats.org/drawingml/2006/main" noGrp="1"/>
          </p:cNvSpPr>
          <p:nvPr/>
        </p:nvSpPr>
        <p:spPr>
          <a:xfrm xmlns:a="http://schemas.openxmlformats.org/drawingml/2006/main">
            <a:off x="7600950" y="24003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direct_ac_authors[]</a:t>
            </a:r>
          </a:p>
        </p:txBody>
      </p:sp>
      <p:sp>
        <p:nvSpPr>
          <p:cNvPr id="19" name="">
            <a:extLst xmlns:a="http://schemas.openxmlformats.org/drawingml/2006/main">
              <a:ext uri="{FF2B5EF4-FFF2-40B4-BE49-F238E27FC236}">
                <a16:creationId xmlns:a16="http://schemas.microsoft.com/office/drawing/2014/main" id="{FFACC297-737F-4B02-A5F7-B388746C9CFF}"/>
              </a:ext>
            </a:extLst>
          </p:cNvPr>
          <p:cNvSpPr>
            <a:spLocks xmlns:a="http://schemas.openxmlformats.org/drawingml/2006/main" noGrp="1"/>
          </p:cNvSpPr>
          <p:nvPr/>
        </p:nvSpPr>
        <p:spPr>
          <a:xfrm xmlns:a="http://schemas.openxmlformats.org/drawingml/2006/main">
            <a:off x="9353550" y="24003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verified names</a:t>
            </a:r>
          </a:p>
        </p:txBody>
      </p:sp>
      <p:sp>
        <p:nvSpPr>
          <p:cNvPr id="20" name="">
            <a:extLst xmlns:a="http://schemas.openxmlformats.org/drawingml/2006/main">
              <a:ext uri="{FF2B5EF4-FFF2-40B4-BE49-F238E27FC236}">
                <a16:creationId xmlns:a16="http://schemas.microsoft.com/office/drawing/2014/main" id="{4F2824C3-597D-4265-87EC-D730A5421FB3}"/>
              </a:ext>
            </a:extLst>
          </p:cNvPr>
          <p:cNvSpPr>
            <a:spLocks xmlns:a="http://schemas.openxmlformats.org/drawingml/2006/main" noGrp="1"/>
          </p:cNvSpPr>
          <p:nvPr/>
        </p:nvSpPr>
        <p:spPr>
          <a:xfrm xmlns:a="http://schemas.openxmlformats.org/drawingml/2006/main">
            <a:off x="7600950" y="27241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second_degree_paths[]</a:t>
            </a:r>
          </a:p>
        </p:txBody>
      </p:sp>
      <p:sp>
        <p:nvSpPr>
          <p:cNvPr id="21" name="">
            <a:extLst xmlns:a="http://schemas.openxmlformats.org/drawingml/2006/main">
              <a:ext uri="{FF2B5EF4-FFF2-40B4-BE49-F238E27FC236}">
                <a16:creationId xmlns:a16="http://schemas.microsoft.com/office/drawing/2014/main" id="{2516AD49-5D62-4489-8ED1-0F42FAA5DD2F}"/>
              </a:ext>
            </a:extLst>
          </p:cNvPr>
          <p:cNvSpPr>
            <a:spLocks xmlns:a="http://schemas.openxmlformats.org/drawingml/2006/main" noGrp="1"/>
          </p:cNvSpPr>
          <p:nvPr/>
        </p:nvSpPr>
        <p:spPr>
          <a:xfrm xmlns:a="http://schemas.openxmlformats.org/drawingml/2006/main">
            <a:off x="9353550" y="27241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6977"/>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via author · AC author · shared papers · strength</a:t>
            </a:r>
          </a:p>
        </p:txBody>
      </p:sp>
      <p:sp>
        <p:nvSpPr>
          <p:cNvPr id="22" name="">
            <a:extLst xmlns:a="http://schemas.openxmlformats.org/drawingml/2006/main">
              <a:ext uri="{FF2B5EF4-FFF2-40B4-BE49-F238E27FC236}">
                <a16:creationId xmlns:a16="http://schemas.microsoft.com/office/drawing/2014/main" id="{610898C7-D90E-4DE8-AEA3-A9264D73A399}"/>
              </a:ext>
            </a:extLst>
          </p:cNvPr>
          <p:cNvSpPr>
            <a:spLocks xmlns:a="http://schemas.openxmlformats.org/drawingml/2006/main" noGrp="1"/>
          </p:cNvSpPr>
          <p:nvPr/>
        </p:nvSpPr>
        <p:spPr>
          <a:xfrm xmlns:a="http://schemas.openxmlformats.org/drawingml/2006/main">
            <a:off x="7600950" y="30480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citation_signals[]</a:t>
            </a:r>
          </a:p>
        </p:txBody>
      </p:sp>
      <p:sp>
        <p:nvSpPr>
          <p:cNvPr id="23" name="">
            <a:extLst xmlns:a="http://schemas.openxmlformats.org/drawingml/2006/main">
              <a:ext uri="{FF2B5EF4-FFF2-40B4-BE49-F238E27FC236}">
                <a16:creationId xmlns:a16="http://schemas.microsoft.com/office/drawing/2014/main" id="{BCD2E982-7C4E-4865-886A-77178457EC81}"/>
              </a:ext>
            </a:extLst>
          </p:cNvPr>
          <p:cNvSpPr>
            <a:spLocks xmlns:a="http://schemas.openxmlformats.org/drawingml/2006/main" noGrp="1"/>
          </p:cNvSpPr>
          <p:nvPr/>
        </p:nvSpPr>
        <p:spPr>
          <a:xfrm xmlns:a="http://schemas.openxmlformats.org/drawingml/2006/main">
            <a:off x="9353550" y="30480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AC-core paper · title · DOI</a:t>
            </a:r>
          </a:p>
        </p:txBody>
      </p:sp>
      <p:sp>
        <p:nvSpPr>
          <p:cNvPr id="24" name="">
            <a:extLst xmlns:a="http://schemas.openxmlformats.org/drawingml/2006/main">
              <a:ext uri="{FF2B5EF4-FFF2-40B4-BE49-F238E27FC236}">
                <a16:creationId xmlns:a16="http://schemas.microsoft.com/office/drawing/2014/main" id="{BDD09BE3-BA7C-4933-B22E-91A8FA00EADB}"/>
              </a:ext>
            </a:extLst>
          </p:cNvPr>
          <p:cNvSpPr>
            <a:spLocks xmlns:a="http://schemas.openxmlformats.org/drawingml/2006/main" noGrp="1"/>
          </p:cNvSpPr>
          <p:nvPr/>
        </p:nvSpPr>
        <p:spPr>
          <a:xfrm xmlns:a="http://schemas.openxmlformats.org/drawingml/2006/main">
            <a:off x="7600950" y="33718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cited_by_corpus[]</a:t>
            </a:r>
          </a:p>
        </p:txBody>
      </p:sp>
      <p:sp>
        <p:nvSpPr>
          <p:cNvPr id="25" name="">
            <a:extLst xmlns:a="http://schemas.openxmlformats.org/drawingml/2006/main">
              <a:ext uri="{FF2B5EF4-FFF2-40B4-BE49-F238E27FC236}">
                <a16:creationId xmlns:a16="http://schemas.microsoft.com/office/drawing/2014/main" id="{58CCCF2B-F3DD-4EE1-AA84-84707B3A483D}"/>
              </a:ext>
            </a:extLst>
          </p:cNvPr>
          <p:cNvSpPr>
            <a:spLocks xmlns:a="http://schemas.openxmlformats.org/drawingml/2006/main" noGrp="1"/>
          </p:cNvSpPr>
          <p:nvPr/>
        </p:nvSpPr>
        <p:spPr>
          <a:xfrm xmlns:a="http://schemas.openxmlformats.org/drawingml/2006/main">
            <a:off x="9353550" y="33718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reverse corpus citations</a:t>
            </a:r>
          </a:p>
        </p:txBody>
      </p:sp>
      <p:sp>
        <p:nvSpPr>
          <p:cNvPr id="26" name="">
            <a:extLst xmlns:a="http://schemas.openxmlformats.org/drawingml/2006/main">
              <a:ext uri="{FF2B5EF4-FFF2-40B4-BE49-F238E27FC236}">
                <a16:creationId xmlns:a16="http://schemas.microsoft.com/office/drawing/2014/main" id="{691D7114-326D-471E-A725-56A34B1EE4FD}"/>
              </a:ext>
            </a:extLst>
          </p:cNvPr>
          <p:cNvSpPr>
            <a:spLocks xmlns:a="http://schemas.openxmlformats.org/drawingml/2006/main" noGrp="1"/>
          </p:cNvSpPr>
          <p:nvPr/>
        </p:nvSpPr>
        <p:spPr>
          <a:xfrm xmlns:a="http://schemas.openxmlformats.org/drawingml/2006/main">
            <a:off x="7600950" y="36957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03A4C"/>
                </a:solidFill>
                <a:latin typeface="Arial"/>
                <a:ea typeface="Arial"/>
                <a:cs typeface="Arial"/>
              </a:defRPr>
            </a:pPr>
            <a:r>
              <a:rPr sz="1125" b="1" i="0">
                <a:solidFill>
                  <a:srgbClr val="203A4C"/>
                </a:solidFill>
                <a:latin typeface="Arial"/>
                <a:ea typeface="Arial"/>
                <a:cs typeface="Arial"/>
              </a:rPr>
              <a:t>summary</a:t>
            </a:r>
          </a:p>
        </p:txBody>
      </p:sp>
      <p:sp>
        <p:nvSpPr>
          <p:cNvPr id="27" name="">
            <a:extLst xmlns:a="http://schemas.openxmlformats.org/drawingml/2006/main">
              <a:ext uri="{FF2B5EF4-FFF2-40B4-BE49-F238E27FC236}">
                <a16:creationId xmlns:a16="http://schemas.microsoft.com/office/drawing/2014/main" id="{721A3A8D-0148-4ECF-B32A-8C3650EB0ED5}"/>
              </a:ext>
            </a:extLst>
          </p:cNvPr>
          <p:cNvSpPr>
            <a:spLocks xmlns:a="http://schemas.openxmlformats.org/drawingml/2006/main" noGrp="1"/>
          </p:cNvSpPr>
          <p:nvPr/>
        </p:nvSpPr>
        <p:spPr>
          <a:xfrm xmlns:a="http://schemas.openxmlformats.org/drawingml/2006/main">
            <a:off x="9353550" y="36957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deterministic explanation text</a:t>
            </a:r>
          </a:p>
        </p:txBody>
      </p:sp>
      <p:sp>
        <p:nvSpPr>
          <p:cNvPr id="28" name="">
            <a:extLst xmlns:a="http://schemas.openxmlformats.org/drawingml/2006/main">
              <a:ext uri="{FF2B5EF4-FFF2-40B4-BE49-F238E27FC236}">
                <a16:creationId xmlns:a16="http://schemas.microsoft.com/office/drawing/2014/main" id="{38E72647-27A7-4EA1-902C-34C36FDDC57C}"/>
              </a:ext>
            </a:extLst>
          </p:cNvPr>
          <p:cNvSpPr>
            <a:spLocks xmlns:a="http://schemas.openxmlformats.org/drawingml/2006/main" noGrp="1"/>
          </p:cNvSpPr>
          <p:nvPr/>
        </p:nvSpPr>
        <p:spPr>
          <a:xfrm xmlns:a="http://schemas.openxmlformats.org/drawingml/2006/main">
            <a:off x="7372350" y="4371975"/>
            <a:ext cx="4324350" cy="7620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40F50B7-1F11-45E3-BC82-B33287DEBA9E}"/>
              </a:ext>
            </a:extLst>
          </p:cNvPr>
          <p:cNvSpPr>
            <a:spLocks xmlns:a="http://schemas.openxmlformats.org/drawingml/2006/main" noGrp="1"/>
          </p:cNvSpPr>
          <p:nvPr/>
        </p:nvSpPr>
        <p:spPr>
          <a:xfrm xmlns:a="http://schemas.openxmlformats.org/drawingml/2006/main">
            <a:off x="7581900" y="4514850"/>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N(p) = maxₐ PPRAC(a) × [1 + .25·max(0, cnorm(a) − 1)]</a:t>
            </a:r>
          </a:p>
        </p:txBody>
      </p:sp>
      <p:sp>
        <p:nvSpPr>
          <p:cNvPr id="30" name="">
            <a:extLst xmlns:a="http://schemas.openxmlformats.org/drawingml/2006/main">
              <a:ext uri="{FF2B5EF4-FFF2-40B4-BE49-F238E27FC236}">
                <a16:creationId xmlns:a16="http://schemas.microsoft.com/office/drawing/2014/main" id="{AB7A169E-5861-47F0-8438-77A5EF6161ED}"/>
              </a:ext>
            </a:extLst>
          </p:cNvPr>
          <p:cNvSpPr>
            <a:spLocks xmlns:a="http://schemas.openxmlformats.org/drawingml/2006/main" noGrp="1"/>
          </p:cNvSpPr>
          <p:nvPr/>
        </p:nvSpPr>
        <p:spPr>
          <a:xfrm xmlns:a="http://schemas.openxmlformats.org/drawingml/2006/main">
            <a:off x="7372350" y="5267325"/>
            <a:ext cx="4324350" cy="628650"/>
          </a:xfrm>
          <a:prstGeom xmlns:a="http://schemas.openxmlformats.org/drawingml/2006/main" prst="rect">
            <a:avLst/>
          </a:prstGeom>
          <a:solidFill xmlns:a="http://schemas.openxmlformats.org/drawingml/2006/main">
            <a:srgbClr val="587F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C5C5D5B-A003-422D-B1C4-34E4AAB19C61}"/>
              </a:ext>
            </a:extLst>
          </p:cNvPr>
          <p:cNvSpPr>
            <a:spLocks xmlns:a="http://schemas.openxmlformats.org/drawingml/2006/main" noGrp="1"/>
          </p:cNvSpPr>
          <p:nvPr/>
        </p:nvSpPr>
        <p:spPr>
          <a:xfrm xmlns:a="http://schemas.openxmlformats.org/drawingml/2006/main">
            <a:off x="7581900" y="54102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Q(p) = min(1, 0.5 × | unique AC-core citations |)</a:t>
            </a:r>
          </a:p>
        </p:txBody>
      </p:sp>
      <p:sp>
        <p:nvSpPr>
          <p:cNvPr id="32" name="">
            <a:extLst xmlns:a="http://schemas.openxmlformats.org/drawingml/2006/main">
              <a:ext uri="{FF2B5EF4-FFF2-40B4-BE49-F238E27FC236}">
                <a16:creationId xmlns:a16="http://schemas.microsoft.com/office/drawing/2014/main" id="{A0C3963D-5843-4859-B054-901031144AB7}"/>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33" name="">
            <a:extLst xmlns:a="http://schemas.openxmlformats.org/drawingml/2006/main">
              <a:ext uri="{FF2B5EF4-FFF2-40B4-BE49-F238E27FC236}">
                <a16:creationId xmlns:a16="http://schemas.microsoft.com/office/drawing/2014/main" id="{DC199584-87F9-451F-BFD6-34EE1797FC7D}"/>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34" name="">
            <a:extLst xmlns:a="http://schemas.openxmlformats.org/drawingml/2006/main">
              <a:ext uri="{FF2B5EF4-FFF2-40B4-BE49-F238E27FC236}">
                <a16:creationId xmlns:a16="http://schemas.microsoft.com/office/drawing/2014/main" id="{68C9B25A-9BE5-4561-B31A-BDB94655916E}"/>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067134971"/>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FA9B5C40-3DC6-4303-B8C5-6106EE2E2D5B}"/>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CONNECTION INTELLIGENCE</a:t>
            </a:r>
          </a:p>
        </p:txBody>
      </p:sp>
      <p:sp>
        <p:nvSpPr>
          <p:cNvPr id="2" name="">
            <a:extLst xmlns:a="http://schemas.openxmlformats.org/drawingml/2006/main">
              <a:ext uri="{FF2B5EF4-FFF2-40B4-BE49-F238E27FC236}">
                <a16:creationId xmlns:a16="http://schemas.microsoft.com/office/drawing/2014/main" id="{584D8D51-73FE-4D2D-831C-46240F18A481}"/>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9041458-8724-42DB-86E1-756ADCFB48CB}"/>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3473"/>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Raw co-publication counts are normalized before they become relationship strength</a:t>
            </a:r>
          </a:p>
        </p:txBody>
      </p:sp>
      <p:sp>
        <p:nvSpPr>
          <p:cNvPr id="4" name="">
            <a:extLst xmlns:a="http://schemas.openxmlformats.org/drawingml/2006/main">
              <a:ext uri="{FF2B5EF4-FFF2-40B4-BE49-F238E27FC236}">
                <a16:creationId xmlns:a16="http://schemas.microsoft.com/office/drawing/2014/main" id="{61CC880A-E677-4C37-9C04-0D43AB0FB54A}"/>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DAFF9BAD-4978-4CC8-90C0-0E8B961E5910}"/>
              </a:ext>
            </a:extLst>
          </p:cNvPr>
          <p:cNvSpPr>
            <a:spLocks xmlns:a="http://schemas.openxmlformats.org/drawingml/2006/main" noGrp="1"/>
          </p:cNvSpPr>
          <p:nvPr/>
        </p:nvSpPr>
        <p:spPr>
          <a:xfrm xmlns:a="http://schemas.openxmlformats.org/drawingml/2006/main">
            <a:off x="495300" y="1790700"/>
            <a:ext cx="6724650" cy="78105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E40D62-00FE-4DA4-A7A1-F9A70C2F76F1}"/>
              </a:ext>
            </a:extLst>
          </p:cNvPr>
          <p:cNvSpPr>
            <a:spLocks xmlns:a="http://schemas.openxmlformats.org/drawingml/2006/main" noGrp="1"/>
          </p:cNvSpPr>
          <p:nvPr/>
        </p:nvSpPr>
        <p:spPr>
          <a:xfrm xmlns:a="http://schemas.openxmlformats.org/drawingml/2006/main">
            <a:off x="704850" y="1933575"/>
            <a:ext cx="6305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R(u,v) = shared papers(u,v) / min(paper count(u), paper count(v))</a:t>
            </a:r>
          </a:p>
        </p:txBody>
      </p:sp>
      <p:sp>
        <p:nvSpPr>
          <p:cNvPr id="7" name="">
            <a:extLst xmlns:a="http://schemas.openxmlformats.org/drawingml/2006/main">
              <a:ext uri="{FF2B5EF4-FFF2-40B4-BE49-F238E27FC236}">
                <a16:creationId xmlns:a16="http://schemas.microsoft.com/office/drawing/2014/main" id="{FF7EA855-6612-4F5E-92D6-3E185166910B}"/>
              </a:ext>
            </a:extLst>
          </p:cNvPr>
          <p:cNvSpPr>
            <a:spLocks xmlns:a="http://schemas.openxmlformats.org/drawingml/2006/main" noGrp="1"/>
          </p:cNvSpPr>
          <p:nvPr/>
        </p:nvSpPr>
        <p:spPr>
          <a:xfrm xmlns:a="http://schemas.openxmlformats.org/drawingml/2006/main">
            <a:off x="495300" y="2752725"/>
            <a:ext cx="672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55"/>
          </a:bodyPr>
          <a:lstStyle xmlns:a="http://schemas.openxmlformats.org/drawingml/2006/main"/>
          <a:p xmlns:a="http://schemas.openxmlformats.org/drawingml/2006/main">
            <a:pPr algn="l">
              <a:lnSpc>
                <a:spcPct val="108000"/>
              </a:lnSpc>
              <a:buNone/>
              <a:defRPr sz="1425" b="0" i="0">
                <a:solidFill>
                  <a:srgbClr val="606972"/>
                </a:solidFill>
                <a:latin typeface="Arial"/>
                <a:ea typeface="Arial"/>
                <a:cs typeface="Arial"/>
              </a:defRPr>
            </a:pPr>
            <a:r>
              <a:rPr sz="1425" b="0" i="0">
                <a:solidFill>
                  <a:srgbClr val="606972"/>
                </a:solidFill>
                <a:latin typeface="Arial"/>
                <a:ea typeface="Arial"/>
                <a:cs typeface="Arial"/>
              </a:rPr>
              <a:t>This asks how much of the smaller publication portfolio is explained by the collaboration.</a:t>
            </a:r>
          </a:p>
        </p:txBody>
      </p:sp>
      <p:sp>
        <p:nvSpPr>
          <p:cNvPr id="8" name="">
            <a:extLst xmlns:a="http://schemas.openxmlformats.org/drawingml/2006/main">
              <a:ext uri="{FF2B5EF4-FFF2-40B4-BE49-F238E27FC236}">
                <a16:creationId xmlns:a16="http://schemas.microsoft.com/office/drawing/2014/main" id="{291BEC8B-35DE-4748-BE04-3E9A7A95D370}"/>
              </a:ext>
            </a:extLst>
          </p:cNvPr>
          <p:cNvSpPr>
            <a:spLocks xmlns:a="http://schemas.openxmlformats.org/drawingml/2006/main" noGrp="1"/>
          </p:cNvSpPr>
          <p:nvPr/>
        </p:nvSpPr>
        <p:spPr>
          <a:xfrm xmlns:a="http://schemas.openxmlformats.org/drawingml/2006/main">
            <a:off x="495300" y="3448050"/>
            <a:ext cx="10287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9" name="">
            <a:extLst xmlns:a="http://schemas.openxmlformats.org/drawingml/2006/main">
              <a:ext uri="{FF2B5EF4-FFF2-40B4-BE49-F238E27FC236}">
                <a16:creationId xmlns:a16="http://schemas.microsoft.com/office/drawing/2014/main" id="{FB9775C2-B63D-446E-866A-80AA4F96C55A}"/>
              </a:ext>
            </a:extLst>
          </p:cNvPr>
          <p:cNvSpPr>
            <a:spLocks xmlns:a="http://schemas.openxmlformats.org/drawingml/2006/main" noGrp="1"/>
          </p:cNvSpPr>
          <p:nvPr/>
        </p:nvSpPr>
        <p:spPr>
          <a:xfrm xmlns:a="http://schemas.openxmlformats.org/drawingml/2006/main">
            <a:off x="609600" y="3524250"/>
            <a:ext cx="80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EXAMPLE</a:t>
            </a:r>
          </a:p>
        </p:txBody>
      </p:sp>
      <p:sp>
        <p:nvSpPr>
          <p:cNvPr id="10" name="">
            <a:extLst xmlns:a="http://schemas.openxmlformats.org/drawingml/2006/main">
              <a:ext uri="{FF2B5EF4-FFF2-40B4-BE49-F238E27FC236}">
                <a16:creationId xmlns:a16="http://schemas.microsoft.com/office/drawing/2014/main" id="{FFECA392-71E4-4C38-AB97-F1D61276BDB8}"/>
              </a:ext>
            </a:extLst>
          </p:cNvPr>
          <p:cNvSpPr>
            <a:spLocks xmlns:a="http://schemas.openxmlformats.org/drawingml/2006/main" noGrp="1"/>
          </p:cNvSpPr>
          <p:nvPr/>
        </p:nvSpPr>
        <p:spPr>
          <a:xfrm xmlns:a="http://schemas.openxmlformats.org/drawingml/2006/main">
            <a:off x="1524000" y="3448050"/>
            <a:ext cx="8763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1" name="">
            <a:extLst xmlns:a="http://schemas.openxmlformats.org/drawingml/2006/main">
              <a:ext uri="{FF2B5EF4-FFF2-40B4-BE49-F238E27FC236}">
                <a16:creationId xmlns:a16="http://schemas.microsoft.com/office/drawing/2014/main" id="{26A08185-BB99-4D81-A839-1AFC1A849D38}"/>
              </a:ext>
            </a:extLst>
          </p:cNvPr>
          <p:cNvSpPr>
            <a:spLocks xmlns:a="http://schemas.openxmlformats.org/drawingml/2006/main" noGrp="1"/>
          </p:cNvSpPr>
          <p:nvPr/>
        </p:nvSpPr>
        <p:spPr>
          <a:xfrm xmlns:a="http://schemas.openxmlformats.org/drawingml/2006/main">
            <a:off x="1638300" y="3524250"/>
            <a:ext cx="64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SHARED</a:t>
            </a:r>
          </a:p>
        </p:txBody>
      </p:sp>
      <p:sp>
        <p:nvSpPr>
          <p:cNvPr id="12" name="">
            <a:extLst xmlns:a="http://schemas.openxmlformats.org/drawingml/2006/main">
              <a:ext uri="{FF2B5EF4-FFF2-40B4-BE49-F238E27FC236}">
                <a16:creationId xmlns:a16="http://schemas.microsoft.com/office/drawing/2014/main" id="{14850979-D116-458F-9131-D6F7CDCEB5B9}"/>
              </a:ext>
            </a:extLst>
          </p:cNvPr>
          <p:cNvSpPr>
            <a:spLocks xmlns:a="http://schemas.openxmlformats.org/drawingml/2006/main" noGrp="1"/>
          </p:cNvSpPr>
          <p:nvPr/>
        </p:nvSpPr>
        <p:spPr>
          <a:xfrm xmlns:a="http://schemas.openxmlformats.org/drawingml/2006/main">
            <a:off x="2400300" y="3448050"/>
            <a:ext cx="13525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3" name="">
            <a:extLst xmlns:a="http://schemas.openxmlformats.org/drawingml/2006/main">
              <a:ext uri="{FF2B5EF4-FFF2-40B4-BE49-F238E27FC236}">
                <a16:creationId xmlns:a16="http://schemas.microsoft.com/office/drawing/2014/main" id="{62E6CCD1-3720-4461-B551-5A478E7AD4F0}"/>
              </a:ext>
            </a:extLst>
          </p:cNvPr>
          <p:cNvSpPr>
            <a:spLocks xmlns:a="http://schemas.openxmlformats.org/drawingml/2006/main" noGrp="1"/>
          </p:cNvSpPr>
          <p:nvPr/>
        </p:nvSpPr>
        <p:spPr>
          <a:xfrm xmlns:a="http://schemas.openxmlformats.org/drawingml/2006/main">
            <a:off x="2514600" y="35242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PAPERS (u,v)</a:t>
            </a:r>
          </a:p>
        </p:txBody>
      </p:sp>
      <p:sp>
        <p:nvSpPr>
          <p:cNvPr id="14" name="">
            <a:extLst xmlns:a="http://schemas.openxmlformats.org/drawingml/2006/main">
              <a:ext uri="{FF2B5EF4-FFF2-40B4-BE49-F238E27FC236}">
                <a16:creationId xmlns:a16="http://schemas.microsoft.com/office/drawing/2014/main" id="{B5941912-AD97-466A-9127-BC65BF3267AA}"/>
              </a:ext>
            </a:extLst>
          </p:cNvPr>
          <p:cNvSpPr>
            <a:spLocks xmlns:a="http://schemas.openxmlformats.org/drawingml/2006/main" noGrp="1"/>
          </p:cNvSpPr>
          <p:nvPr/>
        </p:nvSpPr>
        <p:spPr>
          <a:xfrm xmlns:a="http://schemas.openxmlformats.org/drawingml/2006/main">
            <a:off x="3752850" y="3448050"/>
            <a:ext cx="18859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5" name="">
            <a:extLst xmlns:a="http://schemas.openxmlformats.org/drawingml/2006/main">
              <a:ext uri="{FF2B5EF4-FFF2-40B4-BE49-F238E27FC236}">
                <a16:creationId xmlns:a16="http://schemas.microsoft.com/office/drawing/2014/main" id="{12AC906B-1F8A-4598-A9E7-0BCA7BFD6B7E}"/>
              </a:ext>
            </a:extLst>
          </p:cNvPr>
          <p:cNvSpPr>
            <a:spLocks xmlns:a="http://schemas.openxmlformats.org/drawingml/2006/main" noGrp="1"/>
          </p:cNvSpPr>
          <p:nvPr/>
        </p:nvSpPr>
        <p:spPr>
          <a:xfrm xmlns:a="http://schemas.openxmlformats.org/drawingml/2006/main">
            <a:off x="3867150" y="3524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RAW IMPRESSION</a:t>
            </a:r>
          </a:p>
        </p:txBody>
      </p:sp>
      <p:sp>
        <p:nvSpPr>
          <p:cNvPr id="16" name="">
            <a:extLst xmlns:a="http://schemas.openxmlformats.org/drawingml/2006/main">
              <a:ext uri="{FF2B5EF4-FFF2-40B4-BE49-F238E27FC236}">
                <a16:creationId xmlns:a16="http://schemas.microsoft.com/office/drawing/2014/main" id="{0F4B31CD-0784-4854-A530-85CBF7DC76D8}"/>
              </a:ext>
            </a:extLst>
          </p:cNvPr>
          <p:cNvSpPr>
            <a:spLocks xmlns:a="http://schemas.openxmlformats.org/drawingml/2006/main" noGrp="1"/>
          </p:cNvSpPr>
          <p:nvPr/>
        </p:nvSpPr>
        <p:spPr>
          <a:xfrm xmlns:a="http://schemas.openxmlformats.org/drawingml/2006/main">
            <a:off x="5638800" y="3448050"/>
            <a:ext cx="15811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7" name="">
            <a:extLst xmlns:a="http://schemas.openxmlformats.org/drawingml/2006/main">
              <a:ext uri="{FF2B5EF4-FFF2-40B4-BE49-F238E27FC236}">
                <a16:creationId xmlns:a16="http://schemas.microsoft.com/office/drawing/2014/main" id="{34BE4E3D-143F-48BA-A11B-91725A95C709}"/>
              </a:ext>
            </a:extLst>
          </p:cNvPr>
          <p:cNvSpPr>
            <a:spLocks xmlns:a="http://schemas.openxmlformats.org/drawingml/2006/main" noGrp="1"/>
          </p:cNvSpPr>
          <p:nvPr/>
        </p:nvSpPr>
        <p:spPr>
          <a:xfrm xmlns:a="http://schemas.openxmlformats.org/drawingml/2006/main">
            <a:off x="5753100" y="35242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NORMALIZED R</a:t>
            </a:r>
          </a:p>
        </p:txBody>
      </p:sp>
      <p:sp>
        <p:nvSpPr>
          <p:cNvPr id="18" name="">
            <a:extLst xmlns:a="http://schemas.openxmlformats.org/drawingml/2006/main">
              <a:ext uri="{FF2B5EF4-FFF2-40B4-BE49-F238E27FC236}">
                <a16:creationId xmlns:a16="http://schemas.microsoft.com/office/drawing/2014/main" id="{201C178E-5273-4EBF-B3D2-E5C22D352CF4}"/>
              </a:ext>
            </a:extLst>
          </p:cNvPr>
          <p:cNvSpPr>
            <a:spLocks xmlns:a="http://schemas.openxmlformats.org/drawingml/2006/main" noGrp="1"/>
          </p:cNvSpPr>
          <p:nvPr/>
        </p:nvSpPr>
        <p:spPr>
          <a:xfrm xmlns:a="http://schemas.openxmlformats.org/drawingml/2006/main">
            <a:off x="495300" y="3867150"/>
            <a:ext cx="1028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9" name="">
            <a:extLst xmlns:a="http://schemas.openxmlformats.org/drawingml/2006/main">
              <a:ext uri="{FF2B5EF4-FFF2-40B4-BE49-F238E27FC236}">
                <a16:creationId xmlns:a16="http://schemas.microsoft.com/office/drawing/2014/main" id="{9D9E6292-FB77-4F2E-8AB4-9449C1B59570}"/>
              </a:ext>
            </a:extLst>
          </p:cNvPr>
          <p:cNvSpPr>
            <a:spLocks xmlns:a="http://schemas.openxmlformats.org/drawingml/2006/main" noGrp="1"/>
          </p:cNvSpPr>
          <p:nvPr/>
        </p:nvSpPr>
        <p:spPr>
          <a:xfrm xmlns:a="http://schemas.openxmlformats.org/drawingml/2006/main">
            <a:off x="609600" y="3943350"/>
            <a:ext cx="800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A</a:t>
            </a:r>
          </a:p>
        </p:txBody>
      </p:sp>
      <p:sp>
        <p:nvSpPr>
          <p:cNvPr id="20" name="">
            <a:extLst xmlns:a="http://schemas.openxmlformats.org/drawingml/2006/main">
              <a:ext uri="{FF2B5EF4-FFF2-40B4-BE49-F238E27FC236}">
                <a16:creationId xmlns:a16="http://schemas.microsoft.com/office/drawing/2014/main" id="{98564117-2B69-44D7-90A8-FE6801736A77}"/>
              </a:ext>
            </a:extLst>
          </p:cNvPr>
          <p:cNvSpPr>
            <a:spLocks xmlns:a="http://schemas.openxmlformats.org/drawingml/2006/main" noGrp="1"/>
          </p:cNvSpPr>
          <p:nvPr/>
        </p:nvSpPr>
        <p:spPr>
          <a:xfrm xmlns:a="http://schemas.openxmlformats.org/drawingml/2006/main">
            <a:off x="1524000" y="3867150"/>
            <a:ext cx="8763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1" name="">
            <a:extLst xmlns:a="http://schemas.openxmlformats.org/drawingml/2006/main">
              <a:ext uri="{FF2B5EF4-FFF2-40B4-BE49-F238E27FC236}">
                <a16:creationId xmlns:a16="http://schemas.microsoft.com/office/drawing/2014/main" id="{960E15E7-4FEA-4EEB-A260-98E5BAA9A278}"/>
              </a:ext>
            </a:extLst>
          </p:cNvPr>
          <p:cNvSpPr>
            <a:spLocks xmlns:a="http://schemas.openxmlformats.org/drawingml/2006/main" noGrp="1"/>
          </p:cNvSpPr>
          <p:nvPr/>
        </p:nvSpPr>
        <p:spPr>
          <a:xfrm xmlns:a="http://schemas.openxmlformats.org/drawingml/2006/main">
            <a:off x="1638300" y="394335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AF87885F-B4A3-4004-9568-CCFB18298DCD}"/>
              </a:ext>
            </a:extLst>
          </p:cNvPr>
          <p:cNvSpPr>
            <a:spLocks xmlns:a="http://schemas.openxmlformats.org/drawingml/2006/main" noGrp="1"/>
          </p:cNvSpPr>
          <p:nvPr/>
        </p:nvSpPr>
        <p:spPr>
          <a:xfrm xmlns:a="http://schemas.openxmlformats.org/drawingml/2006/main">
            <a:off x="2400300" y="3867150"/>
            <a:ext cx="13525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3" name="">
            <a:extLst xmlns:a="http://schemas.openxmlformats.org/drawingml/2006/main">
              <a:ext uri="{FF2B5EF4-FFF2-40B4-BE49-F238E27FC236}">
                <a16:creationId xmlns:a16="http://schemas.microsoft.com/office/drawing/2014/main" id="{E32746AE-4D69-4FAA-B6D9-36AF85C48606}"/>
              </a:ext>
            </a:extLst>
          </p:cNvPr>
          <p:cNvSpPr>
            <a:spLocks xmlns:a="http://schemas.openxmlformats.org/drawingml/2006/main" noGrp="1"/>
          </p:cNvSpPr>
          <p:nvPr/>
        </p:nvSpPr>
        <p:spPr>
          <a:xfrm xmlns:a="http://schemas.openxmlformats.org/drawingml/2006/main">
            <a:off x="2514600" y="394335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4 and 12</a:t>
            </a:r>
          </a:p>
        </p:txBody>
      </p:sp>
      <p:sp>
        <p:nvSpPr>
          <p:cNvPr id="24" name="">
            <a:extLst xmlns:a="http://schemas.openxmlformats.org/drawingml/2006/main">
              <a:ext uri="{FF2B5EF4-FFF2-40B4-BE49-F238E27FC236}">
                <a16:creationId xmlns:a16="http://schemas.microsoft.com/office/drawing/2014/main" id="{D26CBCDF-0068-4634-AE85-140A0BC0707D}"/>
              </a:ext>
            </a:extLst>
          </p:cNvPr>
          <p:cNvSpPr>
            <a:spLocks xmlns:a="http://schemas.openxmlformats.org/drawingml/2006/main" noGrp="1"/>
          </p:cNvSpPr>
          <p:nvPr/>
        </p:nvSpPr>
        <p:spPr>
          <a:xfrm xmlns:a="http://schemas.openxmlformats.org/drawingml/2006/main">
            <a:off x="3752850" y="3867150"/>
            <a:ext cx="18859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5" name="">
            <a:extLst xmlns:a="http://schemas.openxmlformats.org/drawingml/2006/main">
              <a:ext uri="{FF2B5EF4-FFF2-40B4-BE49-F238E27FC236}">
                <a16:creationId xmlns:a16="http://schemas.microsoft.com/office/drawing/2014/main" id="{751F73B3-91A9-4263-99C0-0B595FB3D6ED}"/>
              </a:ext>
            </a:extLst>
          </p:cNvPr>
          <p:cNvSpPr>
            <a:spLocks xmlns:a="http://schemas.openxmlformats.org/drawingml/2006/main" noGrp="1"/>
          </p:cNvSpPr>
          <p:nvPr/>
        </p:nvSpPr>
        <p:spPr>
          <a:xfrm xmlns:a="http://schemas.openxmlformats.org/drawingml/2006/main">
            <a:off x="3867150" y="3943350"/>
            <a:ext cx="1657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moderate tie</a:t>
            </a:r>
          </a:p>
        </p:txBody>
      </p:sp>
      <p:sp>
        <p:nvSpPr>
          <p:cNvPr id="26" name="">
            <a:extLst xmlns:a="http://schemas.openxmlformats.org/drawingml/2006/main">
              <a:ext uri="{FF2B5EF4-FFF2-40B4-BE49-F238E27FC236}">
                <a16:creationId xmlns:a16="http://schemas.microsoft.com/office/drawing/2014/main" id="{B8DCF251-B586-4223-B355-259C486F1EF5}"/>
              </a:ext>
            </a:extLst>
          </p:cNvPr>
          <p:cNvSpPr>
            <a:spLocks xmlns:a="http://schemas.openxmlformats.org/drawingml/2006/main" noGrp="1"/>
          </p:cNvSpPr>
          <p:nvPr/>
        </p:nvSpPr>
        <p:spPr>
          <a:xfrm xmlns:a="http://schemas.openxmlformats.org/drawingml/2006/main">
            <a:off x="5638800" y="3867150"/>
            <a:ext cx="15811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7" name="">
            <a:extLst xmlns:a="http://schemas.openxmlformats.org/drawingml/2006/main">
              <a:ext uri="{FF2B5EF4-FFF2-40B4-BE49-F238E27FC236}">
                <a16:creationId xmlns:a16="http://schemas.microsoft.com/office/drawing/2014/main" id="{4F90994A-CDC7-4D42-93E7-77605C508FCD}"/>
              </a:ext>
            </a:extLst>
          </p:cNvPr>
          <p:cNvSpPr>
            <a:spLocks xmlns:a="http://schemas.openxmlformats.org/drawingml/2006/main" noGrp="1"/>
          </p:cNvSpPr>
          <p:nvPr/>
        </p:nvSpPr>
        <p:spPr>
          <a:xfrm xmlns:a="http://schemas.openxmlformats.org/drawingml/2006/main">
            <a:off x="5753100" y="3943350"/>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0.75</a:t>
            </a:r>
          </a:p>
        </p:txBody>
      </p:sp>
      <p:sp>
        <p:nvSpPr>
          <p:cNvPr id="28" name="">
            <a:extLst xmlns:a="http://schemas.openxmlformats.org/drawingml/2006/main">
              <a:ext uri="{FF2B5EF4-FFF2-40B4-BE49-F238E27FC236}">
                <a16:creationId xmlns:a16="http://schemas.microsoft.com/office/drawing/2014/main" id="{99B7EDDD-D07C-44F5-837C-CD6CB9FD3958}"/>
              </a:ext>
            </a:extLst>
          </p:cNvPr>
          <p:cNvSpPr>
            <a:spLocks xmlns:a="http://schemas.openxmlformats.org/drawingml/2006/main" noGrp="1"/>
          </p:cNvSpPr>
          <p:nvPr/>
        </p:nvSpPr>
        <p:spPr>
          <a:xfrm xmlns:a="http://schemas.openxmlformats.org/drawingml/2006/main">
            <a:off x="495300" y="4495800"/>
            <a:ext cx="102870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9" name="">
            <a:extLst xmlns:a="http://schemas.openxmlformats.org/drawingml/2006/main">
              <a:ext uri="{FF2B5EF4-FFF2-40B4-BE49-F238E27FC236}">
                <a16:creationId xmlns:a16="http://schemas.microsoft.com/office/drawing/2014/main" id="{CFF71721-AD01-42AA-9B12-2039A25539CD}"/>
              </a:ext>
            </a:extLst>
          </p:cNvPr>
          <p:cNvSpPr>
            <a:spLocks xmlns:a="http://schemas.openxmlformats.org/drawingml/2006/main" noGrp="1"/>
          </p:cNvSpPr>
          <p:nvPr/>
        </p:nvSpPr>
        <p:spPr>
          <a:xfrm xmlns:a="http://schemas.openxmlformats.org/drawingml/2006/main">
            <a:off x="609600" y="4572000"/>
            <a:ext cx="800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B</a:t>
            </a:r>
          </a:p>
        </p:txBody>
      </p:sp>
      <p:sp>
        <p:nvSpPr>
          <p:cNvPr id="30" name="">
            <a:extLst xmlns:a="http://schemas.openxmlformats.org/drawingml/2006/main">
              <a:ext uri="{FF2B5EF4-FFF2-40B4-BE49-F238E27FC236}">
                <a16:creationId xmlns:a16="http://schemas.microsoft.com/office/drawing/2014/main" id="{E5467FFD-F36B-422C-87AB-72F9F24F8C47}"/>
              </a:ext>
            </a:extLst>
          </p:cNvPr>
          <p:cNvSpPr>
            <a:spLocks xmlns:a="http://schemas.openxmlformats.org/drawingml/2006/main" noGrp="1"/>
          </p:cNvSpPr>
          <p:nvPr/>
        </p:nvSpPr>
        <p:spPr>
          <a:xfrm xmlns:a="http://schemas.openxmlformats.org/drawingml/2006/main">
            <a:off x="1524000" y="4495800"/>
            <a:ext cx="87630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1" name="">
            <a:extLst xmlns:a="http://schemas.openxmlformats.org/drawingml/2006/main">
              <a:ext uri="{FF2B5EF4-FFF2-40B4-BE49-F238E27FC236}">
                <a16:creationId xmlns:a16="http://schemas.microsoft.com/office/drawing/2014/main" id="{A4F0CFBA-1BD5-4C44-A73B-7DC1A9C0621F}"/>
              </a:ext>
            </a:extLst>
          </p:cNvPr>
          <p:cNvSpPr>
            <a:spLocks xmlns:a="http://schemas.openxmlformats.org/drawingml/2006/main" noGrp="1"/>
          </p:cNvSpPr>
          <p:nvPr/>
        </p:nvSpPr>
        <p:spPr>
          <a:xfrm xmlns:a="http://schemas.openxmlformats.org/drawingml/2006/main">
            <a:off x="1638300" y="457200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F718368D-E0D0-49F5-B561-48624E974A3B}"/>
              </a:ext>
            </a:extLst>
          </p:cNvPr>
          <p:cNvSpPr>
            <a:spLocks xmlns:a="http://schemas.openxmlformats.org/drawingml/2006/main" noGrp="1"/>
          </p:cNvSpPr>
          <p:nvPr/>
        </p:nvSpPr>
        <p:spPr>
          <a:xfrm xmlns:a="http://schemas.openxmlformats.org/drawingml/2006/main">
            <a:off x="2400300" y="4495800"/>
            <a:ext cx="13525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3" name="">
            <a:extLst xmlns:a="http://schemas.openxmlformats.org/drawingml/2006/main">
              <a:ext uri="{FF2B5EF4-FFF2-40B4-BE49-F238E27FC236}">
                <a16:creationId xmlns:a16="http://schemas.microsoft.com/office/drawing/2014/main" id="{BAD481D0-D91A-4D3C-9A9A-80680CA7EAEA}"/>
              </a:ext>
            </a:extLst>
          </p:cNvPr>
          <p:cNvSpPr>
            <a:spLocks xmlns:a="http://schemas.openxmlformats.org/drawingml/2006/main" noGrp="1"/>
          </p:cNvSpPr>
          <p:nvPr/>
        </p:nvSpPr>
        <p:spPr>
          <a:xfrm xmlns:a="http://schemas.openxmlformats.org/drawingml/2006/main">
            <a:off x="2514600" y="4572000"/>
            <a:ext cx="1123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30 and 20</a:t>
            </a:r>
          </a:p>
        </p:txBody>
      </p:sp>
      <p:sp>
        <p:nvSpPr>
          <p:cNvPr id="34" name="">
            <a:extLst xmlns:a="http://schemas.openxmlformats.org/drawingml/2006/main">
              <a:ext uri="{FF2B5EF4-FFF2-40B4-BE49-F238E27FC236}">
                <a16:creationId xmlns:a16="http://schemas.microsoft.com/office/drawing/2014/main" id="{8A90CA17-6407-466F-BCD0-D9595D071F7E}"/>
              </a:ext>
            </a:extLst>
          </p:cNvPr>
          <p:cNvSpPr>
            <a:spLocks xmlns:a="http://schemas.openxmlformats.org/drawingml/2006/main" noGrp="1"/>
          </p:cNvSpPr>
          <p:nvPr/>
        </p:nvSpPr>
        <p:spPr>
          <a:xfrm xmlns:a="http://schemas.openxmlformats.org/drawingml/2006/main">
            <a:off x="3752850" y="4495800"/>
            <a:ext cx="18859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5" name="">
            <a:extLst xmlns:a="http://schemas.openxmlformats.org/drawingml/2006/main">
              <a:ext uri="{FF2B5EF4-FFF2-40B4-BE49-F238E27FC236}">
                <a16:creationId xmlns:a16="http://schemas.microsoft.com/office/drawing/2014/main" id="{25C9A992-AFDD-4F8B-8655-DD62C161F9CD}"/>
              </a:ext>
            </a:extLst>
          </p:cNvPr>
          <p:cNvSpPr>
            <a:spLocks xmlns:a="http://schemas.openxmlformats.org/drawingml/2006/main" noGrp="1"/>
          </p:cNvSpPr>
          <p:nvPr/>
        </p:nvSpPr>
        <p:spPr>
          <a:xfrm xmlns:a="http://schemas.openxmlformats.org/drawingml/2006/main">
            <a:off x="3867150" y="4572000"/>
            <a:ext cx="1657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larger raw count</a:t>
            </a:r>
          </a:p>
        </p:txBody>
      </p:sp>
      <p:sp>
        <p:nvSpPr>
          <p:cNvPr id="36" name="">
            <a:extLst xmlns:a="http://schemas.openxmlformats.org/drawingml/2006/main">
              <a:ext uri="{FF2B5EF4-FFF2-40B4-BE49-F238E27FC236}">
                <a16:creationId xmlns:a16="http://schemas.microsoft.com/office/drawing/2014/main" id="{B01ECAC0-FD67-4E8D-BDA5-23C7838143BA}"/>
              </a:ext>
            </a:extLst>
          </p:cNvPr>
          <p:cNvSpPr>
            <a:spLocks xmlns:a="http://schemas.openxmlformats.org/drawingml/2006/main" noGrp="1"/>
          </p:cNvSpPr>
          <p:nvPr/>
        </p:nvSpPr>
        <p:spPr>
          <a:xfrm xmlns:a="http://schemas.openxmlformats.org/drawingml/2006/main">
            <a:off x="5638800" y="4495800"/>
            <a:ext cx="15811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7" name="">
            <a:extLst xmlns:a="http://schemas.openxmlformats.org/drawingml/2006/main">
              <a:ext uri="{FF2B5EF4-FFF2-40B4-BE49-F238E27FC236}">
                <a16:creationId xmlns:a16="http://schemas.microsoft.com/office/drawing/2014/main" id="{00ABC8FA-3FD8-4320-89A4-BE599EE9E36D}"/>
              </a:ext>
            </a:extLst>
          </p:cNvPr>
          <p:cNvSpPr>
            <a:spLocks xmlns:a="http://schemas.openxmlformats.org/drawingml/2006/main" noGrp="1"/>
          </p:cNvSpPr>
          <p:nvPr/>
        </p:nvSpPr>
        <p:spPr>
          <a:xfrm xmlns:a="http://schemas.openxmlformats.org/drawingml/2006/main">
            <a:off x="5753100" y="4572000"/>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0.25</a:t>
            </a:r>
          </a:p>
        </p:txBody>
      </p:sp>
      <p:sp>
        <p:nvSpPr>
          <p:cNvPr id="38" name="">
            <a:extLst xmlns:a="http://schemas.openxmlformats.org/drawingml/2006/main">
              <a:ext uri="{FF2B5EF4-FFF2-40B4-BE49-F238E27FC236}">
                <a16:creationId xmlns:a16="http://schemas.microsoft.com/office/drawing/2014/main" id="{3A936DEF-A9AB-4A84-94C8-7B270B6C33D4}"/>
              </a:ext>
            </a:extLst>
          </p:cNvPr>
          <p:cNvSpPr>
            <a:spLocks xmlns:a="http://schemas.openxmlformats.org/drawingml/2006/main" noGrp="1"/>
          </p:cNvSpPr>
          <p:nvPr/>
        </p:nvSpPr>
        <p:spPr>
          <a:xfrm xmlns:a="http://schemas.openxmlformats.org/drawingml/2006/main">
            <a:off x="495300" y="5305425"/>
            <a:ext cx="6724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8000"/>
              </a:lnSpc>
              <a:buNone/>
              <a:defRPr sz="1500" b="1" i="0">
                <a:solidFill>
                  <a:srgbClr val="B8663B"/>
                </a:solidFill>
                <a:latin typeface="Georgia"/>
                <a:ea typeface="Georgia"/>
                <a:cs typeface="Georgia"/>
              </a:defRPr>
            </a:pPr>
            <a:r>
              <a:rPr sz="1500" b="1" i="0">
                <a:solidFill>
                  <a:srgbClr val="B8663B"/>
                </a:solidFill>
                <a:latin typeface="Georgia"/>
                <a:ea typeface="Georgia"/>
                <a:cs typeface="Georgia"/>
              </a:rPr>
              <a:t>Example A is the more concentrated relationship even though it has fewer shared papers.</a:t>
            </a:r>
          </a:p>
        </p:txBody>
      </p:sp>
      <p:sp>
        <p:nvSpPr>
          <p:cNvPr id="39" name="">
            <a:extLst xmlns:a="http://schemas.openxmlformats.org/drawingml/2006/main">
              <a:ext uri="{FF2B5EF4-FFF2-40B4-BE49-F238E27FC236}">
                <a16:creationId xmlns:a16="http://schemas.microsoft.com/office/drawing/2014/main" id="{6D5C99A7-2212-443E-B045-DB4C245B8321}"/>
              </a:ext>
            </a:extLst>
          </p:cNvPr>
          <p:cNvSpPr>
            <a:spLocks xmlns:a="http://schemas.openxmlformats.org/drawingml/2006/main" noGrp="1"/>
          </p:cNvSpPr>
          <p:nvPr/>
        </p:nvSpPr>
        <p:spPr>
          <a:xfrm xmlns:a="http://schemas.openxmlformats.org/drawingml/2006/main">
            <a:off x="7696200" y="1790700"/>
            <a:ext cx="4000500" cy="3971925"/>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0" name="">
            <a:extLst xmlns:a="http://schemas.openxmlformats.org/drawingml/2006/main">
              <a:ext uri="{FF2B5EF4-FFF2-40B4-BE49-F238E27FC236}">
                <a16:creationId xmlns:a16="http://schemas.microsoft.com/office/drawing/2014/main" id="{8E75EC57-3DCF-43AB-B805-588D1A2392C1}"/>
              </a:ext>
            </a:extLst>
          </p:cNvPr>
          <p:cNvSpPr>
            <a:spLocks xmlns:a="http://schemas.openxmlformats.org/drawingml/2006/main" noGrp="1"/>
          </p:cNvSpPr>
          <p:nvPr/>
        </p:nvSpPr>
        <p:spPr>
          <a:xfrm xmlns:a="http://schemas.openxmlformats.org/drawingml/2006/main">
            <a:off x="7943850" y="2038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ADDITIONAL STRUCTURAL SIGNALS</a:t>
            </a:r>
          </a:p>
        </p:txBody>
      </p:sp>
      <p:sp>
        <p:nvSpPr>
          <p:cNvPr id="41" name="">
            <a:extLst xmlns:a="http://schemas.openxmlformats.org/drawingml/2006/main">
              <a:ext uri="{FF2B5EF4-FFF2-40B4-BE49-F238E27FC236}">
                <a16:creationId xmlns:a16="http://schemas.microsoft.com/office/drawing/2014/main" id="{7BF328F5-9619-4C14-B0A4-93FDD4FCCFAE}"/>
              </a:ext>
            </a:extLst>
          </p:cNvPr>
          <p:cNvSpPr>
            <a:spLocks xmlns:a="http://schemas.openxmlformats.org/drawingml/2006/main" noGrp="1"/>
          </p:cNvSpPr>
          <p:nvPr/>
        </p:nvSpPr>
        <p:spPr>
          <a:xfrm xmlns:a="http://schemas.openxmlformats.org/drawingml/2006/main">
            <a:off x="7943850" y="24669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03A4C"/>
                </a:solidFill>
                <a:latin typeface="Arial"/>
                <a:ea typeface="Arial"/>
                <a:cs typeface="Arial"/>
              </a:defRPr>
            </a:pPr>
            <a:r>
              <a:rPr sz="1350" b="1" i="0">
                <a:solidFill>
                  <a:srgbClr val="203A4C"/>
                </a:solidFill>
                <a:latin typeface="Arial"/>
                <a:ea typeface="Arial"/>
                <a:cs typeface="Arial"/>
              </a:rPr>
              <a:t>PPR toward AC</a:t>
            </a:r>
          </a:p>
        </p:txBody>
      </p:sp>
      <p:sp>
        <p:nvSpPr>
          <p:cNvPr id="42" name="">
            <a:extLst xmlns:a="http://schemas.openxmlformats.org/drawingml/2006/main">
              <a:ext uri="{FF2B5EF4-FFF2-40B4-BE49-F238E27FC236}">
                <a16:creationId xmlns:a16="http://schemas.microsoft.com/office/drawing/2014/main" id="{893CBF36-50F3-428E-A30E-C9C75FBF7ECB}"/>
              </a:ext>
            </a:extLst>
          </p:cNvPr>
          <p:cNvSpPr>
            <a:spLocks xmlns:a="http://schemas.openxmlformats.org/drawingml/2006/main" noGrp="1"/>
          </p:cNvSpPr>
          <p:nvPr/>
        </p:nvSpPr>
        <p:spPr>
          <a:xfrm xmlns:a="http://schemas.openxmlformats.org/drawingml/2006/main">
            <a:off x="7943850" y="2781300"/>
            <a:ext cx="335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06972"/>
                </a:solidFill>
                <a:latin typeface="Arial"/>
                <a:ea typeface="Arial"/>
                <a:cs typeface="Arial"/>
              </a:defRPr>
            </a:pPr>
            <a:r>
              <a:rPr sz="1275" b="0" i="0">
                <a:solidFill>
                  <a:srgbClr val="606972"/>
                </a:solidFill>
                <a:latin typeface="Arial"/>
                <a:ea typeface="Arial"/>
                <a:cs typeface="Arial"/>
              </a:rPr>
              <a:t>Proximity to AC-seeded authors through the weighted coauthor graph.</a:t>
            </a:r>
          </a:p>
        </p:txBody>
      </p:sp>
      <p:sp>
        <p:nvSpPr>
          <p:cNvPr id="43" name="">
            <a:extLst xmlns:a="http://schemas.openxmlformats.org/drawingml/2006/main">
              <a:ext uri="{FF2B5EF4-FFF2-40B4-BE49-F238E27FC236}">
                <a16:creationId xmlns:a16="http://schemas.microsoft.com/office/drawing/2014/main" id="{125DC8D4-E21B-46C5-A1EE-B7AB075275F3}"/>
              </a:ext>
            </a:extLst>
          </p:cNvPr>
          <p:cNvSpPr>
            <a:spLocks xmlns:a="http://schemas.openxmlformats.org/drawingml/2006/main" noGrp="1"/>
          </p:cNvSpPr>
          <p:nvPr/>
        </p:nvSpPr>
        <p:spPr>
          <a:xfrm xmlns:a="http://schemas.openxmlformats.org/drawingml/2006/main">
            <a:off x="7943850" y="3486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03A4C"/>
                </a:solidFill>
                <a:latin typeface="Arial"/>
                <a:ea typeface="Arial"/>
                <a:cs typeface="Arial"/>
              </a:defRPr>
            </a:pPr>
            <a:r>
              <a:rPr sz="1350" b="1" i="0">
                <a:solidFill>
                  <a:srgbClr val="203A4C"/>
                </a:solidFill>
                <a:latin typeface="Arial"/>
                <a:ea typeface="Arial"/>
                <a:cs typeface="Arial"/>
              </a:rPr>
              <a:t>Evans–Chen excess centrality</a:t>
            </a:r>
          </a:p>
        </p:txBody>
      </p:sp>
      <p:sp>
        <p:nvSpPr>
          <p:cNvPr id="44" name="">
            <a:extLst xmlns:a="http://schemas.openxmlformats.org/drawingml/2006/main">
              <a:ext uri="{FF2B5EF4-FFF2-40B4-BE49-F238E27FC236}">
                <a16:creationId xmlns:a16="http://schemas.microsoft.com/office/drawing/2014/main" id="{5EB18019-279B-4D57-99DC-10FFE9567F33}"/>
              </a:ext>
            </a:extLst>
          </p:cNvPr>
          <p:cNvSpPr>
            <a:spLocks xmlns:a="http://schemas.openxmlformats.org/drawingml/2006/main" noGrp="1"/>
          </p:cNvSpPr>
          <p:nvPr/>
        </p:nvSpPr>
        <p:spPr>
          <a:xfrm xmlns:a="http://schemas.openxmlformats.org/drawingml/2006/main">
            <a:off x="7943850" y="3800475"/>
            <a:ext cx="335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606972"/>
                </a:solidFill>
                <a:latin typeface="Arial"/>
                <a:ea typeface="Arial"/>
                <a:cs typeface="Arial"/>
              </a:defRPr>
            </a:pPr>
            <a:r>
              <a:rPr sz="1275" b="0" i="0">
                <a:solidFill>
                  <a:srgbClr val="606972"/>
                </a:solidFill>
                <a:latin typeface="Arial"/>
                <a:ea typeface="Arial"/>
                <a:cs typeface="Arial"/>
              </a:rPr>
              <a:t>Highlights authors whose collaborative reach is larger than degree alone would predict.</a:t>
            </a:r>
          </a:p>
        </p:txBody>
      </p:sp>
      <p:sp>
        <p:nvSpPr>
          <p:cNvPr id="45" name="">
            <a:extLst xmlns:a="http://schemas.openxmlformats.org/drawingml/2006/main">
              <a:ext uri="{FF2B5EF4-FFF2-40B4-BE49-F238E27FC236}">
                <a16:creationId xmlns:a16="http://schemas.microsoft.com/office/drawing/2014/main" id="{CA3BD7B1-A71D-49AF-9150-921B68BCE328}"/>
              </a:ext>
            </a:extLst>
          </p:cNvPr>
          <p:cNvSpPr>
            <a:spLocks xmlns:a="http://schemas.openxmlformats.org/drawingml/2006/main" noGrp="1"/>
          </p:cNvSpPr>
          <p:nvPr/>
        </p:nvSpPr>
        <p:spPr>
          <a:xfrm xmlns:a="http://schemas.openxmlformats.org/drawingml/2006/main">
            <a:off x="7943850" y="45053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03A4C"/>
                </a:solidFill>
                <a:latin typeface="Arial"/>
                <a:ea typeface="Arial"/>
                <a:cs typeface="Arial"/>
              </a:defRPr>
            </a:pPr>
            <a:r>
              <a:rPr sz="1350" b="1" i="0">
                <a:solidFill>
                  <a:srgbClr val="203A4C"/>
                </a:solidFill>
                <a:latin typeface="Arial"/>
                <a:ea typeface="Arial"/>
                <a:cs typeface="Arial"/>
              </a:rPr>
              <a:t>Bridge score</a:t>
            </a:r>
          </a:p>
        </p:txBody>
      </p:sp>
      <p:sp>
        <p:nvSpPr>
          <p:cNvPr id="46" name="">
            <a:extLst xmlns:a="http://schemas.openxmlformats.org/drawingml/2006/main">
              <a:ext uri="{FF2B5EF4-FFF2-40B4-BE49-F238E27FC236}">
                <a16:creationId xmlns:a16="http://schemas.microsoft.com/office/drawing/2014/main" id="{B333E939-DE5C-4E2F-B97B-6D9907033CD6}"/>
              </a:ext>
            </a:extLst>
          </p:cNvPr>
          <p:cNvSpPr>
            <a:spLocks xmlns:a="http://schemas.openxmlformats.org/drawingml/2006/main" noGrp="1"/>
          </p:cNvSpPr>
          <p:nvPr/>
        </p:nvSpPr>
        <p:spPr>
          <a:xfrm xmlns:a="http://schemas.openxmlformats.org/drawingml/2006/main">
            <a:off x="7943850" y="4838700"/>
            <a:ext cx="335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57A63"/>
                </a:solidFill>
                <a:latin typeface="Arial"/>
                <a:ea typeface="Arial"/>
                <a:cs typeface="Arial"/>
              </a:defRPr>
            </a:pPr>
            <a:r>
              <a:rPr sz="1350" b="1" i="0">
                <a:solidFill>
                  <a:srgbClr val="557A63"/>
                </a:solidFill>
                <a:latin typeface="Arial"/>
                <a:ea typeface="Arial"/>
                <a:cs typeface="Arial"/>
              </a:rPr>
              <a:t>B(a) = min[1, PPRAC(a) × max(cnorm(a),0) × SDL diversity(a)]</a:t>
            </a:r>
          </a:p>
        </p:txBody>
      </p:sp>
      <p:sp>
        <p:nvSpPr>
          <p:cNvPr id="47" name="">
            <a:extLst xmlns:a="http://schemas.openxmlformats.org/drawingml/2006/main">
              <a:ext uri="{FF2B5EF4-FFF2-40B4-BE49-F238E27FC236}">
                <a16:creationId xmlns:a16="http://schemas.microsoft.com/office/drawing/2014/main" id="{D71446A1-622C-42A5-A28A-C9A20AA3DB3A}"/>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48" name="">
            <a:extLst xmlns:a="http://schemas.openxmlformats.org/drawingml/2006/main">
              <a:ext uri="{FF2B5EF4-FFF2-40B4-BE49-F238E27FC236}">
                <a16:creationId xmlns:a16="http://schemas.microsoft.com/office/drawing/2014/main" id="{2F0E9DCF-1E86-4F98-91EA-9C1AF56F5AD3}"/>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49" name="">
            <a:extLst xmlns:a="http://schemas.openxmlformats.org/drawingml/2006/main">
              <a:ext uri="{FF2B5EF4-FFF2-40B4-BE49-F238E27FC236}">
                <a16:creationId xmlns:a16="http://schemas.microsoft.com/office/drawing/2014/main" id="{86B856B5-5BB8-47E5-A0F2-7FCE8F823A52}"/>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559564174"/>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91F6D2B-ECD6-46C2-A257-C43918E061BC}"/>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CONNECTION INTELLIGENCE</a:t>
            </a:r>
          </a:p>
        </p:txBody>
      </p:sp>
      <p:sp>
        <p:nvSpPr>
          <p:cNvPr id="2" name="">
            <a:extLst xmlns:a="http://schemas.openxmlformats.org/drawingml/2006/main">
              <a:ext uri="{FF2B5EF4-FFF2-40B4-BE49-F238E27FC236}">
                <a16:creationId xmlns:a16="http://schemas.microsoft.com/office/drawing/2014/main" id="{DEADB13A-2BEA-4E03-BEA9-767C13E5F05E}"/>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C3EBEF6B-DC17-4F3B-8DB9-1C5C82A91F56}"/>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7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AC can rank the same network for different questions</a:t>
            </a:r>
          </a:p>
        </p:txBody>
      </p:sp>
      <p:sp>
        <p:nvSpPr>
          <p:cNvPr id="4" name="">
            <a:extLst xmlns:a="http://schemas.openxmlformats.org/drawingml/2006/main">
              <a:ext uri="{FF2B5EF4-FFF2-40B4-BE49-F238E27FC236}">
                <a16:creationId xmlns:a16="http://schemas.microsoft.com/office/drawing/2014/main" id="{6612C1F6-4CB6-4986-ACCD-9EF6F8F238B6}"/>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AABCDF7C-A0A2-46E5-8914-D7A65D87E77E}"/>
              </a:ext>
            </a:extLst>
          </p:cNvPr>
          <p:cNvSpPr>
            <a:spLocks xmlns:a="http://schemas.openxmlformats.org/drawingml/2006/main" noGrp="1"/>
          </p:cNvSpPr>
          <p:nvPr/>
        </p:nvSpPr>
        <p:spPr>
          <a:xfrm xmlns:a="http://schemas.openxmlformats.org/drawingml/2006/main">
            <a:off x="495300" y="1752600"/>
            <a:ext cx="11201400" cy="70485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AE6478A-F241-41E1-A816-5FA74895F23A}"/>
              </a:ext>
            </a:extLst>
          </p:cNvPr>
          <p:cNvSpPr>
            <a:spLocks xmlns:a="http://schemas.openxmlformats.org/drawingml/2006/main" noGrp="1"/>
          </p:cNvSpPr>
          <p:nvPr/>
        </p:nvSpPr>
        <p:spPr>
          <a:xfrm xmlns:a="http://schemas.openxmlformats.org/drawingml/2006/main">
            <a:off x="704850" y="1895475"/>
            <a:ext cx="10782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725" b="1" i="0">
                <a:solidFill>
                  <a:srgbClr val="FFFFFF"/>
                </a:solidFill>
                <a:latin typeface="Arial"/>
                <a:ea typeface="Arial"/>
                <a:cs typeface="Arial"/>
              </a:defRPr>
            </a:pPr>
            <a:r>
              <a:rPr sz="1725" b="1" i="0">
                <a:solidFill>
                  <a:srgbClr val="FFFFFF"/>
                </a:solidFill>
                <a:latin typeface="Arial"/>
                <a:ea typeface="Arial"/>
                <a:cs typeface="Arial"/>
              </a:rPr>
              <a:t>Iₚ(a) = Σₖ wₚ,ₖ × xₖ(a)</a:t>
            </a:r>
          </a:p>
        </p:txBody>
      </p:sp>
      <p:sp>
        <p:nvSpPr>
          <p:cNvPr id="7" name="">
            <a:extLst xmlns:a="http://schemas.openxmlformats.org/drawingml/2006/main">
              <a:ext uri="{FF2B5EF4-FFF2-40B4-BE49-F238E27FC236}">
                <a16:creationId xmlns:a16="http://schemas.microsoft.com/office/drawing/2014/main" id="{20536700-26A2-489C-8448-52A20FB82507}"/>
              </a:ext>
            </a:extLst>
          </p:cNvPr>
          <p:cNvSpPr>
            <a:spLocks xmlns:a="http://schemas.openxmlformats.org/drawingml/2006/main" noGrp="1"/>
          </p:cNvSpPr>
          <p:nvPr/>
        </p:nvSpPr>
        <p:spPr>
          <a:xfrm xmlns:a="http://schemas.openxmlformats.org/drawingml/2006/main">
            <a:off x="495300" y="2771775"/>
            <a:ext cx="20955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8" name="">
            <a:extLst xmlns:a="http://schemas.openxmlformats.org/drawingml/2006/main">
              <a:ext uri="{FF2B5EF4-FFF2-40B4-BE49-F238E27FC236}">
                <a16:creationId xmlns:a16="http://schemas.microsoft.com/office/drawing/2014/main" id="{35351B62-C829-4405-8461-1364174FB588}"/>
              </a:ext>
            </a:extLst>
          </p:cNvPr>
          <p:cNvSpPr>
            <a:spLocks xmlns:a="http://schemas.openxmlformats.org/drawingml/2006/main" noGrp="1"/>
          </p:cNvSpPr>
          <p:nvPr/>
        </p:nvSpPr>
        <p:spPr>
          <a:xfrm xmlns:a="http://schemas.openxmlformats.org/drawingml/2006/main">
            <a:off x="609600" y="284797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PROFILE</a:t>
            </a:r>
          </a:p>
        </p:txBody>
      </p:sp>
      <p:sp>
        <p:nvSpPr>
          <p:cNvPr id="9" name="">
            <a:extLst xmlns:a="http://schemas.openxmlformats.org/drawingml/2006/main">
              <a:ext uri="{FF2B5EF4-FFF2-40B4-BE49-F238E27FC236}">
                <a16:creationId xmlns:a16="http://schemas.microsoft.com/office/drawing/2014/main" id="{AC1E6D94-E6B9-43A0-AFC5-E96859D01E92}"/>
              </a:ext>
            </a:extLst>
          </p:cNvPr>
          <p:cNvSpPr>
            <a:spLocks xmlns:a="http://schemas.openxmlformats.org/drawingml/2006/main" noGrp="1"/>
          </p:cNvSpPr>
          <p:nvPr/>
        </p:nvSpPr>
        <p:spPr>
          <a:xfrm xmlns:a="http://schemas.openxmlformats.org/drawingml/2006/main">
            <a:off x="2590800" y="2771775"/>
            <a:ext cx="40957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0" name="">
            <a:extLst xmlns:a="http://schemas.openxmlformats.org/drawingml/2006/main">
              <a:ext uri="{FF2B5EF4-FFF2-40B4-BE49-F238E27FC236}">
                <a16:creationId xmlns:a16="http://schemas.microsoft.com/office/drawing/2014/main" id="{DC69429C-6BD5-4B2C-9BE6-C9EA05762866}"/>
              </a:ext>
            </a:extLst>
          </p:cNvPr>
          <p:cNvSpPr>
            <a:spLocks xmlns:a="http://schemas.openxmlformats.org/drawingml/2006/main" noGrp="1"/>
          </p:cNvSpPr>
          <p:nvPr/>
        </p:nvSpPr>
        <p:spPr>
          <a:xfrm xmlns:a="http://schemas.openxmlformats.org/drawingml/2006/main">
            <a:off x="2705100" y="2847975"/>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PRIMARY QUESTION</a:t>
            </a:r>
          </a:p>
        </p:txBody>
      </p:sp>
      <p:sp>
        <p:nvSpPr>
          <p:cNvPr id="11" name="">
            <a:extLst xmlns:a="http://schemas.openxmlformats.org/drawingml/2006/main">
              <a:ext uri="{FF2B5EF4-FFF2-40B4-BE49-F238E27FC236}">
                <a16:creationId xmlns:a16="http://schemas.microsoft.com/office/drawing/2014/main" id="{108C50CF-EDCB-47EE-8EC8-E4E60FB6C8D5}"/>
              </a:ext>
            </a:extLst>
          </p:cNvPr>
          <p:cNvSpPr>
            <a:spLocks xmlns:a="http://schemas.openxmlformats.org/drawingml/2006/main" noGrp="1"/>
          </p:cNvSpPr>
          <p:nvPr/>
        </p:nvSpPr>
        <p:spPr>
          <a:xfrm xmlns:a="http://schemas.openxmlformats.org/drawingml/2006/main">
            <a:off x="6686550" y="2771775"/>
            <a:ext cx="50101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2" name="">
            <a:extLst xmlns:a="http://schemas.openxmlformats.org/drawingml/2006/main">
              <a:ext uri="{FF2B5EF4-FFF2-40B4-BE49-F238E27FC236}">
                <a16:creationId xmlns:a16="http://schemas.microsoft.com/office/drawing/2014/main" id="{62E844B2-9CD0-4BC7-8D48-94CBA468DC64}"/>
              </a:ext>
            </a:extLst>
          </p:cNvPr>
          <p:cNvSpPr>
            <a:spLocks xmlns:a="http://schemas.openxmlformats.org/drawingml/2006/main" noGrp="1"/>
          </p:cNvSpPr>
          <p:nvPr/>
        </p:nvSpPr>
        <p:spPr>
          <a:xfrm xmlns:a="http://schemas.openxmlformats.org/drawingml/2006/main">
            <a:off x="6800850" y="2847975"/>
            <a:ext cx="4781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NON-ZERO WEIGHTS</a:t>
            </a:r>
          </a:p>
        </p:txBody>
      </p:sp>
      <p:sp>
        <p:nvSpPr>
          <p:cNvPr id="13" name="">
            <a:extLst xmlns:a="http://schemas.openxmlformats.org/drawingml/2006/main">
              <a:ext uri="{FF2B5EF4-FFF2-40B4-BE49-F238E27FC236}">
                <a16:creationId xmlns:a16="http://schemas.microsoft.com/office/drawing/2014/main" id="{EB767499-8631-482B-8014-9EBE7F7BC3AC}"/>
              </a:ext>
            </a:extLst>
          </p:cNvPr>
          <p:cNvSpPr>
            <a:spLocks xmlns:a="http://schemas.openxmlformats.org/drawingml/2006/main" noGrp="1"/>
          </p:cNvSpPr>
          <p:nvPr/>
        </p:nvSpPr>
        <p:spPr>
          <a:xfrm xmlns:a="http://schemas.openxmlformats.org/drawingml/2006/main">
            <a:off x="495300" y="3190875"/>
            <a:ext cx="2095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C025B77F-A83F-4A41-98D2-6D541AE2681D}"/>
              </a:ext>
            </a:extLst>
          </p:cNvPr>
          <p:cNvSpPr>
            <a:spLocks xmlns:a="http://schemas.openxmlformats.org/drawingml/2006/main" noGrp="1"/>
          </p:cNvSpPr>
          <p:nvPr/>
        </p:nvSpPr>
        <p:spPr>
          <a:xfrm xmlns:a="http://schemas.openxmlformats.org/drawingml/2006/main">
            <a:off x="609600" y="32670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AC attribution</a:t>
            </a:r>
          </a:p>
        </p:txBody>
      </p:sp>
      <p:sp>
        <p:nvSpPr>
          <p:cNvPr id="15" name="">
            <a:extLst xmlns:a="http://schemas.openxmlformats.org/drawingml/2006/main">
              <a:ext uri="{FF2B5EF4-FFF2-40B4-BE49-F238E27FC236}">
                <a16:creationId xmlns:a16="http://schemas.microsoft.com/office/drawing/2014/main" id="{38C120BC-2043-4D66-82F1-108AA92541FB}"/>
              </a:ext>
            </a:extLst>
          </p:cNvPr>
          <p:cNvSpPr>
            <a:spLocks xmlns:a="http://schemas.openxmlformats.org/drawingml/2006/main" noGrp="1"/>
          </p:cNvSpPr>
          <p:nvPr/>
        </p:nvSpPr>
        <p:spPr>
          <a:xfrm xmlns:a="http://schemas.openxmlformats.org/drawingml/2006/main">
            <a:off x="2590800" y="3190875"/>
            <a:ext cx="4095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036EDCD7-1A54-49E0-9A38-624501AA5CCA}"/>
              </a:ext>
            </a:extLst>
          </p:cNvPr>
          <p:cNvSpPr>
            <a:spLocks xmlns:a="http://schemas.openxmlformats.org/drawingml/2006/main" noGrp="1"/>
          </p:cNvSpPr>
          <p:nvPr/>
        </p:nvSpPr>
        <p:spPr>
          <a:xfrm xmlns:a="http://schemas.openxmlformats.org/drawingml/2006/main">
            <a:off x="2705100" y="326707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Who is structurally closest to AC work?</a:t>
            </a:r>
          </a:p>
        </p:txBody>
      </p:sp>
      <p:sp>
        <p:nvSpPr>
          <p:cNvPr id="17" name="">
            <a:extLst xmlns:a="http://schemas.openxmlformats.org/drawingml/2006/main">
              <a:ext uri="{FF2B5EF4-FFF2-40B4-BE49-F238E27FC236}">
                <a16:creationId xmlns:a16="http://schemas.microsoft.com/office/drawing/2014/main" id="{DC894CC2-8479-4A9F-B55C-4216C5DC8F21}"/>
              </a:ext>
            </a:extLst>
          </p:cNvPr>
          <p:cNvSpPr>
            <a:spLocks xmlns:a="http://schemas.openxmlformats.org/drawingml/2006/main" noGrp="1"/>
          </p:cNvSpPr>
          <p:nvPr/>
        </p:nvSpPr>
        <p:spPr>
          <a:xfrm xmlns:a="http://schemas.openxmlformats.org/drawingml/2006/main">
            <a:off x="6686550" y="3190875"/>
            <a:ext cx="50101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48EBDE44-0CD5-4BD1-8C13-7DCC1900A2B3}"/>
              </a:ext>
            </a:extLst>
          </p:cNvPr>
          <p:cNvSpPr>
            <a:spLocks xmlns:a="http://schemas.openxmlformats.org/drawingml/2006/main" noGrp="1"/>
          </p:cNvSpPr>
          <p:nvPr/>
        </p:nvSpPr>
        <p:spPr>
          <a:xfrm xmlns:a="http://schemas.openxmlformats.org/drawingml/2006/main">
            <a:off x="6800850" y="3267075"/>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AC proximity .55 · relationship .20 · citation .15 · recency .10</a:t>
            </a:r>
          </a:p>
        </p:txBody>
      </p:sp>
      <p:sp>
        <p:nvSpPr>
          <p:cNvPr id="19" name="">
            <a:extLst xmlns:a="http://schemas.openxmlformats.org/drawingml/2006/main">
              <a:ext uri="{FF2B5EF4-FFF2-40B4-BE49-F238E27FC236}">
                <a16:creationId xmlns:a16="http://schemas.microsoft.com/office/drawing/2014/main" id="{1CD6539E-008D-4762-96F8-32C4969E30B7}"/>
              </a:ext>
            </a:extLst>
          </p:cNvPr>
          <p:cNvSpPr>
            <a:spLocks xmlns:a="http://schemas.openxmlformats.org/drawingml/2006/main" noGrp="1"/>
          </p:cNvSpPr>
          <p:nvPr/>
        </p:nvSpPr>
        <p:spPr>
          <a:xfrm xmlns:a="http://schemas.openxmlformats.org/drawingml/2006/main">
            <a:off x="495300" y="3743325"/>
            <a:ext cx="209550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90A1A171-1286-4753-B846-80CFC46D1679}"/>
              </a:ext>
            </a:extLst>
          </p:cNvPr>
          <p:cNvSpPr>
            <a:spLocks xmlns:a="http://schemas.openxmlformats.org/drawingml/2006/main" noGrp="1"/>
          </p:cNvSpPr>
          <p:nvPr/>
        </p:nvSpPr>
        <p:spPr>
          <a:xfrm xmlns:a="http://schemas.openxmlformats.org/drawingml/2006/main">
            <a:off x="609600" y="381952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Bridge builders</a:t>
            </a:r>
          </a:p>
        </p:txBody>
      </p:sp>
      <p:sp>
        <p:nvSpPr>
          <p:cNvPr id="21" name="">
            <a:extLst xmlns:a="http://schemas.openxmlformats.org/drawingml/2006/main">
              <a:ext uri="{FF2B5EF4-FFF2-40B4-BE49-F238E27FC236}">
                <a16:creationId xmlns:a16="http://schemas.microsoft.com/office/drawing/2014/main" id="{BF34F6A8-88EA-4486-8D6F-B5620BCAFD51}"/>
              </a:ext>
            </a:extLst>
          </p:cNvPr>
          <p:cNvSpPr>
            <a:spLocks xmlns:a="http://schemas.openxmlformats.org/drawingml/2006/main" noGrp="1"/>
          </p:cNvSpPr>
          <p:nvPr/>
        </p:nvSpPr>
        <p:spPr>
          <a:xfrm xmlns:a="http://schemas.openxmlformats.org/drawingml/2006/main">
            <a:off x="2590800" y="3743325"/>
            <a:ext cx="40957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2" name="">
            <a:extLst xmlns:a="http://schemas.openxmlformats.org/drawingml/2006/main">
              <a:ext uri="{FF2B5EF4-FFF2-40B4-BE49-F238E27FC236}">
                <a16:creationId xmlns:a16="http://schemas.microsoft.com/office/drawing/2014/main" id="{A5A6ADE0-D4B4-4529-A32D-EF436524DAE0}"/>
              </a:ext>
            </a:extLst>
          </p:cNvPr>
          <p:cNvSpPr>
            <a:spLocks xmlns:a="http://schemas.openxmlformats.org/drawingml/2006/main" noGrp="1"/>
          </p:cNvSpPr>
          <p:nvPr/>
        </p:nvSpPr>
        <p:spPr>
          <a:xfrm xmlns:a="http://schemas.openxmlformats.org/drawingml/2006/main">
            <a:off x="2705100" y="381952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Who connects AC-adjacent communities across SDL contexts?</a:t>
            </a:r>
          </a:p>
        </p:txBody>
      </p:sp>
      <p:sp>
        <p:nvSpPr>
          <p:cNvPr id="23" name="">
            <a:extLst xmlns:a="http://schemas.openxmlformats.org/drawingml/2006/main">
              <a:ext uri="{FF2B5EF4-FFF2-40B4-BE49-F238E27FC236}">
                <a16:creationId xmlns:a16="http://schemas.microsoft.com/office/drawing/2014/main" id="{3A773AB4-1E35-4F5D-B21B-966152BF0DF8}"/>
              </a:ext>
            </a:extLst>
          </p:cNvPr>
          <p:cNvSpPr>
            <a:spLocks xmlns:a="http://schemas.openxmlformats.org/drawingml/2006/main" noGrp="1"/>
          </p:cNvSpPr>
          <p:nvPr/>
        </p:nvSpPr>
        <p:spPr>
          <a:xfrm xmlns:a="http://schemas.openxmlformats.org/drawingml/2006/main">
            <a:off x="6686550" y="3743325"/>
            <a:ext cx="50101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4" name="">
            <a:extLst xmlns:a="http://schemas.openxmlformats.org/drawingml/2006/main">
              <a:ext uri="{FF2B5EF4-FFF2-40B4-BE49-F238E27FC236}">
                <a16:creationId xmlns:a16="http://schemas.microsoft.com/office/drawing/2014/main" id="{5BBDCE72-D8EE-4A0E-96D0-418B8DA6CEAE}"/>
              </a:ext>
            </a:extLst>
          </p:cNvPr>
          <p:cNvSpPr>
            <a:spLocks xmlns:a="http://schemas.openxmlformats.org/drawingml/2006/main" noGrp="1"/>
          </p:cNvSpPr>
          <p:nvPr/>
        </p:nvSpPr>
        <p:spPr>
          <a:xfrm xmlns:a="http://schemas.openxmlformats.org/drawingml/2006/main">
            <a:off x="6800850" y="3819525"/>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AC proximity .35 · excess centrality .30 · SDL diversity .25 · relationship .10</a:t>
            </a:r>
          </a:p>
        </p:txBody>
      </p:sp>
      <p:sp>
        <p:nvSpPr>
          <p:cNvPr id="25" name="">
            <a:extLst xmlns:a="http://schemas.openxmlformats.org/drawingml/2006/main">
              <a:ext uri="{FF2B5EF4-FFF2-40B4-BE49-F238E27FC236}">
                <a16:creationId xmlns:a16="http://schemas.microsoft.com/office/drawing/2014/main" id="{0ADEFF58-DA18-4AAE-B489-DAF6D7923EC1}"/>
              </a:ext>
            </a:extLst>
          </p:cNvPr>
          <p:cNvSpPr>
            <a:spLocks xmlns:a="http://schemas.openxmlformats.org/drawingml/2006/main" noGrp="1"/>
          </p:cNvSpPr>
          <p:nvPr/>
        </p:nvSpPr>
        <p:spPr>
          <a:xfrm xmlns:a="http://schemas.openxmlformats.org/drawingml/2006/main">
            <a:off x="495300" y="4295775"/>
            <a:ext cx="2095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6" name="">
            <a:extLst xmlns:a="http://schemas.openxmlformats.org/drawingml/2006/main">
              <a:ext uri="{FF2B5EF4-FFF2-40B4-BE49-F238E27FC236}">
                <a16:creationId xmlns:a16="http://schemas.microsoft.com/office/drawing/2014/main" id="{B9F81EEF-6B83-4BD1-BBCB-A1AFE4E9B5A3}"/>
              </a:ext>
            </a:extLst>
          </p:cNvPr>
          <p:cNvSpPr>
            <a:spLocks xmlns:a="http://schemas.openxmlformats.org/drawingml/2006/main" noGrp="1"/>
          </p:cNvSpPr>
          <p:nvPr/>
        </p:nvSpPr>
        <p:spPr>
          <a:xfrm xmlns:a="http://schemas.openxmlformats.org/drawingml/2006/main">
            <a:off x="609600" y="43719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Institution hubs</a:t>
            </a:r>
          </a:p>
        </p:txBody>
      </p:sp>
      <p:sp>
        <p:nvSpPr>
          <p:cNvPr id="27" name="">
            <a:extLst xmlns:a="http://schemas.openxmlformats.org/drawingml/2006/main">
              <a:ext uri="{FF2B5EF4-FFF2-40B4-BE49-F238E27FC236}">
                <a16:creationId xmlns:a16="http://schemas.microsoft.com/office/drawing/2014/main" id="{BF8DE24A-8F98-4131-BFB4-BB556C7E4FB2}"/>
              </a:ext>
            </a:extLst>
          </p:cNvPr>
          <p:cNvSpPr>
            <a:spLocks xmlns:a="http://schemas.openxmlformats.org/drawingml/2006/main" noGrp="1"/>
          </p:cNvSpPr>
          <p:nvPr/>
        </p:nvSpPr>
        <p:spPr>
          <a:xfrm xmlns:a="http://schemas.openxmlformats.org/drawingml/2006/main">
            <a:off x="2590800" y="4295775"/>
            <a:ext cx="4095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8" name="">
            <a:extLst xmlns:a="http://schemas.openxmlformats.org/drawingml/2006/main">
              <a:ext uri="{FF2B5EF4-FFF2-40B4-BE49-F238E27FC236}">
                <a16:creationId xmlns:a16="http://schemas.microsoft.com/office/drawing/2014/main" id="{580FC281-7C0B-49CA-B628-815DAED0635B}"/>
              </a:ext>
            </a:extLst>
          </p:cNvPr>
          <p:cNvSpPr>
            <a:spLocks xmlns:a="http://schemas.openxmlformats.org/drawingml/2006/main" noGrp="1"/>
          </p:cNvSpPr>
          <p:nvPr/>
        </p:nvSpPr>
        <p:spPr>
          <a:xfrm xmlns:a="http://schemas.openxmlformats.org/drawingml/2006/main">
            <a:off x="2705100" y="437197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Who sustains institution-spanning collaboration?</a:t>
            </a:r>
          </a:p>
        </p:txBody>
      </p:sp>
      <p:sp>
        <p:nvSpPr>
          <p:cNvPr id="29" name="">
            <a:extLst xmlns:a="http://schemas.openxmlformats.org/drawingml/2006/main">
              <a:ext uri="{FF2B5EF4-FFF2-40B4-BE49-F238E27FC236}">
                <a16:creationId xmlns:a16="http://schemas.microsoft.com/office/drawing/2014/main" id="{E468EAB3-BD38-4767-B9A2-C7524D9F0EF1}"/>
              </a:ext>
            </a:extLst>
          </p:cNvPr>
          <p:cNvSpPr>
            <a:spLocks xmlns:a="http://schemas.openxmlformats.org/drawingml/2006/main" noGrp="1"/>
          </p:cNvSpPr>
          <p:nvPr/>
        </p:nvSpPr>
        <p:spPr>
          <a:xfrm xmlns:a="http://schemas.openxmlformats.org/drawingml/2006/main">
            <a:off x="6686550" y="4295775"/>
            <a:ext cx="50101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0" name="">
            <a:extLst xmlns:a="http://schemas.openxmlformats.org/drawingml/2006/main">
              <a:ext uri="{FF2B5EF4-FFF2-40B4-BE49-F238E27FC236}">
                <a16:creationId xmlns:a16="http://schemas.microsoft.com/office/drawing/2014/main" id="{80A7C6CD-AFD7-40C5-851C-3E53F325035C}"/>
              </a:ext>
            </a:extLst>
          </p:cNvPr>
          <p:cNvSpPr>
            <a:spLocks xmlns:a="http://schemas.openxmlformats.org/drawingml/2006/main" noGrp="1"/>
          </p:cNvSpPr>
          <p:nvPr/>
        </p:nvSpPr>
        <p:spPr>
          <a:xfrm xmlns:a="http://schemas.openxmlformats.org/drawingml/2006/main">
            <a:off x="6800850" y="4371975"/>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relationship .30 · excess centrality .25 · SDL diversity .20 · AC proximity .15 · citation .10</a:t>
            </a:r>
          </a:p>
        </p:txBody>
      </p:sp>
      <p:sp>
        <p:nvSpPr>
          <p:cNvPr id="31" name="">
            <a:extLst xmlns:a="http://schemas.openxmlformats.org/drawingml/2006/main">
              <a:ext uri="{FF2B5EF4-FFF2-40B4-BE49-F238E27FC236}">
                <a16:creationId xmlns:a16="http://schemas.microsoft.com/office/drawing/2014/main" id="{0EEA5B29-38C1-4EC1-A446-DBADEB503D9F}"/>
              </a:ext>
            </a:extLst>
          </p:cNvPr>
          <p:cNvSpPr>
            <a:spLocks xmlns:a="http://schemas.openxmlformats.org/drawingml/2006/main" noGrp="1"/>
          </p:cNvSpPr>
          <p:nvPr/>
        </p:nvSpPr>
        <p:spPr>
          <a:xfrm xmlns:a="http://schemas.openxmlformats.org/drawingml/2006/main">
            <a:off x="495300" y="4848225"/>
            <a:ext cx="209550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2" name="">
            <a:extLst xmlns:a="http://schemas.openxmlformats.org/drawingml/2006/main">
              <a:ext uri="{FF2B5EF4-FFF2-40B4-BE49-F238E27FC236}">
                <a16:creationId xmlns:a16="http://schemas.microsoft.com/office/drawing/2014/main" id="{7C1B644D-82AA-4357-8274-E534B3A72F4A}"/>
              </a:ext>
            </a:extLst>
          </p:cNvPr>
          <p:cNvSpPr>
            <a:spLocks xmlns:a="http://schemas.openxmlformats.org/drawingml/2006/main" noGrp="1"/>
          </p:cNvSpPr>
          <p:nvPr/>
        </p:nvSpPr>
        <p:spPr>
          <a:xfrm xmlns:a="http://schemas.openxmlformats.org/drawingml/2006/main">
            <a:off x="609600" y="492442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Emerging connectors</a:t>
            </a:r>
          </a:p>
        </p:txBody>
      </p:sp>
      <p:sp>
        <p:nvSpPr>
          <p:cNvPr id="33" name="">
            <a:extLst xmlns:a="http://schemas.openxmlformats.org/drawingml/2006/main">
              <a:ext uri="{FF2B5EF4-FFF2-40B4-BE49-F238E27FC236}">
                <a16:creationId xmlns:a16="http://schemas.microsoft.com/office/drawing/2014/main" id="{701DEAFB-04B6-4A9F-8076-F9D91F993331}"/>
              </a:ext>
            </a:extLst>
          </p:cNvPr>
          <p:cNvSpPr>
            <a:spLocks xmlns:a="http://schemas.openxmlformats.org/drawingml/2006/main" noGrp="1"/>
          </p:cNvSpPr>
          <p:nvPr/>
        </p:nvSpPr>
        <p:spPr>
          <a:xfrm xmlns:a="http://schemas.openxmlformats.org/drawingml/2006/main">
            <a:off x="2590800" y="4848225"/>
            <a:ext cx="40957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4" name="">
            <a:extLst xmlns:a="http://schemas.openxmlformats.org/drawingml/2006/main">
              <a:ext uri="{FF2B5EF4-FFF2-40B4-BE49-F238E27FC236}">
                <a16:creationId xmlns:a16="http://schemas.microsoft.com/office/drawing/2014/main" id="{BC7DBCE8-7E86-40C0-AEA1-F80A24C1BE8C}"/>
              </a:ext>
            </a:extLst>
          </p:cNvPr>
          <p:cNvSpPr>
            <a:spLocks xmlns:a="http://schemas.openxmlformats.org/drawingml/2006/main" noGrp="1"/>
          </p:cNvSpPr>
          <p:nvPr/>
        </p:nvSpPr>
        <p:spPr>
          <a:xfrm xmlns:a="http://schemas.openxmlformats.org/drawingml/2006/main">
            <a:off x="2705100" y="492442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Which newer authors show early bridge potential?</a:t>
            </a:r>
          </a:p>
        </p:txBody>
      </p:sp>
      <p:sp>
        <p:nvSpPr>
          <p:cNvPr id="35" name="">
            <a:extLst xmlns:a="http://schemas.openxmlformats.org/drawingml/2006/main">
              <a:ext uri="{FF2B5EF4-FFF2-40B4-BE49-F238E27FC236}">
                <a16:creationId xmlns:a16="http://schemas.microsoft.com/office/drawing/2014/main" id="{435EE6C2-1BD3-44C3-A4B7-B2E295516B0F}"/>
              </a:ext>
            </a:extLst>
          </p:cNvPr>
          <p:cNvSpPr>
            <a:spLocks xmlns:a="http://schemas.openxmlformats.org/drawingml/2006/main" noGrp="1"/>
          </p:cNvSpPr>
          <p:nvPr/>
        </p:nvSpPr>
        <p:spPr>
          <a:xfrm xmlns:a="http://schemas.openxmlformats.org/drawingml/2006/main">
            <a:off x="6686550" y="4848225"/>
            <a:ext cx="5010150" cy="5524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6" name="">
            <a:extLst xmlns:a="http://schemas.openxmlformats.org/drawingml/2006/main">
              <a:ext uri="{FF2B5EF4-FFF2-40B4-BE49-F238E27FC236}">
                <a16:creationId xmlns:a16="http://schemas.microsoft.com/office/drawing/2014/main" id="{AE947E4A-DF09-4B2A-B806-6184E817EBE6}"/>
              </a:ext>
            </a:extLst>
          </p:cNvPr>
          <p:cNvSpPr>
            <a:spLocks xmlns:a="http://schemas.openxmlformats.org/drawingml/2006/main" noGrp="1"/>
          </p:cNvSpPr>
          <p:nvPr/>
        </p:nvSpPr>
        <p:spPr>
          <a:xfrm xmlns:a="http://schemas.openxmlformats.org/drawingml/2006/main">
            <a:off x="6800850" y="4924425"/>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recency .30 · excess centrality .25 · SDL diversity .20 · AC proximity .15 · relationship .10</a:t>
            </a:r>
          </a:p>
        </p:txBody>
      </p:sp>
      <p:sp>
        <p:nvSpPr>
          <p:cNvPr id="37" name="">
            <a:extLst xmlns:a="http://schemas.openxmlformats.org/drawingml/2006/main">
              <a:ext uri="{FF2B5EF4-FFF2-40B4-BE49-F238E27FC236}">
                <a16:creationId xmlns:a16="http://schemas.microsoft.com/office/drawing/2014/main" id="{F6800C51-39E2-4579-A907-8636BFEFB515}"/>
              </a:ext>
            </a:extLst>
          </p:cNvPr>
          <p:cNvSpPr>
            <a:spLocks xmlns:a="http://schemas.openxmlformats.org/drawingml/2006/main" noGrp="1"/>
          </p:cNvSpPr>
          <p:nvPr/>
        </p:nvSpPr>
        <p:spPr>
          <a:xfrm xmlns:a="http://schemas.openxmlformats.org/drawingml/2006/main">
            <a:off x="495300" y="5400675"/>
            <a:ext cx="2095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8" name="">
            <a:extLst xmlns:a="http://schemas.openxmlformats.org/drawingml/2006/main">
              <a:ext uri="{FF2B5EF4-FFF2-40B4-BE49-F238E27FC236}">
                <a16:creationId xmlns:a16="http://schemas.microsoft.com/office/drawing/2014/main" id="{9EF870E8-24F9-447D-88EC-6B5E1FDFB422}"/>
              </a:ext>
            </a:extLst>
          </p:cNvPr>
          <p:cNvSpPr>
            <a:spLocks xmlns:a="http://schemas.openxmlformats.org/drawingml/2006/main" noGrp="1"/>
          </p:cNvSpPr>
          <p:nvPr/>
        </p:nvSpPr>
        <p:spPr>
          <a:xfrm xmlns:a="http://schemas.openxmlformats.org/drawingml/2006/main">
            <a:off x="609600" y="5476875"/>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Topic diffusion</a:t>
            </a:r>
          </a:p>
        </p:txBody>
      </p:sp>
      <p:sp>
        <p:nvSpPr>
          <p:cNvPr id="39" name="">
            <a:extLst xmlns:a="http://schemas.openxmlformats.org/drawingml/2006/main">
              <a:ext uri="{FF2B5EF4-FFF2-40B4-BE49-F238E27FC236}">
                <a16:creationId xmlns:a16="http://schemas.microsoft.com/office/drawing/2014/main" id="{163D495F-4939-415F-A59D-701C2488CC31}"/>
              </a:ext>
            </a:extLst>
          </p:cNvPr>
          <p:cNvSpPr>
            <a:spLocks xmlns:a="http://schemas.openxmlformats.org/drawingml/2006/main" noGrp="1"/>
          </p:cNvSpPr>
          <p:nvPr/>
        </p:nvSpPr>
        <p:spPr>
          <a:xfrm xmlns:a="http://schemas.openxmlformats.org/drawingml/2006/main">
            <a:off x="2590800" y="5400675"/>
            <a:ext cx="4095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0" name="">
            <a:extLst xmlns:a="http://schemas.openxmlformats.org/drawingml/2006/main">
              <a:ext uri="{FF2B5EF4-FFF2-40B4-BE49-F238E27FC236}">
                <a16:creationId xmlns:a16="http://schemas.microsoft.com/office/drawing/2014/main" id="{95B028E4-B47F-4B72-ACAF-95CAFE189931}"/>
              </a:ext>
            </a:extLst>
          </p:cNvPr>
          <p:cNvSpPr>
            <a:spLocks xmlns:a="http://schemas.openxmlformats.org/drawingml/2006/main" noGrp="1"/>
          </p:cNvSpPr>
          <p:nvPr/>
        </p:nvSpPr>
        <p:spPr>
          <a:xfrm xmlns:a="http://schemas.openxmlformats.org/drawingml/2006/main">
            <a:off x="2705100" y="5476875"/>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Who helps methods and topics spread between SDL areas?</a:t>
            </a:r>
          </a:p>
        </p:txBody>
      </p:sp>
      <p:sp>
        <p:nvSpPr>
          <p:cNvPr id="41" name="">
            <a:extLst xmlns:a="http://schemas.openxmlformats.org/drawingml/2006/main">
              <a:ext uri="{FF2B5EF4-FFF2-40B4-BE49-F238E27FC236}">
                <a16:creationId xmlns:a16="http://schemas.microsoft.com/office/drawing/2014/main" id="{7EFF1CE4-6FB0-4598-8AD1-94A9F3879AFE}"/>
              </a:ext>
            </a:extLst>
          </p:cNvPr>
          <p:cNvSpPr>
            <a:spLocks xmlns:a="http://schemas.openxmlformats.org/drawingml/2006/main" noGrp="1"/>
          </p:cNvSpPr>
          <p:nvPr/>
        </p:nvSpPr>
        <p:spPr>
          <a:xfrm xmlns:a="http://schemas.openxmlformats.org/drawingml/2006/main">
            <a:off x="6686550" y="5400675"/>
            <a:ext cx="50101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2" name="">
            <a:extLst xmlns:a="http://schemas.openxmlformats.org/drawingml/2006/main">
              <a:ext uri="{FF2B5EF4-FFF2-40B4-BE49-F238E27FC236}">
                <a16:creationId xmlns:a16="http://schemas.microsoft.com/office/drawing/2014/main" id="{07A7A7A4-17BE-4F07-ACAE-5117BB3E48B7}"/>
              </a:ext>
            </a:extLst>
          </p:cNvPr>
          <p:cNvSpPr>
            <a:spLocks xmlns:a="http://schemas.openxmlformats.org/drawingml/2006/main" noGrp="1"/>
          </p:cNvSpPr>
          <p:nvPr/>
        </p:nvSpPr>
        <p:spPr>
          <a:xfrm xmlns:a="http://schemas.openxmlformats.org/drawingml/2006/main">
            <a:off x="6800850" y="5476875"/>
            <a:ext cx="4781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SDL diversity .35 · relationship .20 · excess centrality .20 · AC proximity .15 · recency .10</a:t>
            </a:r>
          </a:p>
        </p:txBody>
      </p:sp>
      <p:sp>
        <p:nvSpPr>
          <p:cNvPr id="43" name="">
            <a:extLst xmlns:a="http://schemas.openxmlformats.org/drawingml/2006/main">
              <a:ext uri="{FF2B5EF4-FFF2-40B4-BE49-F238E27FC236}">
                <a16:creationId xmlns:a16="http://schemas.microsoft.com/office/drawing/2014/main" id="{689D54BC-89BF-4BA1-AADA-75523B6BF49E}"/>
              </a:ext>
            </a:extLst>
          </p:cNvPr>
          <p:cNvSpPr>
            <a:spLocks xmlns:a="http://schemas.openxmlformats.org/drawingml/2006/main" noGrp="1"/>
          </p:cNvSpPr>
          <p:nvPr/>
        </p:nvSpPr>
        <p:spPr>
          <a:xfrm xmlns:a="http://schemas.openxmlformats.org/drawingml/2006/main">
            <a:off x="495300" y="6076950"/>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92"/>
          </a:bodyPr>
          <a:lstStyle xmlns:a="http://schemas.openxmlformats.org/drawingml/2006/main"/>
          <a:p xmlns:a="http://schemas.openxmlformats.org/drawingml/2006/main">
            <a:pPr algn="ctr">
              <a:lnSpc>
                <a:spcPct val="108000"/>
              </a:lnSpc>
              <a:buNone/>
              <a:defRPr sz="1350" b="1" i="0">
                <a:solidFill>
                  <a:srgbClr val="203A4C"/>
                </a:solidFill>
                <a:latin typeface="Arial"/>
                <a:ea typeface="Arial"/>
                <a:cs typeface="Arial"/>
              </a:defRPr>
            </a:pPr>
            <a:r>
              <a:rPr sz="1350" b="1" i="0">
                <a:solidFill>
                  <a:srgbClr val="203A4C"/>
                </a:solidFill>
                <a:latin typeface="Arial"/>
                <a:ea typeface="Arial"/>
                <a:cs typeface="Arial"/>
              </a:rPr>
              <a:t>The UI exposes both the profile weights and each dimension’s contribution; profile changes are therefore explainable rather than opaque.</a:t>
            </a:r>
          </a:p>
        </p:txBody>
      </p:sp>
      <p:sp>
        <p:nvSpPr>
          <p:cNvPr id="44" name="">
            <a:extLst xmlns:a="http://schemas.openxmlformats.org/drawingml/2006/main">
              <a:ext uri="{FF2B5EF4-FFF2-40B4-BE49-F238E27FC236}">
                <a16:creationId xmlns:a16="http://schemas.microsoft.com/office/drawing/2014/main" id="{7E5DB75D-473E-4E33-8784-63BF36322EE6}"/>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45" name="">
            <a:extLst xmlns:a="http://schemas.openxmlformats.org/drawingml/2006/main">
              <a:ext uri="{FF2B5EF4-FFF2-40B4-BE49-F238E27FC236}">
                <a16:creationId xmlns:a16="http://schemas.microsoft.com/office/drawing/2014/main" id="{27F7F6A4-0944-4847-B0AF-5D96858983B7}"/>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46" name="">
            <a:extLst xmlns:a="http://schemas.openxmlformats.org/drawingml/2006/main">
              <a:ext uri="{FF2B5EF4-FFF2-40B4-BE49-F238E27FC236}">
                <a16:creationId xmlns:a16="http://schemas.microsoft.com/office/drawing/2014/main" id="{BEA487D9-235C-480A-B609-37B9FBB1EB42}"/>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164082031"/>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C9BC76F-3EE8-48DE-9689-20232614C210}"/>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IMPLEMENTED VIEW</a:t>
            </a:r>
          </a:p>
        </p:txBody>
      </p:sp>
      <p:sp>
        <p:nvSpPr>
          <p:cNvPr id="2" name="">
            <a:extLst xmlns:a="http://schemas.openxmlformats.org/drawingml/2006/main">
              <a:ext uri="{FF2B5EF4-FFF2-40B4-BE49-F238E27FC236}">
                <a16:creationId xmlns:a16="http://schemas.microsoft.com/office/drawing/2014/main" id="{33DF03A3-BE44-4E55-AE9E-B860D7E1E91B}"/>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E7C7B8A-5367-48DE-B486-E07A8BA2824B}"/>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9151"/>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The coauthor view exposes bridge authors and the evidence behind each edge</a:t>
            </a:r>
          </a:p>
        </p:txBody>
      </p:sp>
      <p:sp>
        <p:nvSpPr>
          <p:cNvPr id="4" name="">
            <a:extLst xmlns:a="http://schemas.openxmlformats.org/drawingml/2006/main">
              <a:ext uri="{FF2B5EF4-FFF2-40B4-BE49-F238E27FC236}">
                <a16:creationId xmlns:a16="http://schemas.microsoft.com/office/drawing/2014/main" id="{D663BD35-DFEC-4FE3-93BB-BC1244832CB2}"/>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854516DF-DC33-4565-8A1B-6AA1BA78D215}"/>
              </a:ext>
            </a:extLst>
          </p:cNvPr>
          <p:cNvSpPr>
            <a:spLocks xmlns:a="http://schemas.openxmlformats.org/drawingml/2006/main" noGrp="1"/>
          </p:cNvSpPr>
          <p:nvPr/>
        </p:nvSpPr>
        <p:spPr>
          <a:xfrm xmlns:a="http://schemas.openxmlformats.org/drawingml/2006/main">
            <a:off x="495300" y="18097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WHAT AC CAN INSPECT</a:t>
            </a:r>
          </a:p>
        </p:txBody>
      </p:sp>
      <p:sp>
        <p:nvSpPr>
          <p:cNvPr id="6" name="">
            <a:extLst xmlns:a="http://schemas.openxmlformats.org/drawingml/2006/main">
              <a:ext uri="{FF2B5EF4-FFF2-40B4-BE49-F238E27FC236}">
                <a16:creationId xmlns:a16="http://schemas.microsoft.com/office/drawing/2014/main" id="{AA5F27D7-C9D7-4106-A5D9-C67AF7C82D76}"/>
              </a:ext>
            </a:extLst>
          </p:cNvPr>
          <p:cNvSpPr>
            <a:spLocks xmlns:a="http://schemas.openxmlformats.org/drawingml/2006/main" noGrp="1"/>
          </p:cNvSpPr>
          <p:nvPr/>
        </p:nvSpPr>
        <p:spPr>
          <a:xfrm xmlns:a="http://schemas.openxmlformats.org/drawingml/2006/main">
            <a:off x="495300" y="22098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03A4C"/>
                </a:solidFill>
                <a:latin typeface="Georgia"/>
                <a:ea typeface="Georgia"/>
                <a:cs typeface="Georgia"/>
              </a:defRPr>
            </a:pPr>
            <a:r>
              <a:rPr sz="1425" b="1" i="0">
                <a:solidFill>
                  <a:srgbClr val="203A4C"/>
                </a:solidFill>
                <a:latin typeface="Georgia"/>
                <a:ea typeface="Georgia"/>
                <a:cs typeface="Georgia"/>
              </a:rPr>
              <a:t>Question-specific ranking</a:t>
            </a:r>
          </a:p>
        </p:txBody>
      </p:sp>
      <p:sp>
        <p:nvSpPr>
          <p:cNvPr id="7" name="">
            <a:extLst xmlns:a="http://schemas.openxmlformats.org/drawingml/2006/main">
              <a:ext uri="{FF2B5EF4-FFF2-40B4-BE49-F238E27FC236}">
                <a16:creationId xmlns:a16="http://schemas.microsoft.com/office/drawing/2014/main" id="{5C8EC660-8B56-4405-8ACF-BA33C60C5C04}"/>
              </a:ext>
            </a:extLst>
          </p:cNvPr>
          <p:cNvSpPr>
            <a:spLocks xmlns:a="http://schemas.openxmlformats.org/drawingml/2006/main" noGrp="1"/>
          </p:cNvSpPr>
          <p:nvPr/>
        </p:nvSpPr>
        <p:spPr>
          <a:xfrm xmlns:a="http://schemas.openxmlformats.org/drawingml/2006/main">
            <a:off x="495300" y="258127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606972"/>
                </a:solidFill>
                <a:latin typeface="Arial"/>
                <a:ea typeface="Arial"/>
                <a:cs typeface="Arial"/>
              </a:defRPr>
            </a:pPr>
            <a:r>
              <a:rPr sz="1200" b="0" i="0">
                <a:solidFill>
                  <a:srgbClr val="606972"/>
                </a:solidFill>
                <a:latin typeface="Arial"/>
                <a:ea typeface="Arial"/>
                <a:cs typeface="Arial"/>
              </a:rPr>
              <a:t>Switch between AC attribution, bridge builders, institution hubs, emerging connectors, and topic diffusion.</a:t>
            </a:r>
          </a:p>
        </p:txBody>
      </p:sp>
      <p:sp>
        <p:nvSpPr>
          <p:cNvPr id="8" name="">
            <a:extLst xmlns:a="http://schemas.openxmlformats.org/drawingml/2006/main">
              <a:ext uri="{FF2B5EF4-FFF2-40B4-BE49-F238E27FC236}">
                <a16:creationId xmlns:a16="http://schemas.microsoft.com/office/drawing/2014/main" id="{14A4DC3F-8252-4C0F-8DCB-D13816DAE6A3}"/>
              </a:ext>
            </a:extLst>
          </p:cNvPr>
          <p:cNvSpPr>
            <a:spLocks xmlns:a="http://schemas.openxmlformats.org/drawingml/2006/main" noGrp="1"/>
          </p:cNvSpPr>
          <p:nvPr/>
        </p:nvSpPr>
        <p:spPr>
          <a:xfrm xmlns:a="http://schemas.openxmlformats.org/drawingml/2006/main">
            <a:off x="495300" y="3314700"/>
            <a:ext cx="295275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9" name="">
            <a:extLst xmlns:a="http://schemas.openxmlformats.org/drawingml/2006/main">
              <a:ext uri="{FF2B5EF4-FFF2-40B4-BE49-F238E27FC236}">
                <a16:creationId xmlns:a16="http://schemas.microsoft.com/office/drawing/2014/main" id="{BCDF0704-8D73-4D9A-A1C4-4B3BF636DBB3}"/>
              </a:ext>
            </a:extLst>
          </p:cNvPr>
          <p:cNvSpPr>
            <a:spLocks xmlns:a="http://schemas.openxmlformats.org/drawingml/2006/main" noGrp="1"/>
          </p:cNvSpPr>
          <p:nvPr/>
        </p:nvSpPr>
        <p:spPr>
          <a:xfrm xmlns:a="http://schemas.openxmlformats.org/drawingml/2006/main">
            <a:off x="495300" y="34290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03A4C"/>
                </a:solidFill>
                <a:latin typeface="Georgia"/>
                <a:ea typeface="Georgia"/>
                <a:cs typeface="Georgia"/>
              </a:defRPr>
            </a:pPr>
            <a:r>
              <a:rPr sz="1425" b="1" i="0">
                <a:solidFill>
                  <a:srgbClr val="203A4C"/>
                </a:solidFill>
                <a:latin typeface="Georgia"/>
                <a:ea typeface="Georgia"/>
                <a:cs typeface="Georgia"/>
              </a:rPr>
              <a:t>Author-level explanation</a:t>
            </a:r>
          </a:p>
        </p:txBody>
      </p:sp>
      <p:sp>
        <p:nvSpPr>
          <p:cNvPr id="10" name="">
            <a:extLst xmlns:a="http://schemas.openxmlformats.org/drawingml/2006/main">
              <a:ext uri="{FF2B5EF4-FFF2-40B4-BE49-F238E27FC236}">
                <a16:creationId xmlns:a16="http://schemas.microsoft.com/office/drawing/2014/main" id="{2B1A07AD-DA68-434B-8A20-3C365408902B}"/>
              </a:ext>
            </a:extLst>
          </p:cNvPr>
          <p:cNvSpPr>
            <a:spLocks xmlns:a="http://schemas.openxmlformats.org/drawingml/2006/main" noGrp="1"/>
          </p:cNvSpPr>
          <p:nvPr/>
        </p:nvSpPr>
        <p:spPr>
          <a:xfrm xmlns:a="http://schemas.openxmlformats.org/drawingml/2006/main">
            <a:off x="495300" y="380047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606972"/>
                </a:solidFill>
                <a:latin typeface="Arial"/>
                <a:ea typeface="Arial"/>
                <a:cs typeface="Arial"/>
              </a:defRPr>
            </a:pPr>
            <a:r>
              <a:rPr sz="1200" b="0" i="0">
                <a:solidFill>
                  <a:srgbClr val="606972"/>
                </a:solidFill>
                <a:latin typeface="Arial"/>
                <a:ea typeface="Arial"/>
                <a:cs typeface="Arial"/>
              </a:rPr>
              <a:t>Paper count, collaborators, PPR, cnorm, importance components, and a human-readable explanation.</a:t>
            </a:r>
          </a:p>
        </p:txBody>
      </p:sp>
      <p:sp>
        <p:nvSpPr>
          <p:cNvPr id="11" name="">
            <a:extLst xmlns:a="http://schemas.openxmlformats.org/drawingml/2006/main">
              <a:ext uri="{FF2B5EF4-FFF2-40B4-BE49-F238E27FC236}">
                <a16:creationId xmlns:a16="http://schemas.microsoft.com/office/drawing/2014/main" id="{7AE0DD37-41C1-43D6-8B8B-419B72FCA9DD}"/>
              </a:ext>
            </a:extLst>
          </p:cNvPr>
          <p:cNvSpPr>
            <a:spLocks xmlns:a="http://schemas.openxmlformats.org/drawingml/2006/main" noGrp="1"/>
          </p:cNvSpPr>
          <p:nvPr/>
        </p:nvSpPr>
        <p:spPr>
          <a:xfrm xmlns:a="http://schemas.openxmlformats.org/drawingml/2006/main">
            <a:off x="495300" y="4533900"/>
            <a:ext cx="295275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2" name="">
            <a:extLst xmlns:a="http://schemas.openxmlformats.org/drawingml/2006/main">
              <a:ext uri="{FF2B5EF4-FFF2-40B4-BE49-F238E27FC236}">
                <a16:creationId xmlns:a16="http://schemas.microsoft.com/office/drawing/2014/main" id="{C94EE332-7F6C-44BF-BA5B-9B259C42B186}"/>
              </a:ext>
            </a:extLst>
          </p:cNvPr>
          <p:cNvSpPr>
            <a:spLocks xmlns:a="http://schemas.openxmlformats.org/drawingml/2006/main" noGrp="1"/>
          </p:cNvSpPr>
          <p:nvPr/>
        </p:nvSpPr>
        <p:spPr>
          <a:xfrm xmlns:a="http://schemas.openxmlformats.org/drawingml/2006/main">
            <a:off x="495300" y="4648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03A4C"/>
                </a:solidFill>
                <a:latin typeface="Georgia"/>
                <a:ea typeface="Georgia"/>
                <a:cs typeface="Georgia"/>
              </a:defRPr>
            </a:pPr>
            <a:r>
              <a:rPr sz="1425" b="1" i="0">
                <a:solidFill>
                  <a:srgbClr val="203A4C"/>
                </a:solidFill>
                <a:latin typeface="Georgia"/>
                <a:ea typeface="Georgia"/>
                <a:cs typeface="Georgia"/>
              </a:rPr>
              <a:t>Edge provenance</a:t>
            </a:r>
          </a:p>
        </p:txBody>
      </p:sp>
      <p:sp>
        <p:nvSpPr>
          <p:cNvPr id="13" name="">
            <a:extLst xmlns:a="http://schemas.openxmlformats.org/drawingml/2006/main">
              <a:ext uri="{FF2B5EF4-FFF2-40B4-BE49-F238E27FC236}">
                <a16:creationId xmlns:a16="http://schemas.microsoft.com/office/drawing/2014/main" id="{CA5E2AF0-023F-428F-940B-63D8688999FC}"/>
              </a:ext>
            </a:extLst>
          </p:cNvPr>
          <p:cNvSpPr>
            <a:spLocks xmlns:a="http://schemas.openxmlformats.org/drawingml/2006/main" noGrp="1"/>
          </p:cNvSpPr>
          <p:nvPr/>
        </p:nvSpPr>
        <p:spPr>
          <a:xfrm xmlns:a="http://schemas.openxmlformats.org/drawingml/2006/main">
            <a:off x="495300" y="501967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606972"/>
                </a:solidFill>
                <a:latin typeface="Arial"/>
                <a:ea typeface="Arial"/>
                <a:cs typeface="Arial"/>
              </a:defRPr>
            </a:pPr>
            <a:r>
              <a:rPr sz="1200" b="0" i="0">
                <a:solidFill>
                  <a:srgbClr val="606972"/>
                </a:solidFill>
                <a:latin typeface="Arial"/>
                <a:ea typeface="Arial"/>
                <a:cs typeface="Arial"/>
              </a:rPr>
              <a:t>Joint-paper IDs, normalized relationship strength, and whether an edge involves AC.</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6ef64d101f5445c"/>
          <a:srcRect xmlns:a="http://schemas.openxmlformats.org/drawingml/2006/main" l="0" t="4976" r="0" b="4976"/>
          <a:stretch xmlns:a="http://schemas.openxmlformats.org/drawingml/2006/main">
            <a:fillRect l="0" t="0" r="0" b="0"/>
          </a:stretch>
        </p:blipFill>
        <p:spPr>
          <a:xfrm xmlns:a="http://schemas.openxmlformats.org/drawingml/2006/main">
            <a:off x="3810000" y="1733550"/>
            <a:ext cx="7886700" cy="4438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2940E6B-DD57-49A4-BEF9-DE1E23696ADF}"/>
              </a:ext>
            </a:extLst>
          </p:cNvPr>
          <p:cNvSpPr>
            <a:spLocks xmlns:a="http://schemas.openxmlformats.org/drawingml/2006/main" noGrp="1"/>
          </p:cNvSpPr>
          <p:nvPr/>
        </p:nvSpPr>
        <p:spPr>
          <a:xfrm xmlns:a="http://schemas.openxmlformats.org/drawingml/2006/main">
            <a:off x="3810000" y="1733550"/>
            <a:ext cx="7886700" cy="4438650"/>
          </a:xfrm>
          <a:prstGeom xmlns:a="http://schemas.openxmlformats.org/drawingml/2006/main" prst="rect">
            <a:avLst/>
          </a:prstGeom>
          <a:noFill xmlns:a="http://schemas.openxmlformats.org/drawingml/2006/main"/>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AF2673F4-358F-41FE-9C30-7C4F68CAAA10}"/>
              </a:ext>
            </a:extLst>
          </p:cNvPr>
          <p:cNvSpPr>
            <a:spLocks xmlns:a="http://schemas.openxmlformats.org/drawingml/2006/main" noGrp="1"/>
          </p:cNvSpPr>
          <p:nvPr/>
        </p:nvSpPr>
        <p:spPr>
          <a:xfrm xmlns:a="http://schemas.openxmlformats.org/drawingml/2006/main">
            <a:off x="3810000" y="6229350"/>
            <a:ext cx="788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1">
                <a:solidFill>
                  <a:srgbClr val="8B8F91"/>
                </a:solidFill>
                <a:latin typeface="Arial"/>
                <a:ea typeface="Arial"/>
                <a:cs typeface="Arial"/>
              </a:defRPr>
            </a:pPr>
            <a:r>
              <a:rPr sz="900" b="0" i="1">
                <a:solidFill>
                  <a:srgbClr val="8B8F91"/>
                </a:solidFill>
                <a:latin typeface="Arial"/>
                <a:ea typeface="Arial"/>
                <a:cs typeface="Arial"/>
              </a:rPr>
              <a:t>Interface captured from the current frontend with mock data; values are illustrative.</a:t>
            </a:r>
          </a:p>
        </p:txBody>
      </p:sp>
      <p:sp>
        <p:nvSpPr>
          <p:cNvPr id="17" name="">
            <a:extLst xmlns:a="http://schemas.openxmlformats.org/drawingml/2006/main">
              <a:ext uri="{FF2B5EF4-FFF2-40B4-BE49-F238E27FC236}">
                <a16:creationId xmlns:a16="http://schemas.microsoft.com/office/drawing/2014/main" id="{0829A59A-4569-4912-A010-DB70CEA4E5B7}"/>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BE06A519-A58B-40F2-B963-C24067C3604A}"/>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19" name="">
            <a:extLst xmlns:a="http://schemas.openxmlformats.org/drawingml/2006/main">
              <a:ext uri="{FF2B5EF4-FFF2-40B4-BE49-F238E27FC236}">
                <a16:creationId xmlns:a16="http://schemas.microsoft.com/office/drawing/2014/main" id="{F704DA04-9056-4AD3-A8D4-7F66C95D45C6}"/>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515974420"/>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FD72BB-F4FA-4B45-980E-22F26A888F75}"/>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IMPLEMENTED VIEW</a:t>
            </a:r>
          </a:p>
        </p:txBody>
      </p:sp>
      <p:sp>
        <p:nvSpPr>
          <p:cNvPr id="2" name="">
            <a:extLst xmlns:a="http://schemas.openxmlformats.org/drawingml/2006/main">
              <a:ext uri="{FF2B5EF4-FFF2-40B4-BE49-F238E27FC236}">
                <a16:creationId xmlns:a16="http://schemas.microsoft.com/office/drawing/2014/main" id="{015F7631-C254-4E60-9284-2A96929D7AC4}"/>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DAAF730-162C-4263-8D2A-3A4ACC5E46F9}"/>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301"/>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Institution connections can be traced from joint papers to topics and labels</a:t>
            </a:r>
          </a:p>
        </p:txBody>
      </p:sp>
      <p:sp>
        <p:nvSpPr>
          <p:cNvPr id="4" name="">
            <a:extLst xmlns:a="http://schemas.openxmlformats.org/drawingml/2006/main">
              <a:ext uri="{FF2B5EF4-FFF2-40B4-BE49-F238E27FC236}">
                <a16:creationId xmlns:a16="http://schemas.microsoft.com/office/drawing/2014/main" id="{4DFC09C9-3FCC-4DA7-82C1-97B30B3EC820}"/>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0aa8d5c159f4084"/>
          <a:srcRect xmlns:a="http://schemas.openxmlformats.org/drawingml/2006/main" l="0" t="4439" r="0" b="4439"/>
          <a:stretch xmlns:a="http://schemas.openxmlformats.org/drawingml/2006/main">
            <a:fillRect l="0" t="0" r="0" b="0"/>
          </a:stretch>
        </p:blipFill>
        <p:spPr>
          <a:xfrm xmlns:a="http://schemas.openxmlformats.org/drawingml/2006/main">
            <a:off x="495300" y="1724025"/>
            <a:ext cx="7810500" cy="4448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28EBCC-F871-4C4D-A99E-2067F19F7424}"/>
              </a:ext>
            </a:extLst>
          </p:cNvPr>
          <p:cNvSpPr>
            <a:spLocks xmlns:a="http://schemas.openxmlformats.org/drawingml/2006/main" noGrp="1"/>
          </p:cNvSpPr>
          <p:nvPr/>
        </p:nvSpPr>
        <p:spPr>
          <a:xfrm xmlns:a="http://schemas.openxmlformats.org/drawingml/2006/main">
            <a:off x="495300" y="1724025"/>
            <a:ext cx="7810500" cy="4448175"/>
          </a:xfrm>
          <a:prstGeom xmlns:a="http://schemas.openxmlformats.org/drawingml/2006/main" prst="rect">
            <a:avLst/>
          </a:prstGeom>
          <a:noFill xmlns:a="http://schemas.openxmlformats.org/drawingml/2006/main"/>
          <a:ln xmlns:a="http://schemas.openxmlformats.org/drawingml/2006/main" w="9525">
            <a:solidFill>
              <a:srgbClr val="BEB8AD"/>
            </a:solidFill>
            <a:prstDash val="solid"/>
          </a:ln>
        </p:spPr>
      </p:sp>
      <p:sp>
        <p:nvSpPr>
          <p:cNvPr id="7" name="">
            <a:extLst xmlns:a="http://schemas.openxmlformats.org/drawingml/2006/main">
              <a:ext uri="{FF2B5EF4-FFF2-40B4-BE49-F238E27FC236}">
                <a16:creationId xmlns:a16="http://schemas.microsoft.com/office/drawing/2014/main" id="{E927C192-9889-42EC-8D9A-3BD7F82B8834}"/>
              </a:ext>
            </a:extLst>
          </p:cNvPr>
          <p:cNvSpPr>
            <a:spLocks xmlns:a="http://schemas.openxmlformats.org/drawingml/2006/main" noGrp="1"/>
          </p:cNvSpPr>
          <p:nvPr/>
        </p:nvSpPr>
        <p:spPr>
          <a:xfrm xmlns:a="http://schemas.openxmlformats.org/drawingml/2006/main">
            <a:off x="495300" y="6229350"/>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i="1">
                <a:solidFill>
                  <a:srgbClr val="8B8F91"/>
                </a:solidFill>
                <a:latin typeface="Arial"/>
                <a:ea typeface="Arial"/>
                <a:cs typeface="Arial"/>
              </a:defRPr>
            </a:pPr>
            <a:r>
              <a:rPr sz="900" b="0" i="1">
                <a:solidFill>
                  <a:srgbClr val="8B8F91"/>
                </a:solidFill>
                <a:latin typeface="Arial"/>
                <a:ea typeface="Arial"/>
                <a:cs typeface="Arial"/>
              </a:rPr>
              <a:t>Interface captured from the current frontend with mock data; values are illustrative.</a:t>
            </a:r>
          </a:p>
        </p:txBody>
      </p:sp>
      <p:sp>
        <p:nvSpPr>
          <p:cNvPr id="8" name="">
            <a:extLst xmlns:a="http://schemas.openxmlformats.org/drawingml/2006/main">
              <a:ext uri="{FF2B5EF4-FFF2-40B4-BE49-F238E27FC236}">
                <a16:creationId xmlns:a16="http://schemas.microsoft.com/office/drawing/2014/main" id="{B68FB9C0-0E12-46A4-99EE-8F092F0B3171}"/>
              </a:ext>
            </a:extLst>
          </p:cNvPr>
          <p:cNvSpPr>
            <a:spLocks xmlns:a="http://schemas.openxmlformats.org/drawingml/2006/main" noGrp="1"/>
          </p:cNvSpPr>
          <p:nvPr/>
        </p:nvSpPr>
        <p:spPr>
          <a:xfrm xmlns:a="http://schemas.openxmlformats.org/drawingml/2006/main">
            <a:off x="8667750" y="18097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THREE LINKED QUESTIONS</a:t>
            </a:r>
          </a:p>
        </p:txBody>
      </p:sp>
      <p:sp>
        <p:nvSpPr>
          <p:cNvPr id="9" name="">
            <a:extLst xmlns:a="http://schemas.openxmlformats.org/drawingml/2006/main">
              <a:ext uri="{FF2B5EF4-FFF2-40B4-BE49-F238E27FC236}">
                <a16:creationId xmlns:a16="http://schemas.microsoft.com/office/drawing/2014/main" id="{DE51BF9D-CDD3-4EB4-88FC-FF4FBC7FBC57}"/>
              </a:ext>
            </a:extLst>
          </p:cNvPr>
          <p:cNvSpPr>
            <a:spLocks xmlns:a="http://schemas.openxmlformats.org/drawingml/2006/main" noGrp="1"/>
          </p:cNvSpPr>
          <p:nvPr/>
        </p:nvSpPr>
        <p:spPr>
          <a:xfrm xmlns:a="http://schemas.openxmlformats.org/drawingml/2006/main">
            <a:off x="8667750" y="21907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587F96"/>
                </a:solidFill>
                <a:latin typeface="Arial"/>
                <a:ea typeface="Arial"/>
                <a:cs typeface="Arial"/>
              </a:defRPr>
            </a:pPr>
            <a:r>
              <a:rPr sz="975" b="1" i="0">
                <a:solidFill>
                  <a:srgbClr val="587F96"/>
                </a:solidFill>
                <a:latin typeface="Arial"/>
                <a:ea typeface="Arial"/>
                <a:cs typeface="Arial"/>
              </a:rPr>
              <a:t>INSTITUTION</a:t>
            </a:r>
          </a:p>
        </p:txBody>
      </p:sp>
      <p:sp>
        <p:nvSpPr>
          <p:cNvPr id="10" name="">
            <a:extLst xmlns:a="http://schemas.openxmlformats.org/drawingml/2006/main">
              <a:ext uri="{FF2B5EF4-FFF2-40B4-BE49-F238E27FC236}">
                <a16:creationId xmlns:a16="http://schemas.microsoft.com/office/drawing/2014/main" id="{DA54FAFB-19F8-4264-92FC-8913D4480C4B}"/>
              </a:ext>
            </a:extLst>
          </p:cNvPr>
          <p:cNvSpPr>
            <a:spLocks xmlns:a="http://schemas.openxmlformats.org/drawingml/2006/main" noGrp="1"/>
          </p:cNvSpPr>
          <p:nvPr/>
        </p:nvSpPr>
        <p:spPr>
          <a:xfrm xmlns:a="http://schemas.openxmlformats.org/drawingml/2006/main">
            <a:off x="8667750" y="2466975"/>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7202A"/>
                </a:solidFill>
                <a:latin typeface="Georgia"/>
                <a:ea typeface="Georgia"/>
                <a:cs typeface="Georgia"/>
              </a:defRPr>
            </a:pPr>
            <a:r>
              <a:rPr sz="1275" b="1" i="0">
                <a:solidFill>
                  <a:srgbClr val="17202A"/>
                </a:solidFill>
                <a:latin typeface="Georgia"/>
                <a:ea typeface="Georgia"/>
                <a:cs typeface="Georgia"/>
              </a:rPr>
              <a:t>Which organizations appear on the attributed papers?</a:t>
            </a:r>
          </a:p>
        </p:txBody>
      </p:sp>
      <p:sp>
        <p:nvSpPr>
          <p:cNvPr id="11" name="">
            <a:extLst xmlns:a="http://schemas.openxmlformats.org/drawingml/2006/main">
              <a:ext uri="{FF2B5EF4-FFF2-40B4-BE49-F238E27FC236}">
                <a16:creationId xmlns:a16="http://schemas.microsoft.com/office/drawing/2014/main" id="{83A02DB6-53CC-42F8-9AB2-97624E10A3C9}"/>
              </a:ext>
            </a:extLst>
          </p:cNvPr>
          <p:cNvSpPr>
            <a:spLocks xmlns:a="http://schemas.openxmlformats.org/drawingml/2006/main" noGrp="1"/>
          </p:cNvSpPr>
          <p:nvPr/>
        </p:nvSpPr>
        <p:spPr>
          <a:xfrm xmlns:a="http://schemas.openxmlformats.org/drawingml/2006/main">
            <a:off x="8667750" y="32194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587F96"/>
                </a:solidFill>
                <a:latin typeface="Arial"/>
                <a:ea typeface="Arial"/>
                <a:cs typeface="Arial"/>
              </a:defRPr>
            </a:pPr>
            <a:r>
              <a:rPr sz="975" b="1" i="0">
                <a:solidFill>
                  <a:srgbClr val="587F96"/>
                </a:solidFill>
                <a:latin typeface="Arial"/>
                <a:ea typeface="Arial"/>
                <a:cs typeface="Arial"/>
              </a:rPr>
              <a:t>TOPIC</a:t>
            </a:r>
          </a:p>
        </p:txBody>
      </p:sp>
      <p:sp>
        <p:nvSpPr>
          <p:cNvPr id="12" name="">
            <a:extLst xmlns:a="http://schemas.openxmlformats.org/drawingml/2006/main">
              <a:ext uri="{FF2B5EF4-FFF2-40B4-BE49-F238E27FC236}">
                <a16:creationId xmlns:a16="http://schemas.microsoft.com/office/drawing/2014/main" id="{89ACE2E5-D1DD-433F-AEA8-4D69427E94F7}"/>
              </a:ext>
            </a:extLst>
          </p:cNvPr>
          <p:cNvSpPr>
            <a:spLocks xmlns:a="http://schemas.openxmlformats.org/drawingml/2006/main" noGrp="1"/>
          </p:cNvSpPr>
          <p:nvPr/>
        </p:nvSpPr>
        <p:spPr>
          <a:xfrm xmlns:a="http://schemas.openxmlformats.org/drawingml/2006/main">
            <a:off x="8667750" y="3495675"/>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7202A"/>
                </a:solidFill>
                <a:latin typeface="Georgia"/>
                <a:ea typeface="Georgia"/>
                <a:cs typeface="Georgia"/>
              </a:defRPr>
            </a:pPr>
            <a:r>
              <a:rPr sz="1275" b="1" i="0">
                <a:solidFill>
                  <a:srgbClr val="17202A"/>
                </a:solidFill>
                <a:latin typeface="Georgia"/>
                <a:ea typeface="Georgia"/>
                <a:cs typeface="Georgia"/>
              </a:rPr>
              <a:t>Which scientific themes connect those organizations?</a:t>
            </a:r>
          </a:p>
        </p:txBody>
      </p:sp>
      <p:sp>
        <p:nvSpPr>
          <p:cNvPr id="13" name="">
            <a:extLst xmlns:a="http://schemas.openxmlformats.org/drawingml/2006/main">
              <a:ext uri="{FF2B5EF4-FFF2-40B4-BE49-F238E27FC236}">
                <a16:creationId xmlns:a16="http://schemas.microsoft.com/office/drawing/2014/main" id="{BDBA26C6-2DEB-4724-B3B6-26F25114703C}"/>
              </a:ext>
            </a:extLst>
          </p:cNvPr>
          <p:cNvSpPr>
            <a:spLocks xmlns:a="http://schemas.openxmlformats.org/drawingml/2006/main" noGrp="1"/>
          </p:cNvSpPr>
          <p:nvPr/>
        </p:nvSpPr>
        <p:spPr>
          <a:xfrm xmlns:a="http://schemas.openxmlformats.org/drawingml/2006/main">
            <a:off x="8667750" y="42481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587F96"/>
                </a:solidFill>
                <a:latin typeface="Arial"/>
                <a:ea typeface="Arial"/>
                <a:cs typeface="Arial"/>
              </a:defRPr>
            </a:pPr>
            <a:r>
              <a:rPr sz="975" b="1" i="0">
                <a:solidFill>
                  <a:srgbClr val="587F96"/>
                </a:solidFill>
                <a:latin typeface="Arial"/>
                <a:ea typeface="Arial"/>
                <a:cs typeface="Arial"/>
              </a:rPr>
              <a:t>LABEL</a:t>
            </a:r>
          </a:p>
        </p:txBody>
      </p:sp>
      <p:sp>
        <p:nvSpPr>
          <p:cNvPr id="14" name="">
            <a:extLst xmlns:a="http://schemas.openxmlformats.org/drawingml/2006/main">
              <a:ext uri="{FF2B5EF4-FFF2-40B4-BE49-F238E27FC236}">
                <a16:creationId xmlns:a16="http://schemas.microsoft.com/office/drawing/2014/main" id="{5097B838-C30C-4A89-B457-03E438389C17}"/>
              </a:ext>
            </a:extLst>
          </p:cNvPr>
          <p:cNvSpPr>
            <a:spLocks xmlns:a="http://schemas.openxmlformats.org/drawingml/2006/main" noGrp="1"/>
          </p:cNvSpPr>
          <p:nvPr/>
        </p:nvSpPr>
        <p:spPr>
          <a:xfrm xmlns:a="http://schemas.openxmlformats.org/drawingml/2006/main">
            <a:off x="8667750" y="4524375"/>
            <a:ext cx="276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7202A"/>
                </a:solidFill>
                <a:latin typeface="Georgia"/>
                <a:ea typeface="Georgia"/>
                <a:cs typeface="Georgia"/>
              </a:defRPr>
            </a:pPr>
            <a:r>
              <a:rPr sz="1275" b="1" i="0">
                <a:solidFill>
                  <a:srgbClr val="17202A"/>
                </a:solidFill>
                <a:latin typeface="Georgia"/>
                <a:ea typeface="Georgia"/>
                <a:cs typeface="Georgia"/>
              </a:rPr>
              <a:t>How does the evidence resolve into attribution classes?</a:t>
            </a:r>
          </a:p>
        </p:txBody>
      </p:sp>
      <p:sp>
        <p:nvSpPr>
          <p:cNvPr id="15" name="">
            <a:extLst xmlns:a="http://schemas.openxmlformats.org/drawingml/2006/main">
              <a:ext uri="{FF2B5EF4-FFF2-40B4-BE49-F238E27FC236}">
                <a16:creationId xmlns:a16="http://schemas.microsoft.com/office/drawing/2014/main" id="{2FA5284C-2267-4A8C-829D-A9035AB5048D}"/>
              </a:ext>
            </a:extLst>
          </p:cNvPr>
          <p:cNvSpPr>
            <a:spLocks xmlns:a="http://schemas.openxmlformats.org/drawingml/2006/main" noGrp="1"/>
          </p:cNvSpPr>
          <p:nvPr/>
        </p:nvSpPr>
        <p:spPr>
          <a:xfrm xmlns:a="http://schemas.openxmlformats.org/drawingml/2006/main">
            <a:off x="8667750" y="5305425"/>
            <a:ext cx="276225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A845A935-9B4F-45FD-901A-CCEDA14A5CFE}"/>
              </a:ext>
            </a:extLst>
          </p:cNvPr>
          <p:cNvSpPr>
            <a:spLocks xmlns:a="http://schemas.openxmlformats.org/drawingml/2006/main" noGrp="1"/>
          </p:cNvSpPr>
          <p:nvPr/>
        </p:nvSpPr>
        <p:spPr>
          <a:xfrm xmlns:a="http://schemas.openxmlformats.org/drawingml/2006/main">
            <a:off x="8667750" y="55149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INSTITUTION HUB SCORE</a:t>
            </a:r>
          </a:p>
        </p:txBody>
      </p:sp>
      <p:sp>
        <p:nvSpPr>
          <p:cNvPr id="17" name="">
            <a:extLst xmlns:a="http://schemas.openxmlformats.org/drawingml/2006/main">
              <a:ext uri="{FF2B5EF4-FFF2-40B4-BE49-F238E27FC236}">
                <a16:creationId xmlns:a16="http://schemas.microsoft.com/office/drawing/2014/main" id="{7D6D71AD-EE5A-4F9F-A25B-4E79B4781582}"/>
              </a:ext>
            </a:extLst>
          </p:cNvPr>
          <p:cNvSpPr>
            <a:spLocks xmlns:a="http://schemas.openxmlformats.org/drawingml/2006/main" noGrp="1"/>
          </p:cNvSpPr>
          <p:nvPr/>
        </p:nvSpPr>
        <p:spPr>
          <a:xfrm xmlns:a="http://schemas.openxmlformats.org/drawingml/2006/main">
            <a:off x="8667750" y="5791200"/>
            <a:ext cx="2781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97"/>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H = .4 degree + .4 betweenness</a:t>
            </a:r>
          </a:p>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   + .1 partner reach + .1 international reach</a:t>
            </a:r>
          </a:p>
        </p:txBody>
      </p:sp>
      <p:sp>
        <p:nvSpPr>
          <p:cNvPr id="18" name="">
            <a:extLst xmlns:a="http://schemas.openxmlformats.org/drawingml/2006/main">
              <a:ext uri="{FF2B5EF4-FFF2-40B4-BE49-F238E27FC236}">
                <a16:creationId xmlns:a16="http://schemas.microsoft.com/office/drawing/2014/main" id="{55372CD3-2D5C-4959-8EE3-5C71A185BB27}"/>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9" name="">
            <a:extLst xmlns:a="http://schemas.openxmlformats.org/drawingml/2006/main">
              <a:ext uri="{FF2B5EF4-FFF2-40B4-BE49-F238E27FC236}">
                <a16:creationId xmlns:a16="http://schemas.microsoft.com/office/drawing/2014/main" id="{C5AF1DFC-2DB1-4620-9C39-DB029D6458A6}"/>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20" name="">
            <a:extLst xmlns:a="http://schemas.openxmlformats.org/drawingml/2006/main">
              <a:ext uri="{FF2B5EF4-FFF2-40B4-BE49-F238E27FC236}">
                <a16:creationId xmlns:a16="http://schemas.microsoft.com/office/drawing/2014/main" id="{400BD2F5-4C83-462C-A2D8-20A7FBA25A57}"/>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758523184"/>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14450A-8D42-4EB5-B6A4-CCD76B0E92E3}"/>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IMPLEMENTED VIEW</a:t>
            </a:r>
          </a:p>
        </p:txBody>
      </p:sp>
      <p:sp>
        <p:nvSpPr>
          <p:cNvPr id="2" name="">
            <a:extLst xmlns:a="http://schemas.openxmlformats.org/drawingml/2006/main">
              <a:ext uri="{FF2B5EF4-FFF2-40B4-BE49-F238E27FC236}">
                <a16:creationId xmlns:a16="http://schemas.microsoft.com/office/drawing/2014/main" id="{CE51A811-B224-470E-B113-7D4DBEFC5047}"/>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05ED7C7-D213-43CE-AC20-A808663BFD53}"/>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123"/>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The multi-entity graph joins people, institutions, papers, topics, methods, funders, and AC core</a:t>
            </a:r>
          </a:p>
        </p:txBody>
      </p:sp>
      <p:sp>
        <p:nvSpPr>
          <p:cNvPr id="4" name="">
            <a:extLst xmlns:a="http://schemas.openxmlformats.org/drawingml/2006/main">
              <a:ext uri="{FF2B5EF4-FFF2-40B4-BE49-F238E27FC236}">
                <a16:creationId xmlns:a16="http://schemas.microsoft.com/office/drawing/2014/main" id="{8C173D1B-59FD-4E28-A8CE-1CC17782B57E}"/>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C30373CD-79E4-4771-BDB8-CA6329E02A84}"/>
              </a:ext>
            </a:extLst>
          </p:cNvPr>
          <p:cNvSpPr>
            <a:spLocks xmlns:a="http://schemas.openxmlformats.org/drawingml/2006/main" noGrp="1"/>
          </p:cNvSpPr>
          <p:nvPr/>
        </p:nvSpPr>
        <p:spPr>
          <a:xfrm xmlns:a="http://schemas.openxmlformats.org/drawingml/2006/main">
            <a:off x="495300" y="17907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NODE TYPES</a:t>
            </a:r>
          </a:p>
        </p:txBody>
      </p:sp>
      <p:sp>
        <p:nvSpPr>
          <p:cNvPr id="6" name="">
            <a:extLst xmlns:a="http://schemas.openxmlformats.org/drawingml/2006/main">
              <a:ext uri="{FF2B5EF4-FFF2-40B4-BE49-F238E27FC236}">
                <a16:creationId xmlns:a16="http://schemas.microsoft.com/office/drawing/2014/main" id="{6B204C8F-E1DA-4A2D-A953-1571E416C1FE}"/>
              </a:ext>
            </a:extLst>
          </p:cNvPr>
          <p:cNvSpPr>
            <a:spLocks xmlns:a="http://schemas.openxmlformats.org/drawingml/2006/main" noGrp="1"/>
          </p:cNvSpPr>
          <p:nvPr/>
        </p:nvSpPr>
        <p:spPr>
          <a:xfrm xmlns:a="http://schemas.openxmlformats.org/drawingml/2006/main">
            <a:off x="495300" y="2085975"/>
            <a:ext cx="1524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authors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institutions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papers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topics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methods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funders</a:t>
            </a:r>
          </a:p>
          <a:p xmlns:a="http://schemas.openxmlformats.org/drawingml/2006/main">
            <a:pPr algn="l">
              <a:lnSpc>
                <a:spcPct val="124000"/>
              </a:lnSpc>
              <a:buNone/>
              <a:defRPr sz="1500" b="1" i="0">
                <a:solidFill>
                  <a:srgbClr val="203A4C"/>
                </a:solidFill>
                <a:latin typeface="Georgia"/>
                <a:ea typeface="Georgia"/>
                <a:cs typeface="Georgia"/>
              </a:defRPr>
            </a:pPr>
            <a:r>
              <a:rPr sz="1500" b="1" i="0">
                <a:solidFill>
                  <a:srgbClr val="203A4C"/>
                </a:solidFill>
                <a:latin typeface="Georgia"/>
                <a:ea typeface="Georgia"/>
                <a:cs typeface="Georgia"/>
              </a:rPr>
              <a:t>AC core</a:t>
            </a:r>
          </a:p>
        </p:txBody>
      </p:sp>
      <p:sp>
        <p:nvSpPr>
          <p:cNvPr id="7" name="">
            <a:extLst xmlns:a="http://schemas.openxmlformats.org/drawingml/2006/main">
              <a:ext uri="{FF2B5EF4-FFF2-40B4-BE49-F238E27FC236}">
                <a16:creationId xmlns:a16="http://schemas.microsoft.com/office/drawing/2014/main" id="{2335FBD6-3EDE-48AD-9DF4-C758FD467506}"/>
              </a:ext>
            </a:extLst>
          </p:cNvPr>
          <p:cNvSpPr>
            <a:spLocks xmlns:a="http://schemas.openxmlformats.org/drawingml/2006/main" noGrp="1"/>
          </p:cNvSpPr>
          <p:nvPr/>
        </p:nvSpPr>
        <p:spPr>
          <a:xfrm xmlns:a="http://schemas.openxmlformats.org/drawingml/2006/main">
            <a:off x="2190750" y="17907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EDGE PREDICATES</a:t>
            </a:r>
          </a:p>
        </p:txBody>
      </p:sp>
      <p:sp>
        <p:nvSpPr>
          <p:cNvPr id="8" name="">
            <a:extLst xmlns:a="http://schemas.openxmlformats.org/drawingml/2006/main">
              <a:ext uri="{FF2B5EF4-FFF2-40B4-BE49-F238E27FC236}">
                <a16:creationId xmlns:a16="http://schemas.microsoft.com/office/drawing/2014/main" id="{610A54C2-65FC-4E47-BA8C-2B20B462717B}"/>
              </a:ext>
            </a:extLst>
          </p:cNvPr>
          <p:cNvSpPr>
            <a:spLocks xmlns:a="http://schemas.openxmlformats.org/drawingml/2006/main" noGrp="1"/>
          </p:cNvSpPr>
          <p:nvPr/>
        </p:nvSpPr>
        <p:spPr>
          <a:xfrm xmlns:a="http://schemas.openxmlformats.org/drawingml/2006/main">
            <a:off x="2190750" y="2085975"/>
            <a:ext cx="180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authored</a:t>
            </a:r>
          </a:p>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affiliated with</a:t>
            </a:r>
          </a:p>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belongs to topic</a:t>
            </a:r>
          </a:p>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uses method</a:t>
            </a:r>
          </a:p>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cites / cites AC core</a:t>
            </a:r>
          </a:p>
          <a:p xmlns:a="http://schemas.openxmlformats.org/drawingml/2006/main">
            <a:pPr algn="l">
              <a:lnSpc>
                <a:spcPct val="127000"/>
              </a:lnSpc>
              <a:buNone/>
              <a:defRPr sz="1275" b="0" i="0">
                <a:solidFill>
                  <a:srgbClr val="606972"/>
                </a:solidFill>
                <a:latin typeface="Arial"/>
                <a:ea typeface="Arial"/>
                <a:cs typeface="Arial"/>
              </a:defRPr>
            </a:pPr>
            <a:r>
              <a:rPr sz="1275" b="0" i="0">
                <a:solidFill>
                  <a:srgbClr val="606972"/>
                </a:solidFill>
                <a:latin typeface="Arial"/>
                <a:ea typeface="Arial"/>
                <a:cs typeface="Arial"/>
              </a:rPr>
              <a:t>institution collaboration</a:t>
            </a:r>
          </a:p>
        </p:txBody>
      </p:sp>
      <p:sp>
        <p:nvSpPr>
          <p:cNvPr id="9" name="">
            <a:extLst xmlns:a="http://schemas.openxmlformats.org/drawingml/2006/main">
              <a:ext uri="{FF2B5EF4-FFF2-40B4-BE49-F238E27FC236}">
                <a16:creationId xmlns:a16="http://schemas.microsoft.com/office/drawing/2014/main" id="{A7AE104D-BD73-4583-9F41-35307472CF09}"/>
              </a:ext>
            </a:extLst>
          </p:cNvPr>
          <p:cNvSpPr>
            <a:spLocks xmlns:a="http://schemas.openxmlformats.org/drawingml/2006/main" noGrp="1"/>
          </p:cNvSpPr>
          <p:nvPr/>
        </p:nvSpPr>
        <p:spPr>
          <a:xfrm xmlns:a="http://schemas.openxmlformats.org/drawingml/2006/main">
            <a:off x="495300" y="4295775"/>
            <a:ext cx="32385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0" name="">
            <a:extLst xmlns:a="http://schemas.openxmlformats.org/drawingml/2006/main">
              <a:ext uri="{FF2B5EF4-FFF2-40B4-BE49-F238E27FC236}">
                <a16:creationId xmlns:a16="http://schemas.microsoft.com/office/drawing/2014/main" id="{43D1E0B0-7BD0-4CE7-B05A-CB33D40DD141}"/>
              </a:ext>
            </a:extLst>
          </p:cNvPr>
          <p:cNvSpPr>
            <a:spLocks xmlns:a="http://schemas.openxmlformats.org/drawingml/2006/main" noGrp="1"/>
          </p:cNvSpPr>
          <p:nvPr/>
        </p:nvSpPr>
        <p:spPr>
          <a:xfrm xmlns:a="http://schemas.openxmlformats.org/drawingml/2006/main">
            <a:off x="495300" y="4533900"/>
            <a:ext cx="3238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7202A"/>
                </a:solidFill>
                <a:latin typeface="Georgia"/>
                <a:ea typeface="Georgia"/>
                <a:cs typeface="Georgia"/>
              </a:defRPr>
            </a:pPr>
            <a:r>
              <a:rPr sz="1425" b="1" i="0">
                <a:solidFill>
                  <a:srgbClr val="17202A"/>
                </a:solidFill>
                <a:latin typeface="Georgia"/>
                <a:ea typeface="Georgia"/>
                <a:cs typeface="Georgia"/>
              </a:rPr>
              <a:t>Center any entity, set a hop limit, choose edge types, and move the time window without changing the underlying provenance.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350c78d44944f79"/>
          <a:srcRect xmlns:a="http://schemas.openxmlformats.org/drawingml/2006/main" l="0" t="3183" r="0" b="3183"/>
          <a:stretch xmlns:a="http://schemas.openxmlformats.org/drawingml/2006/main">
            <a:fillRect l="0" t="0" r="0" b="0"/>
          </a:stretch>
        </p:blipFill>
        <p:spPr>
          <a:xfrm xmlns:a="http://schemas.openxmlformats.org/drawingml/2006/main">
            <a:off x="4095750" y="1724025"/>
            <a:ext cx="7600950" cy="4448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369197D-5A4C-4319-89F9-CBEDEBA407C3}"/>
              </a:ext>
            </a:extLst>
          </p:cNvPr>
          <p:cNvSpPr>
            <a:spLocks xmlns:a="http://schemas.openxmlformats.org/drawingml/2006/main" noGrp="1"/>
          </p:cNvSpPr>
          <p:nvPr/>
        </p:nvSpPr>
        <p:spPr>
          <a:xfrm xmlns:a="http://schemas.openxmlformats.org/drawingml/2006/main">
            <a:off x="4095750" y="1724025"/>
            <a:ext cx="7600950" cy="4448175"/>
          </a:xfrm>
          <a:prstGeom xmlns:a="http://schemas.openxmlformats.org/drawingml/2006/main" prst="rect">
            <a:avLst/>
          </a:prstGeom>
          <a:noFill xmlns:a="http://schemas.openxmlformats.org/drawingml/2006/main"/>
          <a:ln xmlns:a="http://schemas.openxmlformats.org/drawingml/2006/main" w="9525">
            <a:solidFill>
              <a:srgbClr val="BEB8AD"/>
            </a:solidFill>
            <a:prstDash val="solid"/>
          </a:ln>
        </p:spPr>
      </p:sp>
      <p:sp>
        <p:nvSpPr>
          <p:cNvPr id="13" name="">
            <a:extLst xmlns:a="http://schemas.openxmlformats.org/drawingml/2006/main">
              <a:ext uri="{FF2B5EF4-FFF2-40B4-BE49-F238E27FC236}">
                <a16:creationId xmlns:a16="http://schemas.microsoft.com/office/drawing/2014/main" id="{5C42F587-19BB-4E46-80AE-66C5DFE8A1BD}"/>
              </a:ext>
            </a:extLst>
          </p:cNvPr>
          <p:cNvSpPr>
            <a:spLocks xmlns:a="http://schemas.openxmlformats.org/drawingml/2006/main" noGrp="1"/>
          </p:cNvSpPr>
          <p:nvPr/>
        </p:nvSpPr>
        <p:spPr>
          <a:xfrm xmlns:a="http://schemas.openxmlformats.org/drawingml/2006/main">
            <a:off x="4095750" y="6229350"/>
            <a:ext cx="7600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1">
                <a:solidFill>
                  <a:srgbClr val="8B8F91"/>
                </a:solidFill>
                <a:latin typeface="Arial"/>
                <a:ea typeface="Arial"/>
                <a:cs typeface="Arial"/>
              </a:defRPr>
            </a:pPr>
            <a:r>
              <a:rPr sz="900" b="0" i="1">
                <a:solidFill>
                  <a:srgbClr val="8B8F91"/>
                </a:solidFill>
                <a:latin typeface="Arial"/>
                <a:ea typeface="Arial"/>
                <a:cs typeface="Arial"/>
              </a:rPr>
              <a:t>Interface captured from the current frontend with mock data; values are illustrative.</a:t>
            </a:r>
          </a:p>
        </p:txBody>
      </p:sp>
      <p:sp>
        <p:nvSpPr>
          <p:cNvPr id="14" name="">
            <a:extLst xmlns:a="http://schemas.openxmlformats.org/drawingml/2006/main">
              <a:ext uri="{FF2B5EF4-FFF2-40B4-BE49-F238E27FC236}">
                <a16:creationId xmlns:a16="http://schemas.microsoft.com/office/drawing/2014/main" id="{E5AC63C0-B47E-4A12-BB53-5ED7C5D09112}"/>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15" name="">
            <a:extLst xmlns:a="http://schemas.openxmlformats.org/drawingml/2006/main">
              <a:ext uri="{FF2B5EF4-FFF2-40B4-BE49-F238E27FC236}">
                <a16:creationId xmlns:a16="http://schemas.microsoft.com/office/drawing/2014/main" id="{EB8568C1-FE02-4459-8475-1CAFF482DA85}"/>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16" name="">
            <a:extLst xmlns:a="http://schemas.openxmlformats.org/drawingml/2006/main">
              <a:ext uri="{FF2B5EF4-FFF2-40B4-BE49-F238E27FC236}">
                <a16:creationId xmlns:a16="http://schemas.microsoft.com/office/drawing/2014/main" id="{36D8E339-10F3-4577-B914-28CA679255CF}"/>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996837625"/>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697DC7A-D9E8-4885-A5D9-4C69C79BBF39}"/>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IMPLEMENTED VIEW</a:t>
            </a:r>
          </a:p>
        </p:txBody>
      </p:sp>
      <p:sp>
        <p:nvSpPr>
          <p:cNvPr id="2" name="">
            <a:extLst xmlns:a="http://schemas.openxmlformats.org/drawingml/2006/main">
              <a:ext uri="{FF2B5EF4-FFF2-40B4-BE49-F238E27FC236}">
                <a16:creationId xmlns:a16="http://schemas.microsoft.com/office/drawing/2014/main" id="{FE447AEE-160F-44F0-8361-343252BBCF30}"/>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D1912BB-EF59-4217-A08F-8D7E3FD61F4A}"/>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9089"/>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AC can monitor growth, emerging collaborators, themes, and citation activity</a:t>
            </a:r>
          </a:p>
        </p:txBody>
      </p:sp>
      <p:sp>
        <p:nvSpPr>
          <p:cNvPr id="4" name="">
            <a:extLst xmlns:a="http://schemas.openxmlformats.org/drawingml/2006/main">
              <a:ext uri="{FF2B5EF4-FFF2-40B4-BE49-F238E27FC236}">
                <a16:creationId xmlns:a16="http://schemas.microsoft.com/office/drawing/2014/main" id="{68FA344F-6CF4-4DAB-BE8B-CEB4E4056B8B}"/>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c8f68bef085415f"/>
          <a:srcRect xmlns:a="http://schemas.openxmlformats.org/drawingml/2006/main" l="0" t="4988" r="0" b="4988"/>
          <a:stretch xmlns:a="http://schemas.openxmlformats.org/drawingml/2006/main">
            <a:fillRect l="0" t="0" r="0" b="0"/>
          </a:stretch>
        </p:blipFill>
        <p:spPr>
          <a:xfrm xmlns:a="http://schemas.openxmlformats.org/drawingml/2006/main">
            <a:off x="495300" y="1724025"/>
            <a:ext cx="7905750" cy="4448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064273-7EB1-4A17-87E7-3E153A39A5CC}"/>
              </a:ext>
            </a:extLst>
          </p:cNvPr>
          <p:cNvSpPr>
            <a:spLocks xmlns:a="http://schemas.openxmlformats.org/drawingml/2006/main" noGrp="1"/>
          </p:cNvSpPr>
          <p:nvPr/>
        </p:nvSpPr>
        <p:spPr>
          <a:xfrm xmlns:a="http://schemas.openxmlformats.org/drawingml/2006/main">
            <a:off x="495300" y="1724025"/>
            <a:ext cx="7905750" cy="4448175"/>
          </a:xfrm>
          <a:prstGeom xmlns:a="http://schemas.openxmlformats.org/drawingml/2006/main" prst="rect">
            <a:avLst/>
          </a:prstGeom>
          <a:noFill xmlns:a="http://schemas.openxmlformats.org/drawingml/2006/main"/>
          <a:ln xmlns:a="http://schemas.openxmlformats.org/drawingml/2006/main" w="9525">
            <a:solidFill>
              <a:srgbClr val="BEB8AD"/>
            </a:solidFill>
            <a:prstDash val="solid"/>
          </a:ln>
        </p:spPr>
      </p:sp>
      <p:sp>
        <p:nvSpPr>
          <p:cNvPr id="7" name="">
            <a:extLst xmlns:a="http://schemas.openxmlformats.org/drawingml/2006/main">
              <a:ext uri="{FF2B5EF4-FFF2-40B4-BE49-F238E27FC236}">
                <a16:creationId xmlns:a16="http://schemas.microsoft.com/office/drawing/2014/main" id="{7052ECC1-F008-4088-B403-3913B34F4FA7}"/>
              </a:ext>
            </a:extLst>
          </p:cNvPr>
          <p:cNvSpPr>
            <a:spLocks xmlns:a="http://schemas.openxmlformats.org/drawingml/2006/main" noGrp="1"/>
          </p:cNvSpPr>
          <p:nvPr/>
        </p:nvSpPr>
        <p:spPr>
          <a:xfrm xmlns:a="http://schemas.openxmlformats.org/drawingml/2006/main">
            <a:off x="495300" y="6229350"/>
            <a:ext cx="790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i="1">
                <a:solidFill>
                  <a:srgbClr val="8B8F91"/>
                </a:solidFill>
                <a:latin typeface="Arial"/>
                <a:ea typeface="Arial"/>
                <a:cs typeface="Arial"/>
              </a:defRPr>
            </a:pPr>
            <a:r>
              <a:rPr sz="900" b="0" i="1">
                <a:solidFill>
                  <a:srgbClr val="8B8F91"/>
                </a:solidFill>
                <a:latin typeface="Arial"/>
                <a:ea typeface="Arial"/>
                <a:cs typeface="Arial"/>
              </a:rPr>
              <a:t>Interface captured from the current frontend with mock data; values are illustrative.</a:t>
            </a:r>
          </a:p>
        </p:txBody>
      </p:sp>
      <p:sp>
        <p:nvSpPr>
          <p:cNvPr id="8" name="">
            <a:extLst xmlns:a="http://schemas.openxmlformats.org/drawingml/2006/main">
              <a:ext uri="{FF2B5EF4-FFF2-40B4-BE49-F238E27FC236}">
                <a16:creationId xmlns:a16="http://schemas.microsoft.com/office/drawing/2014/main" id="{5349EECC-6C3B-4E02-9562-CF55A94F43DA}"/>
              </a:ext>
            </a:extLst>
          </p:cNvPr>
          <p:cNvSpPr>
            <a:spLocks xmlns:a="http://schemas.openxmlformats.org/drawingml/2006/main" noGrp="1"/>
          </p:cNvSpPr>
          <p:nvPr/>
        </p:nvSpPr>
        <p:spPr>
          <a:xfrm xmlns:a="http://schemas.openxmlformats.org/drawingml/2006/main">
            <a:off x="8782050" y="18097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METRICS ARE SQL-DERIVED</a:t>
            </a:r>
          </a:p>
        </p:txBody>
      </p:sp>
      <p:sp>
        <p:nvSpPr>
          <p:cNvPr id="9" name="">
            <a:extLst xmlns:a="http://schemas.openxmlformats.org/drawingml/2006/main">
              <a:ext uri="{FF2B5EF4-FFF2-40B4-BE49-F238E27FC236}">
                <a16:creationId xmlns:a16="http://schemas.microsoft.com/office/drawing/2014/main" id="{996E3D00-FA36-4673-A56E-A47DDA68E3C6}"/>
              </a:ext>
            </a:extLst>
          </p:cNvPr>
          <p:cNvSpPr>
            <a:spLocks xmlns:a="http://schemas.openxmlformats.org/drawingml/2006/main" noGrp="1"/>
          </p:cNvSpPr>
          <p:nvPr/>
        </p:nvSpPr>
        <p:spPr>
          <a:xfrm xmlns:a="http://schemas.openxmlformats.org/drawingml/2006/main">
            <a:off x="8782050" y="21526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Attributed papers</a:t>
            </a:r>
          </a:p>
        </p:txBody>
      </p:sp>
      <p:sp>
        <p:nvSpPr>
          <p:cNvPr id="10" name="">
            <a:extLst xmlns:a="http://schemas.openxmlformats.org/drawingml/2006/main">
              <a:ext uri="{FF2B5EF4-FFF2-40B4-BE49-F238E27FC236}">
                <a16:creationId xmlns:a16="http://schemas.microsoft.com/office/drawing/2014/main" id="{A7F9C645-4862-4724-9389-50E8F0B0DEEF}"/>
              </a:ext>
            </a:extLst>
          </p:cNvPr>
          <p:cNvSpPr>
            <a:spLocks xmlns:a="http://schemas.openxmlformats.org/drawingml/2006/main" noGrp="1"/>
          </p:cNvSpPr>
          <p:nvPr/>
        </p:nvSpPr>
        <p:spPr>
          <a:xfrm xmlns:a="http://schemas.openxmlformats.org/drawingml/2006/main">
            <a:off x="8782050" y="240030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CORE + RELATED by year</a:t>
            </a:r>
          </a:p>
        </p:txBody>
      </p:sp>
      <p:sp>
        <p:nvSpPr>
          <p:cNvPr id="11" name="">
            <a:extLst xmlns:a="http://schemas.openxmlformats.org/drawingml/2006/main">
              <a:ext uri="{FF2B5EF4-FFF2-40B4-BE49-F238E27FC236}">
                <a16:creationId xmlns:a16="http://schemas.microsoft.com/office/drawing/2014/main" id="{88403C36-9453-42E7-8289-739855DFA304}"/>
              </a:ext>
            </a:extLst>
          </p:cNvPr>
          <p:cNvSpPr>
            <a:spLocks xmlns:a="http://schemas.openxmlformats.org/drawingml/2006/main" noGrp="1"/>
          </p:cNvSpPr>
          <p:nvPr/>
        </p:nvSpPr>
        <p:spPr>
          <a:xfrm xmlns:a="http://schemas.openxmlformats.org/drawingml/2006/main">
            <a:off x="8782050" y="275272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Citation activity</a:t>
            </a:r>
          </a:p>
        </p:txBody>
      </p:sp>
      <p:sp>
        <p:nvSpPr>
          <p:cNvPr id="12" name="">
            <a:extLst xmlns:a="http://schemas.openxmlformats.org/drawingml/2006/main">
              <a:ext uri="{FF2B5EF4-FFF2-40B4-BE49-F238E27FC236}">
                <a16:creationId xmlns:a16="http://schemas.microsoft.com/office/drawing/2014/main" id="{34F49078-5A7E-4F4D-8529-59AEAB5C40D9}"/>
              </a:ext>
            </a:extLst>
          </p:cNvPr>
          <p:cNvSpPr>
            <a:spLocks xmlns:a="http://schemas.openxmlformats.org/drawingml/2006/main" noGrp="1"/>
          </p:cNvSpPr>
          <p:nvPr/>
        </p:nvSpPr>
        <p:spPr>
          <a:xfrm xmlns:a="http://schemas.openxmlformats.org/drawingml/2006/main">
            <a:off x="8782050" y="3000375"/>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corpus citation edges by year</a:t>
            </a:r>
          </a:p>
        </p:txBody>
      </p:sp>
      <p:sp>
        <p:nvSpPr>
          <p:cNvPr id="13" name="">
            <a:extLst xmlns:a="http://schemas.openxmlformats.org/drawingml/2006/main">
              <a:ext uri="{FF2B5EF4-FFF2-40B4-BE49-F238E27FC236}">
                <a16:creationId xmlns:a16="http://schemas.microsoft.com/office/drawing/2014/main" id="{ECDE888E-AB22-4E30-B42D-33E815533A2E}"/>
              </a:ext>
            </a:extLst>
          </p:cNvPr>
          <p:cNvSpPr>
            <a:spLocks xmlns:a="http://schemas.openxmlformats.org/drawingml/2006/main" noGrp="1"/>
          </p:cNvSpPr>
          <p:nvPr/>
        </p:nvSpPr>
        <p:spPr>
          <a:xfrm xmlns:a="http://schemas.openxmlformats.org/drawingml/2006/main">
            <a:off x="8782050" y="335280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Emerging institutions</a:t>
            </a:r>
          </a:p>
        </p:txBody>
      </p:sp>
      <p:sp>
        <p:nvSpPr>
          <p:cNvPr id="14" name="">
            <a:extLst xmlns:a="http://schemas.openxmlformats.org/drawingml/2006/main">
              <a:ext uri="{FF2B5EF4-FFF2-40B4-BE49-F238E27FC236}">
                <a16:creationId xmlns:a16="http://schemas.microsoft.com/office/drawing/2014/main" id="{5CD143E2-222E-40E8-B832-EFC3028C5DD9}"/>
              </a:ext>
            </a:extLst>
          </p:cNvPr>
          <p:cNvSpPr>
            <a:spLocks xmlns:a="http://schemas.openxmlformats.org/drawingml/2006/main" noGrp="1"/>
          </p:cNvSpPr>
          <p:nvPr/>
        </p:nvSpPr>
        <p:spPr>
          <a:xfrm xmlns:a="http://schemas.openxmlformats.org/drawingml/2006/main">
            <a:off x="8782050" y="360045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first year + paper count + partner status</a:t>
            </a:r>
          </a:p>
        </p:txBody>
      </p:sp>
      <p:sp>
        <p:nvSpPr>
          <p:cNvPr id="15" name="">
            <a:extLst xmlns:a="http://schemas.openxmlformats.org/drawingml/2006/main">
              <a:ext uri="{FF2B5EF4-FFF2-40B4-BE49-F238E27FC236}">
                <a16:creationId xmlns:a16="http://schemas.microsoft.com/office/drawing/2014/main" id="{B0218BCE-8EED-4D86-8D2F-E1D53B22771E}"/>
              </a:ext>
            </a:extLst>
          </p:cNvPr>
          <p:cNvSpPr>
            <a:spLocks xmlns:a="http://schemas.openxmlformats.org/drawingml/2006/main" noGrp="1"/>
          </p:cNvSpPr>
          <p:nvPr/>
        </p:nvSpPr>
        <p:spPr>
          <a:xfrm xmlns:a="http://schemas.openxmlformats.org/drawingml/2006/main">
            <a:off x="8782050" y="395287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Emerging authors</a:t>
            </a:r>
          </a:p>
        </p:txBody>
      </p:sp>
      <p:sp>
        <p:nvSpPr>
          <p:cNvPr id="16" name="">
            <a:extLst xmlns:a="http://schemas.openxmlformats.org/drawingml/2006/main">
              <a:ext uri="{FF2B5EF4-FFF2-40B4-BE49-F238E27FC236}">
                <a16:creationId xmlns:a16="http://schemas.microsoft.com/office/drawing/2014/main" id="{B7B2B3D3-88F0-4227-8713-3AB49F41FFB5}"/>
              </a:ext>
            </a:extLst>
          </p:cNvPr>
          <p:cNvSpPr>
            <a:spLocks xmlns:a="http://schemas.openxmlformats.org/drawingml/2006/main" noGrp="1"/>
          </p:cNvSpPr>
          <p:nvPr/>
        </p:nvSpPr>
        <p:spPr>
          <a:xfrm xmlns:a="http://schemas.openxmlformats.org/drawingml/2006/main">
            <a:off x="8782050" y="4200525"/>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first year + attributed-paper activity</a:t>
            </a:r>
          </a:p>
        </p:txBody>
      </p:sp>
      <p:sp>
        <p:nvSpPr>
          <p:cNvPr id="17" name="">
            <a:extLst xmlns:a="http://schemas.openxmlformats.org/drawingml/2006/main">
              <a:ext uri="{FF2B5EF4-FFF2-40B4-BE49-F238E27FC236}">
                <a16:creationId xmlns:a16="http://schemas.microsoft.com/office/drawing/2014/main" id="{05BE866D-89B6-4C8E-9C75-C825DC094C86}"/>
              </a:ext>
            </a:extLst>
          </p:cNvPr>
          <p:cNvSpPr>
            <a:spLocks xmlns:a="http://schemas.openxmlformats.org/drawingml/2006/main" noGrp="1"/>
          </p:cNvSpPr>
          <p:nvPr/>
        </p:nvSpPr>
        <p:spPr>
          <a:xfrm xmlns:a="http://schemas.openxmlformats.org/drawingml/2006/main">
            <a:off x="8782050" y="4552950"/>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Growing themes</a:t>
            </a:r>
          </a:p>
        </p:txBody>
      </p:sp>
      <p:sp>
        <p:nvSpPr>
          <p:cNvPr id="18" name="">
            <a:extLst xmlns:a="http://schemas.openxmlformats.org/drawingml/2006/main">
              <a:ext uri="{FF2B5EF4-FFF2-40B4-BE49-F238E27FC236}">
                <a16:creationId xmlns:a16="http://schemas.microsoft.com/office/drawing/2014/main" id="{AC56A48F-1AF5-4460-A6A5-C1A6E5375C93}"/>
              </a:ext>
            </a:extLst>
          </p:cNvPr>
          <p:cNvSpPr>
            <a:spLocks xmlns:a="http://schemas.openxmlformats.org/drawingml/2006/main" noGrp="1"/>
          </p:cNvSpPr>
          <p:nvPr/>
        </p:nvSpPr>
        <p:spPr>
          <a:xfrm xmlns:a="http://schemas.openxmlformats.org/drawingml/2006/main">
            <a:off x="8782050" y="4800600"/>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recent versus earlier topic counts</a:t>
            </a:r>
          </a:p>
        </p:txBody>
      </p:sp>
      <p:sp>
        <p:nvSpPr>
          <p:cNvPr id="19" name="">
            <a:extLst xmlns:a="http://schemas.openxmlformats.org/drawingml/2006/main">
              <a:ext uri="{FF2B5EF4-FFF2-40B4-BE49-F238E27FC236}">
                <a16:creationId xmlns:a16="http://schemas.microsoft.com/office/drawing/2014/main" id="{FF02C16A-9CA8-4781-A034-37754B961EE5}"/>
              </a:ext>
            </a:extLst>
          </p:cNvPr>
          <p:cNvSpPr>
            <a:spLocks xmlns:a="http://schemas.openxmlformats.org/drawingml/2006/main" noGrp="1"/>
          </p:cNvSpPr>
          <p:nvPr/>
        </p:nvSpPr>
        <p:spPr>
          <a:xfrm xmlns:a="http://schemas.openxmlformats.org/drawingml/2006/main">
            <a:off x="8782050" y="5153025"/>
            <a:ext cx="2628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03A4C"/>
                </a:solidFill>
                <a:latin typeface="Arial"/>
                <a:ea typeface="Arial"/>
                <a:cs typeface="Arial"/>
              </a:defRPr>
            </a:pPr>
            <a:r>
              <a:rPr sz="1200" b="1" i="0">
                <a:solidFill>
                  <a:srgbClr val="203A4C"/>
                </a:solidFill>
                <a:latin typeface="Arial"/>
                <a:ea typeface="Arial"/>
                <a:cs typeface="Arial"/>
              </a:rPr>
              <a:t>Drift events</a:t>
            </a:r>
          </a:p>
        </p:txBody>
      </p:sp>
      <p:sp>
        <p:nvSpPr>
          <p:cNvPr id="20" name="">
            <a:extLst xmlns:a="http://schemas.openxmlformats.org/drawingml/2006/main">
              <a:ext uri="{FF2B5EF4-FFF2-40B4-BE49-F238E27FC236}">
                <a16:creationId xmlns:a16="http://schemas.microsoft.com/office/drawing/2014/main" id="{11E517AA-05BE-4374-AE7B-B69B4355802F}"/>
              </a:ext>
            </a:extLst>
          </p:cNvPr>
          <p:cNvSpPr>
            <a:spLocks xmlns:a="http://schemas.openxmlformats.org/drawingml/2006/main" noGrp="1"/>
          </p:cNvSpPr>
          <p:nvPr/>
        </p:nvSpPr>
        <p:spPr>
          <a:xfrm xmlns:a="http://schemas.openxmlformats.org/drawingml/2006/main">
            <a:off x="8782050" y="5400675"/>
            <a:ext cx="2628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06972"/>
                </a:solidFill>
                <a:latin typeface="Arial"/>
                <a:ea typeface="Arial"/>
                <a:cs typeface="Arial"/>
              </a:defRPr>
            </a:pPr>
            <a:r>
              <a:rPr sz="1125" b="0" i="0">
                <a:solidFill>
                  <a:srgbClr val="606972"/>
                </a:solidFill>
                <a:latin typeface="Arial"/>
                <a:ea typeface="Arial"/>
                <a:cs typeface="Arial"/>
              </a:rPr>
              <a:t>year-to-year topic-vector similarity</a:t>
            </a:r>
          </a:p>
        </p:txBody>
      </p:sp>
      <p:sp>
        <p:nvSpPr>
          <p:cNvPr id="21" name="">
            <a:extLst xmlns:a="http://schemas.openxmlformats.org/drawingml/2006/main">
              <a:ext uri="{FF2B5EF4-FFF2-40B4-BE49-F238E27FC236}">
                <a16:creationId xmlns:a16="http://schemas.microsoft.com/office/drawing/2014/main" id="{CDEA03EB-E722-4DC3-8636-D07B58F3A3BE}"/>
              </a:ext>
            </a:extLst>
          </p:cNvPr>
          <p:cNvSpPr>
            <a:spLocks xmlns:a="http://schemas.openxmlformats.org/drawingml/2006/main" noGrp="1"/>
          </p:cNvSpPr>
          <p:nvPr/>
        </p:nvSpPr>
        <p:spPr>
          <a:xfrm xmlns:a="http://schemas.openxmlformats.org/drawingml/2006/main">
            <a:off x="8782050" y="5895975"/>
            <a:ext cx="2914650" cy="333375"/>
          </a:xfrm>
          <a:prstGeom xmlns:a="http://schemas.openxmlformats.org/drawingml/2006/main" prst="rect">
            <a:avLst/>
          </a:prstGeom>
          <a:solidFill xmlns:a="http://schemas.openxmlformats.org/drawingml/2006/main">
            <a:srgbClr val="F1E2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984B22B-4681-4F9E-83AC-A798158A0FDA}"/>
              </a:ext>
            </a:extLst>
          </p:cNvPr>
          <p:cNvSpPr>
            <a:spLocks xmlns:a="http://schemas.openxmlformats.org/drawingml/2006/main" noGrp="1"/>
          </p:cNvSpPr>
          <p:nvPr/>
        </p:nvSpPr>
        <p:spPr>
          <a:xfrm xmlns:a="http://schemas.openxmlformats.org/drawingml/2006/main">
            <a:off x="8896350" y="5972175"/>
            <a:ext cx="2686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A74D43"/>
                </a:solidFill>
                <a:latin typeface="Arial"/>
                <a:ea typeface="Arial"/>
                <a:cs typeface="Arial"/>
              </a:defRPr>
            </a:pPr>
            <a:r>
              <a:rPr sz="1050" b="1" i="0">
                <a:solidFill>
                  <a:srgbClr val="A74D43"/>
                </a:solidFill>
                <a:latin typeface="Arial"/>
                <a:ea typeface="Arial"/>
                <a:cs typeface="Arial"/>
              </a:rPr>
              <a:t>LLMs do not calculate these numbers.</a:t>
            </a:r>
          </a:p>
        </p:txBody>
      </p:sp>
      <p:sp>
        <p:nvSpPr>
          <p:cNvPr id="23" name="">
            <a:extLst xmlns:a="http://schemas.openxmlformats.org/drawingml/2006/main">
              <a:ext uri="{FF2B5EF4-FFF2-40B4-BE49-F238E27FC236}">
                <a16:creationId xmlns:a16="http://schemas.microsoft.com/office/drawing/2014/main" id="{732455FA-B1F3-4B13-8035-CFFC3F9BD24A}"/>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24" name="">
            <a:extLst xmlns:a="http://schemas.openxmlformats.org/drawingml/2006/main">
              <a:ext uri="{FF2B5EF4-FFF2-40B4-BE49-F238E27FC236}">
                <a16:creationId xmlns:a16="http://schemas.microsoft.com/office/drawing/2014/main" id="{F0946891-5A8A-4D95-994B-8DFA83769895}"/>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25" name="">
            <a:extLst xmlns:a="http://schemas.openxmlformats.org/drawingml/2006/main">
              <a:ext uri="{FF2B5EF4-FFF2-40B4-BE49-F238E27FC236}">
                <a16:creationId xmlns:a16="http://schemas.microsoft.com/office/drawing/2014/main" id="{B33DF876-34A0-4DFC-93BE-CA4C5CE9121A}"/>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910059814"/>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3541538-538F-4218-ABDF-AC9C4F6B3F11}"/>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2C067EFE-6DC5-4C4F-A38F-D20DA5F74A00}"/>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70F122ED-092D-431B-AC91-5A759F1F5B79}"/>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92"/>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Connection intelligence supports concrete operating questions</a:t>
            </a:r>
          </a:p>
        </p:txBody>
      </p:sp>
      <p:sp>
        <p:nvSpPr>
          <p:cNvPr id="4" name="">
            <a:extLst xmlns:a="http://schemas.openxmlformats.org/drawingml/2006/main">
              <a:ext uri="{FF2B5EF4-FFF2-40B4-BE49-F238E27FC236}">
                <a16:creationId xmlns:a16="http://schemas.microsoft.com/office/drawing/2014/main" id="{F52A4C51-5FEE-4821-96B1-AD5C84567486}"/>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4B6187E5-330E-4E2E-BC8C-BF791B05B6E5}"/>
              </a:ext>
            </a:extLst>
          </p:cNvPr>
          <p:cNvSpPr>
            <a:spLocks xmlns:a="http://schemas.openxmlformats.org/drawingml/2006/main" noGrp="1"/>
          </p:cNvSpPr>
          <p:nvPr/>
        </p:nvSpPr>
        <p:spPr>
          <a:xfrm xmlns:a="http://schemas.openxmlformats.org/drawingml/2006/main">
            <a:off x="495300" y="1781175"/>
            <a:ext cx="40005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6" name="">
            <a:extLst xmlns:a="http://schemas.openxmlformats.org/drawingml/2006/main">
              <a:ext uri="{FF2B5EF4-FFF2-40B4-BE49-F238E27FC236}">
                <a16:creationId xmlns:a16="http://schemas.microsoft.com/office/drawing/2014/main" id="{CCDDB423-0277-41B2-8ACB-41CB4A834B50}"/>
              </a:ext>
            </a:extLst>
          </p:cNvPr>
          <p:cNvSpPr>
            <a:spLocks xmlns:a="http://schemas.openxmlformats.org/drawingml/2006/main" noGrp="1"/>
          </p:cNvSpPr>
          <p:nvPr/>
        </p:nvSpPr>
        <p:spPr>
          <a:xfrm xmlns:a="http://schemas.openxmlformats.org/drawingml/2006/main">
            <a:off x="609600" y="1857375"/>
            <a:ext cx="3771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OPERATING QUESTION</a:t>
            </a:r>
          </a:p>
        </p:txBody>
      </p:sp>
      <p:sp>
        <p:nvSpPr>
          <p:cNvPr id="7" name="">
            <a:extLst xmlns:a="http://schemas.openxmlformats.org/drawingml/2006/main">
              <a:ext uri="{FF2B5EF4-FFF2-40B4-BE49-F238E27FC236}">
                <a16:creationId xmlns:a16="http://schemas.microsoft.com/office/drawing/2014/main" id="{EA5494AC-B5D3-4FFE-AED0-63D79ABB122F}"/>
              </a:ext>
            </a:extLst>
          </p:cNvPr>
          <p:cNvSpPr>
            <a:spLocks xmlns:a="http://schemas.openxmlformats.org/drawingml/2006/main" noGrp="1"/>
          </p:cNvSpPr>
          <p:nvPr/>
        </p:nvSpPr>
        <p:spPr>
          <a:xfrm xmlns:a="http://schemas.openxmlformats.org/drawingml/2006/main">
            <a:off x="4495800" y="1781175"/>
            <a:ext cx="37147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8" name="">
            <a:extLst xmlns:a="http://schemas.openxmlformats.org/drawingml/2006/main">
              <a:ext uri="{FF2B5EF4-FFF2-40B4-BE49-F238E27FC236}">
                <a16:creationId xmlns:a16="http://schemas.microsoft.com/office/drawing/2014/main" id="{429D31C5-A5FC-451F-933D-084942D7EBE1}"/>
              </a:ext>
            </a:extLst>
          </p:cNvPr>
          <p:cNvSpPr>
            <a:spLocks xmlns:a="http://schemas.openxmlformats.org/drawingml/2006/main" noGrp="1"/>
          </p:cNvSpPr>
          <p:nvPr/>
        </p:nvSpPr>
        <p:spPr>
          <a:xfrm xmlns:a="http://schemas.openxmlformats.org/drawingml/2006/main">
            <a:off x="4610100" y="1857375"/>
            <a:ext cx="3486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SYSTEM EVIDENCE</a:t>
            </a:r>
          </a:p>
        </p:txBody>
      </p:sp>
      <p:sp>
        <p:nvSpPr>
          <p:cNvPr id="9" name="">
            <a:extLst xmlns:a="http://schemas.openxmlformats.org/drawingml/2006/main">
              <a:ext uri="{FF2B5EF4-FFF2-40B4-BE49-F238E27FC236}">
                <a16:creationId xmlns:a16="http://schemas.microsoft.com/office/drawing/2014/main" id="{AF284B54-6847-40F9-9605-3C8678C7A863}"/>
              </a:ext>
            </a:extLst>
          </p:cNvPr>
          <p:cNvSpPr>
            <a:spLocks xmlns:a="http://schemas.openxmlformats.org/drawingml/2006/main" noGrp="1"/>
          </p:cNvSpPr>
          <p:nvPr/>
        </p:nvSpPr>
        <p:spPr>
          <a:xfrm xmlns:a="http://schemas.openxmlformats.org/drawingml/2006/main">
            <a:off x="8210550" y="1781175"/>
            <a:ext cx="348615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0" name="">
            <a:extLst xmlns:a="http://schemas.openxmlformats.org/drawingml/2006/main">
              <a:ext uri="{FF2B5EF4-FFF2-40B4-BE49-F238E27FC236}">
                <a16:creationId xmlns:a16="http://schemas.microsoft.com/office/drawing/2014/main" id="{B785D2C1-353C-4586-9761-D335EEFA8DBC}"/>
              </a:ext>
            </a:extLst>
          </p:cNvPr>
          <p:cNvSpPr>
            <a:spLocks xmlns:a="http://schemas.openxmlformats.org/drawingml/2006/main" noGrp="1"/>
          </p:cNvSpPr>
          <p:nvPr/>
        </p:nvSpPr>
        <p:spPr>
          <a:xfrm xmlns:a="http://schemas.openxmlformats.org/drawingml/2006/main">
            <a:off x="8324850" y="1857375"/>
            <a:ext cx="3257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POSSIBLE AC ACTION</a:t>
            </a:r>
          </a:p>
        </p:txBody>
      </p:sp>
      <p:sp>
        <p:nvSpPr>
          <p:cNvPr id="11" name="">
            <a:extLst xmlns:a="http://schemas.openxmlformats.org/drawingml/2006/main">
              <a:ext uri="{FF2B5EF4-FFF2-40B4-BE49-F238E27FC236}">
                <a16:creationId xmlns:a16="http://schemas.microsoft.com/office/drawing/2014/main" id="{9F718DE3-3005-4091-8E01-12666BEFCB04}"/>
              </a:ext>
            </a:extLst>
          </p:cNvPr>
          <p:cNvSpPr>
            <a:spLocks xmlns:a="http://schemas.openxmlformats.org/drawingml/2006/main" noGrp="1"/>
          </p:cNvSpPr>
          <p:nvPr/>
        </p:nvSpPr>
        <p:spPr>
          <a:xfrm xmlns:a="http://schemas.openxmlformats.org/drawingml/2006/main">
            <a:off x="495300" y="2200275"/>
            <a:ext cx="4000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2" name="">
            <a:extLst xmlns:a="http://schemas.openxmlformats.org/drawingml/2006/main">
              <a:ext uri="{FF2B5EF4-FFF2-40B4-BE49-F238E27FC236}">
                <a16:creationId xmlns:a16="http://schemas.microsoft.com/office/drawing/2014/main" id="{B5BE06CA-2E23-4401-8EE3-EBF46D99F0FA}"/>
              </a:ext>
            </a:extLst>
          </p:cNvPr>
          <p:cNvSpPr>
            <a:spLocks xmlns:a="http://schemas.openxmlformats.org/drawingml/2006/main" noGrp="1"/>
          </p:cNvSpPr>
          <p:nvPr/>
        </p:nvSpPr>
        <p:spPr>
          <a:xfrm xmlns:a="http://schemas.openxmlformats.org/drawingml/2006/main">
            <a:off x="609600" y="227647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Which papers are attributable to AC, and why?</a:t>
            </a:r>
          </a:p>
        </p:txBody>
      </p:sp>
      <p:sp>
        <p:nvSpPr>
          <p:cNvPr id="13" name="">
            <a:extLst xmlns:a="http://schemas.openxmlformats.org/drawingml/2006/main">
              <a:ext uri="{FF2B5EF4-FFF2-40B4-BE49-F238E27FC236}">
                <a16:creationId xmlns:a16="http://schemas.microsoft.com/office/drawing/2014/main" id="{78E2F3B9-CE81-4E20-8D84-9750AB809E12}"/>
              </a:ext>
            </a:extLst>
          </p:cNvPr>
          <p:cNvSpPr>
            <a:spLocks xmlns:a="http://schemas.openxmlformats.org/drawingml/2006/main" noGrp="1"/>
          </p:cNvSpPr>
          <p:nvPr/>
        </p:nvSpPr>
        <p:spPr>
          <a:xfrm xmlns:a="http://schemas.openxmlformats.org/drawingml/2006/main">
            <a:off x="4495800" y="2200275"/>
            <a:ext cx="3714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CA476C47-57C6-4730-8607-310D817A489C}"/>
              </a:ext>
            </a:extLst>
          </p:cNvPr>
          <p:cNvSpPr>
            <a:spLocks xmlns:a="http://schemas.openxmlformats.org/drawingml/2006/main" noGrp="1"/>
          </p:cNvSpPr>
          <p:nvPr/>
        </p:nvSpPr>
        <p:spPr>
          <a:xfrm xmlns:a="http://schemas.openxmlformats.org/drawingml/2006/main">
            <a:off x="4610100" y="227647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paper record · AET · graph explanation</a:t>
            </a:r>
          </a:p>
        </p:txBody>
      </p:sp>
      <p:sp>
        <p:nvSpPr>
          <p:cNvPr id="15" name="">
            <a:extLst xmlns:a="http://schemas.openxmlformats.org/drawingml/2006/main">
              <a:ext uri="{FF2B5EF4-FFF2-40B4-BE49-F238E27FC236}">
                <a16:creationId xmlns:a16="http://schemas.microsoft.com/office/drawing/2014/main" id="{A0ABCE85-CB9A-4BC2-9839-EB70EA3C6463}"/>
              </a:ext>
            </a:extLst>
          </p:cNvPr>
          <p:cNvSpPr>
            <a:spLocks xmlns:a="http://schemas.openxmlformats.org/drawingml/2006/main" noGrp="1"/>
          </p:cNvSpPr>
          <p:nvPr/>
        </p:nvSpPr>
        <p:spPr>
          <a:xfrm xmlns:a="http://schemas.openxmlformats.org/drawingml/2006/main">
            <a:off x="8210550" y="2200275"/>
            <a:ext cx="34861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E7309B3D-22F2-45D2-B98A-B4AC73C413E0}"/>
              </a:ext>
            </a:extLst>
          </p:cNvPr>
          <p:cNvSpPr>
            <a:spLocks xmlns:a="http://schemas.openxmlformats.org/drawingml/2006/main" noGrp="1"/>
          </p:cNvSpPr>
          <p:nvPr/>
        </p:nvSpPr>
        <p:spPr>
          <a:xfrm xmlns:a="http://schemas.openxmlformats.org/drawingml/2006/main">
            <a:off x="8324850" y="227647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review, publish, or correct the attribution</a:t>
            </a:r>
          </a:p>
        </p:txBody>
      </p:sp>
      <p:sp>
        <p:nvSpPr>
          <p:cNvPr id="17" name="">
            <a:extLst xmlns:a="http://schemas.openxmlformats.org/drawingml/2006/main">
              <a:ext uri="{FF2B5EF4-FFF2-40B4-BE49-F238E27FC236}">
                <a16:creationId xmlns:a16="http://schemas.microsoft.com/office/drawing/2014/main" id="{AF861DD4-29C2-41E8-A3A2-12B1F3179FD7}"/>
              </a:ext>
            </a:extLst>
          </p:cNvPr>
          <p:cNvSpPr>
            <a:spLocks xmlns:a="http://schemas.openxmlformats.org/drawingml/2006/main" noGrp="1"/>
          </p:cNvSpPr>
          <p:nvPr/>
        </p:nvSpPr>
        <p:spPr>
          <a:xfrm xmlns:a="http://schemas.openxmlformats.org/drawingml/2006/main">
            <a:off x="495300" y="2828925"/>
            <a:ext cx="400050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4BFBF628-D87E-4781-82D6-E710CE9DD68F}"/>
              </a:ext>
            </a:extLst>
          </p:cNvPr>
          <p:cNvSpPr>
            <a:spLocks xmlns:a="http://schemas.openxmlformats.org/drawingml/2006/main" noGrp="1"/>
          </p:cNvSpPr>
          <p:nvPr/>
        </p:nvSpPr>
        <p:spPr>
          <a:xfrm xmlns:a="http://schemas.openxmlformats.org/drawingml/2006/main">
            <a:off x="609600" y="290512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Who bridges AC to an external SDL community?</a:t>
            </a:r>
          </a:p>
        </p:txBody>
      </p:sp>
      <p:sp>
        <p:nvSpPr>
          <p:cNvPr id="19" name="">
            <a:extLst xmlns:a="http://schemas.openxmlformats.org/drawingml/2006/main">
              <a:ext uri="{FF2B5EF4-FFF2-40B4-BE49-F238E27FC236}">
                <a16:creationId xmlns:a16="http://schemas.microsoft.com/office/drawing/2014/main" id="{C4E2D647-BFFC-49B9-B313-136345A269F7}"/>
              </a:ext>
            </a:extLst>
          </p:cNvPr>
          <p:cNvSpPr>
            <a:spLocks xmlns:a="http://schemas.openxmlformats.org/drawingml/2006/main" noGrp="1"/>
          </p:cNvSpPr>
          <p:nvPr/>
        </p:nvSpPr>
        <p:spPr>
          <a:xfrm xmlns:a="http://schemas.openxmlformats.org/drawingml/2006/main">
            <a:off x="4495800" y="2828925"/>
            <a:ext cx="37147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42113EC1-9DAB-48D1-BEE2-9A089E771307}"/>
              </a:ext>
            </a:extLst>
          </p:cNvPr>
          <p:cNvSpPr>
            <a:spLocks xmlns:a="http://schemas.openxmlformats.org/drawingml/2006/main" noGrp="1"/>
          </p:cNvSpPr>
          <p:nvPr/>
        </p:nvSpPr>
        <p:spPr>
          <a:xfrm xmlns:a="http://schemas.openxmlformats.org/drawingml/2006/main">
            <a:off x="4610100" y="290512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PPR · excess centrality · SDL diversity · joint papers</a:t>
            </a:r>
          </a:p>
        </p:txBody>
      </p:sp>
      <p:sp>
        <p:nvSpPr>
          <p:cNvPr id="21" name="">
            <a:extLst xmlns:a="http://schemas.openxmlformats.org/drawingml/2006/main">
              <a:ext uri="{FF2B5EF4-FFF2-40B4-BE49-F238E27FC236}">
                <a16:creationId xmlns:a16="http://schemas.microsoft.com/office/drawing/2014/main" id="{7617EA9F-2DF8-4D1E-8F57-7237DDF41234}"/>
              </a:ext>
            </a:extLst>
          </p:cNvPr>
          <p:cNvSpPr>
            <a:spLocks xmlns:a="http://schemas.openxmlformats.org/drawingml/2006/main" noGrp="1"/>
          </p:cNvSpPr>
          <p:nvPr/>
        </p:nvSpPr>
        <p:spPr>
          <a:xfrm xmlns:a="http://schemas.openxmlformats.org/drawingml/2006/main">
            <a:off x="8210550" y="2828925"/>
            <a:ext cx="34861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2" name="">
            <a:extLst xmlns:a="http://schemas.openxmlformats.org/drawingml/2006/main">
              <a:ext uri="{FF2B5EF4-FFF2-40B4-BE49-F238E27FC236}">
                <a16:creationId xmlns:a16="http://schemas.microsoft.com/office/drawing/2014/main" id="{84AA5978-5ED6-424B-A4FA-25A27E1EDB72}"/>
              </a:ext>
            </a:extLst>
          </p:cNvPr>
          <p:cNvSpPr>
            <a:spLocks xmlns:a="http://schemas.openxmlformats.org/drawingml/2006/main" noGrp="1"/>
          </p:cNvSpPr>
          <p:nvPr/>
        </p:nvSpPr>
        <p:spPr>
          <a:xfrm xmlns:a="http://schemas.openxmlformats.org/drawingml/2006/main">
            <a:off x="8324850" y="290512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prioritize outreach or collaboration review</a:t>
            </a:r>
          </a:p>
        </p:txBody>
      </p:sp>
      <p:sp>
        <p:nvSpPr>
          <p:cNvPr id="23" name="">
            <a:extLst xmlns:a="http://schemas.openxmlformats.org/drawingml/2006/main">
              <a:ext uri="{FF2B5EF4-FFF2-40B4-BE49-F238E27FC236}">
                <a16:creationId xmlns:a16="http://schemas.microsoft.com/office/drawing/2014/main" id="{5F62BFB1-5E26-444C-8E7E-4629C4A03041}"/>
              </a:ext>
            </a:extLst>
          </p:cNvPr>
          <p:cNvSpPr>
            <a:spLocks xmlns:a="http://schemas.openxmlformats.org/drawingml/2006/main" noGrp="1"/>
          </p:cNvSpPr>
          <p:nvPr/>
        </p:nvSpPr>
        <p:spPr>
          <a:xfrm xmlns:a="http://schemas.openxmlformats.org/drawingml/2006/main">
            <a:off x="495300" y="3457575"/>
            <a:ext cx="4000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4" name="">
            <a:extLst xmlns:a="http://schemas.openxmlformats.org/drawingml/2006/main">
              <a:ext uri="{FF2B5EF4-FFF2-40B4-BE49-F238E27FC236}">
                <a16:creationId xmlns:a16="http://schemas.microsoft.com/office/drawing/2014/main" id="{DE7B331A-D892-4379-9EF5-F600894EBB8A}"/>
              </a:ext>
            </a:extLst>
          </p:cNvPr>
          <p:cNvSpPr>
            <a:spLocks xmlns:a="http://schemas.openxmlformats.org/drawingml/2006/main" noGrp="1"/>
          </p:cNvSpPr>
          <p:nvPr/>
        </p:nvSpPr>
        <p:spPr>
          <a:xfrm xmlns:a="http://schemas.openxmlformats.org/drawingml/2006/main">
            <a:off x="609600" y="353377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Which institutions are emerging collaborators?</a:t>
            </a:r>
          </a:p>
        </p:txBody>
      </p:sp>
      <p:sp>
        <p:nvSpPr>
          <p:cNvPr id="25" name="">
            <a:extLst xmlns:a="http://schemas.openxmlformats.org/drawingml/2006/main">
              <a:ext uri="{FF2B5EF4-FFF2-40B4-BE49-F238E27FC236}">
                <a16:creationId xmlns:a16="http://schemas.microsoft.com/office/drawing/2014/main" id="{1B78AD53-8DD9-41EF-8323-A8EFAD45EE38}"/>
              </a:ext>
            </a:extLst>
          </p:cNvPr>
          <p:cNvSpPr>
            <a:spLocks xmlns:a="http://schemas.openxmlformats.org/drawingml/2006/main" noGrp="1"/>
          </p:cNvSpPr>
          <p:nvPr/>
        </p:nvSpPr>
        <p:spPr>
          <a:xfrm xmlns:a="http://schemas.openxmlformats.org/drawingml/2006/main">
            <a:off x="4495800" y="3457575"/>
            <a:ext cx="3714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6" name="">
            <a:extLst xmlns:a="http://schemas.openxmlformats.org/drawingml/2006/main">
              <a:ext uri="{FF2B5EF4-FFF2-40B4-BE49-F238E27FC236}">
                <a16:creationId xmlns:a16="http://schemas.microsoft.com/office/drawing/2014/main" id="{25AAF6FB-3F99-4E2E-863D-AEE54DD0D434}"/>
              </a:ext>
            </a:extLst>
          </p:cNvPr>
          <p:cNvSpPr>
            <a:spLocks xmlns:a="http://schemas.openxmlformats.org/drawingml/2006/main" noGrp="1"/>
          </p:cNvSpPr>
          <p:nvPr/>
        </p:nvSpPr>
        <p:spPr>
          <a:xfrm xmlns:a="http://schemas.openxmlformats.org/drawingml/2006/main">
            <a:off x="4610100" y="353377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first-year activity · institution edges · hub score · geography</a:t>
            </a:r>
          </a:p>
        </p:txBody>
      </p:sp>
      <p:sp>
        <p:nvSpPr>
          <p:cNvPr id="27" name="">
            <a:extLst xmlns:a="http://schemas.openxmlformats.org/drawingml/2006/main">
              <a:ext uri="{FF2B5EF4-FFF2-40B4-BE49-F238E27FC236}">
                <a16:creationId xmlns:a16="http://schemas.microsoft.com/office/drawing/2014/main" id="{74099027-AC29-46A3-BB01-9EDD55A4C5C3}"/>
              </a:ext>
            </a:extLst>
          </p:cNvPr>
          <p:cNvSpPr>
            <a:spLocks xmlns:a="http://schemas.openxmlformats.org/drawingml/2006/main" noGrp="1"/>
          </p:cNvSpPr>
          <p:nvPr/>
        </p:nvSpPr>
        <p:spPr>
          <a:xfrm xmlns:a="http://schemas.openxmlformats.org/drawingml/2006/main">
            <a:off x="8210550" y="3457575"/>
            <a:ext cx="34861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8" name="">
            <a:extLst xmlns:a="http://schemas.openxmlformats.org/drawingml/2006/main">
              <a:ext uri="{FF2B5EF4-FFF2-40B4-BE49-F238E27FC236}">
                <a16:creationId xmlns:a16="http://schemas.microsoft.com/office/drawing/2014/main" id="{EAA5B955-9150-423E-822E-1DAF7E5E130E}"/>
              </a:ext>
            </a:extLst>
          </p:cNvPr>
          <p:cNvSpPr>
            <a:spLocks xmlns:a="http://schemas.openxmlformats.org/drawingml/2006/main" noGrp="1"/>
          </p:cNvSpPr>
          <p:nvPr/>
        </p:nvSpPr>
        <p:spPr>
          <a:xfrm xmlns:a="http://schemas.openxmlformats.org/drawingml/2006/main">
            <a:off x="8324850" y="353377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support partnership development</a:t>
            </a:r>
          </a:p>
        </p:txBody>
      </p:sp>
      <p:sp>
        <p:nvSpPr>
          <p:cNvPr id="29" name="">
            <a:extLst xmlns:a="http://schemas.openxmlformats.org/drawingml/2006/main">
              <a:ext uri="{FF2B5EF4-FFF2-40B4-BE49-F238E27FC236}">
                <a16:creationId xmlns:a16="http://schemas.microsoft.com/office/drawing/2014/main" id="{A96DDA71-D313-4DB6-A837-F45E2724C253}"/>
              </a:ext>
            </a:extLst>
          </p:cNvPr>
          <p:cNvSpPr>
            <a:spLocks xmlns:a="http://schemas.openxmlformats.org/drawingml/2006/main" noGrp="1"/>
          </p:cNvSpPr>
          <p:nvPr/>
        </p:nvSpPr>
        <p:spPr>
          <a:xfrm xmlns:a="http://schemas.openxmlformats.org/drawingml/2006/main">
            <a:off x="495300" y="4086225"/>
            <a:ext cx="400050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0" name="">
            <a:extLst xmlns:a="http://schemas.openxmlformats.org/drawingml/2006/main">
              <a:ext uri="{FF2B5EF4-FFF2-40B4-BE49-F238E27FC236}">
                <a16:creationId xmlns:a16="http://schemas.microsoft.com/office/drawing/2014/main" id="{711B2E4E-DA8B-4A49-8B74-D07E681BA611}"/>
              </a:ext>
            </a:extLst>
          </p:cNvPr>
          <p:cNvSpPr>
            <a:spLocks xmlns:a="http://schemas.openxmlformats.org/drawingml/2006/main" noGrp="1"/>
          </p:cNvSpPr>
          <p:nvPr/>
        </p:nvSpPr>
        <p:spPr>
          <a:xfrm xmlns:a="http://schemas.openxmlformats.org/drawingml/2006/main">
            <a:off x="609600" y="416242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Which topics or methods move across communities?</a:t>
            </a:r>
          </a:p>
        </p:txBody>
      </p:sp>
      <p:sp>
        <p:nvSpPr>
          <p:cNvPr id="31" name="">
            <a:extLst xmlns:a="http://schemas.openxmlformats.org/drawingml/2006/main">
              <a:ext uri="{FF2B5EF4-FFF2-40B4-BE49-F238E27FC236}">
                <a16:creationId xmlns:a16="http://schemas.microsoft.com/office/drawing/2014/main" id="{FFC8BC5B-AC35-4A0A-9ED0-96055D5BCB5A}"/>
              </a:ext>
            </a:extLst>
          </p:cNvPr>
          <p:cNvSpPr>
            <a:spLocks xmlns:a="http://schemas.openxmlformats.org/drawingml/2006/main" noGrp="1"/>
          </p:cNvSpPr>
          <p:nvPr/>
        </p:nvSpPr>
        <p:spPr>
          <a:xfrm xmlns:a="http://schemas.openxmlformats.org/drawingml/2006/main">
            <a:off x="4495800" y="4086225"/>
            <a:ext cx="37147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2" name="">
            <a:extLst xmlns:a="http://schemas.openxmlformats.org/drawingml/2006/main">
              <a:ext uri="{FF2B5EF4-FFF2-40B4-BE49-F238E27FC236}">
                <a16:creationId xmlns:a16="http://schemas.microsoft.com/office/drawing/2014/main" id="{2AF1FCDB-577B-4B9A-BFA6-DBD2BA47D180}"/>
              </a:ext>
            </a:extLst>
          </p:cNvPr>
          <p:cNvSpPr>
            <a:spLocks xmlns:a="http://schemas.openxmlformats.org/drawingml/2006/main" noGrp="1"/>
          </p:cNvSpPr>
          <p:nvPr/>
        </p:nvSpPr>
        <p:spPr>
          <a:xfrm xmlns:a="http://schemas.openxmlformats.org/drawingml/2006/main">
            <a:off x="4610100" y="416242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Sankey · multi-graph · topic diffusion profile</a:t>
            </a:r>
          </a:p>
        </p:txBody>
      </p:sp>
      <p:sp>
        <p:nvSpPr>
          <p:cNvPr id="33" name="">
            <a:extLst xmlns:a="http://schemas.openxmlformats.org/drawingml/2006/main">
              <a:ext uri="{FF2B5EF4-FFF2-40B4-BE49-F238E27FC236}">
                <a16:creationId xmlns:a16="http://schemas.microsoft.com/office/drawing/2014/main" id="{6E098DE9-EB02-49A3-80B8-262B0A328531}"/>
              </a:ext>
            </a:extLst>
          </p:cNvPr>
          <p:cNvSpPr>
            <a:spLocks xmlns:a="http://schemas.openxmlformats.org/drawingml/2006/main" noGrp="1"/>
          </p:cNvSpPr>
          <p:nvPr/>
        </p:nvSpPr>
        <p:spPr>
          <a:xfrm xmlns:a="http://schemas.openxmlformats.org/drawingml/2006/main">
            <a:off x="8210550" y="4086225"/>
            <a:ext cx="34861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4" name="">
            <a:extLst xmlns:a="http://schemas.openxmlformats.org/drawingml/2006/main">
              <a:ext uri="{FF2B5EF4-FFF2-40B4-BE49-F238E27FC236}">
                <a16:creationId xmlns:a16="http://schemas.microsoft.com/office/drawing/2014/main" id="{6A756F0A-AABE-4E01-A89C-76AD8C2A3354}"/>
              </a:ext>
            </a:extLst>
          </p:cNvPr>
          <p:cNvSpPr>
            <a:spLocks xmlns:a="http://schemas.openxmlformats.org/drawingml/2006/main" noGrp="1"/>
          </p:cNvSpPr>
          <p:nvPr/>
        </p:nvSpPr>
        <p:spPr>
          <a:xfrm xmlns:a="http://schemas.openxmlformats.org/drawingml/2006/main">
            <a:off x="8324850" y="416242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identify translation opportunities</a:t>
            </a:r>
          </a:p>
        </p:txBody>
      </p:sp>
      <p:sp>
        <p:nvSpPr>
          <p:cNvPr id="35" name="">
            <a:extLst xmlns:a="http://schemas.openxmlformats.org/drawingml/2006/main">
              <a:ext uri="{FF2B5EF4-FFF2-40B4-BE49-F238E27FC236}">
                <a16:creationId xmlns:a16="http://schemas.microsoft.com/office/drawing/2014/main" id="{30EE2D7E-B896-4D02-9384-F46DBDE2DC30}"/>
              </a:ext>
            </a:extLst>
          </p:cNvPr>
          <p:cNvSpPr>
            <a:spLocks xmlns:a="http://schemas.openxmlformats.org/drawingml/2006/main" noGrp="1"/>
          </p:cNvSpPr>
          <p:nvPr/>
        </p:nvSpPr>
        <p:spPr>
          <a:xfrm xmlns:a="http://schemas.openxmlformats.org/drawingml/2006/main">
            <a:off x="495300" y="4714875"/>
            <a:ext cx="4000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6" name="">
            <a:extLst xmlns:a="http://schemas.openxmlformats.org/drawingml/2006/main">
              <a:ext uri="{FF2B5EF4-FFF2-40B4-BE49-F238E27FC236}">
                <a16:creationId xmlns:a16="http://schemas.microsoft.com/office/drawing/2014/main" id="{0D45DD51-7B06-4EF1-B235-ACF0995EB317}"/>
              </a:ext>
            </a:extLst>
          </p:cNvPr>
          <p:cNvSpPr>
            <a:spLocks xmlns:a="http://schemas.openxmlformats.org/drawingml/2006/main" noGrp="1"/>
          </p:cNvSpPr>
          <p:nvPr/>
        </p:nvSpPr>
        <p:spPr>
          <a:xfrm xmlns:a="http://schemas.openxmlformats.org/drawingml/2006/main">
            <a:off x="609600" y="479107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Where are the evidence and ingestion blind spots?</a:t>
            </a:r>
          </a:p>
        </p:txBody>
      </p:sp>
      <p:sp>
        <p:nvSpPr>
          <p:cNvPr id="37" name="">
            <a:extLst xmlns:a="http://schemas.openxmlformats.org/drawingml/2006/main">
              <a:ext uri="{FF2B5EF4-FFF2-40B4-BE49-F238E27FC236}">
                <a16:creationId xmlns:a16="http://schemas.microsoft.com/office/drawing/2014/main" id="{6C644739-1592-448F-8FF0-4BA1A45E0082}"/>
              </a:ext>
            </a:extLst>
          </p:cNvPr>
          <p:cNvSpPr>
            <a:spLocks xmlns:a="http://schemas.openxmlformats.org/drawingml/2006/main" noGrp="1"/>
          </p:cNvSpPr>
          <p:nvPr/>
        </p:nvSpPr>
        <p:spPr>
          <a:xfrm xmlns:a="http://schemas.openxmlformats.org/drawingml/2006/main">
            <a:off x="4495800" y="4714875"/>
            <a:ext cx="37147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8" name="">
            <a:extLst xmlns:a="http://schemas.openxmlformats.org/drawingml/2006/main">
              <a:ext uri="{FF2B5EF4-FFF2-40B4-BE49-F238E27FC236}">
                <a16:creationId xmlns:a16="http://schemas.microsoft.com/office/drawing/2014/main" id="{1BE5562E-B7AA-433E-9E1C-8834697DCE3C}"/>
              </a:ext>
            </a:extLst>
          </p:cNvPr>
          <p:cNvSpPr>
            <a:spLocks xmlns:a="http://schemas.openxmlformats.org/drawingml/2006/main" noGrp="1"/>
          </p:cNvSpPr>
          <p:nvPr/>
        </p:nvSpPr>
        <p:spPr>
          <a:xfrm xmlns:a="http://schemas.openxmlformats.org/drawingml/2006/main">
            <a:off x="4610100" y="479107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evidence gaps · duplicate candidates · missed-paper groups · drift</a:t>
            </a:r>
          </a:p>
        </p:txBody>
      </p:sp>
      <p:sp>
        <p:nvSpPr>
          <p:cNvPr id="39" name="">
            <a:extLst xmlns:a="http://schemas.openxmlformats.org/drawingml/2006/main">
              <a:ext uri="{FF2B5EF4-FFF2-40B4-BE49-F238E27FC236}">
                <a16:creationId xmlns:a16="http://schemas.microsoft.com/office/drawing/2014/main" id="{B6F092E1-4D87-4261-8618-1FB3D2A28120}"/>
              </a:ext>
            </a:extLst>
          </p:cNvPr>
          <p:cNvSpPr>
            <a:spLocks xmlns:a="http://schemas.openxmlformats.org/drawingml/2006/main" noGrp="1"/>
          </p:cNvSpPr>
          <p:nvPr/>
        </p:nvSpPr>
        <p:spPr>
          <a:xfrm xmlns:a="http://schemas.openxmlformats.org/drawingml/2006/main">
            <a:off x="8210550" y="4714875"/>
            <a:ext cx="34861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40" name="">
            <a:extLst xmlns:a="http://schemas.openxmlformats.org/drawingml/2006/main">
              <a:ext uri="{FF2B5EF4-FFF2-40B4-BE49-F238E27FC236}">
                <a16:creationId xmlns:a16="http://schemas.microsoft.com/office/drawing/2014/main" id="{D515897E-C435-42D6-A99E-095633DCA31A}"/>
              </a:ext>
            </a:extLst>
          </p:cNvPr>
          <p:cNvSpPr>
            <a:spLocks xmlns:a="http://schemas.openxmlformats.org/drawingml/2006/main" noGrp="1"/>
          </p:cNvSpPr>
          <p:nvPr/>
        </p:nvSpPr>
        <p:spPr>
          <a:xfrm xmlns:a="http://schemas.openxmlformats.org/drawingml/2006/main">
            <a:off x="8324850" y="479107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improve dataset coverage and review policy</a:t>
            </a:r>
          </a:p>
        </p:txBody>
      </p:sp>
      <p:sp>
        <p:nvSpPr>
          <p:cNvPr id="41" name="">
            <a:extLst xmlns:a="http://schemas.openxmlformats.org/drawingml/2006/main">
              <a:ext uri="{FF2B5EF4-FFF2-40B4-BE49-F238E27FC236}">
                <a16:creationId xmlns:a16="http://schemas.microsoft.com/office/drawing/2014/main" id="{581DCDB9-0B5A-47BF-AD8A-38D8F2E8AF85}"/>
              </a:ext>
            </a:extLst>
          </p:cNvPr>
          <p:cNvSpPr>
            <a:spLocks xmlns:a="http://schemas.openxmlformats.org/drawingml/2006/main" noGrp="1"/>
          </p:cNvSpPr>
          <p:nvPr/>
        </p:nvSpPr>
        <p:spPr>
          <a:xfrm xmlns:a="http://schemas.openxmlformats.org/drawingml/2006/main">
            <a:off x="495300" y="5343525"/>
            <a:ext cx="400050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2" name="">
            <a:extLst xmlns:a="http://schemas.openxmlformats.org/drawingml/2006/main">
              <a:ext uri="{FF2B5EF4-FFF2-40B4-BE49-F238E27FC236}">
                <a16:creationId xmlns:a16="http://schemas.microsoft.com/office/drawing/2014/main" id="{874600FD-1A42-43F5-82EC-CD515B1F31C3}"/>
              </a:ext>
            </a:extLst>
          </p:cNvPr>
          <p:cNvSpPr>
            <a:spLocks xmlns:a="http://schemas.openxmlformats.org/drawingml/2006/main" noGrp="1"/>
          </p:cNvSpPr>
          <p:nvPr/>
        </p:nvSpPr>
        <p:spPr>
          <a:xfrm xmlns:a="http://schemas.openxmlformats.org/drawingml/2006/main">
            <a:off x="609600" y="5419725"/>
            <a:ext cx="377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Which claims can go into a stakeholder report?</a:t>
            </a:r>
          </a:p>
        </p:txBody>
      </p:sp>
      <p:sp>
        <p:nvSpPr>
          <p:cNvPr id="43" name="">
            <a:extLst xmlns:a="http://schemas.openxmlformats.org/drawingml/2006/main">
              <a:ext uri="{FF2B5EF4-FFF2-40B4-BE49-F238E27FC236}">
                <a16:creationId xmlns:a16="http://schemas.microsoft.com/office/drawing/2014/main" id="{49A27110-0337-48C9-87D9-5E54070290B2}"/>
              </a:ext>
            </a:extLst>
          </p:cNvPr>
          <p:cNvSpPr>
            <a:spLocks xmlns:a="http://schemas.openxmlformats.org/drawingml/2006/main" noGrp="1"/>
          </p:cNvSpPr>
          <p:nvPr/>
        </p:nvSpPr>
        <p:spPr>
          <a:xfrm xmlns:a="http://schemas.openxmlformats.org/drawingml/2006/main">
            <a:off x="4495800" y="5343525"/>
            <a:ext cx="37147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4" name="">
            <a:extLst xmlns:a="http://schemas.openxmlformats.org/drawingml/2006/main">
              <a:ext uri="{FF2B5EF4-FFF2-40B4-BE49-F238E27FC236}">
                <a16:creationId xmlns:a16="http://schemas.microsoft.com/office/drawing/2014/main" id="{5619114E-D363-473D-BB6D-D41736BF4B95}"/>
              </a:ext>
            </a:extLst>
          </p:cNvPr>
          <p:cNvSpPr>
            <a:spLocks xmlns:a="http://schemas.openxmlformats.org/drawingml/2006/main" noGrp="1"/>
          </p:cNvSpPr>
          <p:nvPr/>
        </p:nvSpPr>
        <p:spPr>
          <a:xfrm xmlns:a="http://schemas.openxmlformats.org/drawingml/2006/main">
            <a:off x="4610100" y="5419725"/>
            <a:ext cx="3486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SQL metric triples with source links</a:t>
            </a:r>
          </a:p>
        </p:txBody>
      </p:sp>
      <p:sp>
        <p:nvSpPr>
          <p:cNvPr id="45" name="">
            <a:extLst xmlns:a="http://schemas.openxmlformats.org/drawingml/2006/main">
              <a:ext uri="{FF2B5EF4-FFF2-40B4-BE49-F238E27FC236}">
                <a16:creationId xmlns:a16="http://schemas.microsoft.com/office/drawing/2014/main" id="{B4BEB02F-7D9F-44D4-8FC0-67324799B68B}"/>
              </a:ext>
            </a:extLst>
          </p:cNvPr>
          <p:cNvSpPr>
            <a:spLocks xmlns:a="http://schemas.openxmlformats.org/drawingml/2006/main" noGrp="1"/>
          </p:cNvSpPr>
          <p:nvPr/>
        </p:nvSpPr>
        <p:spPr>
          <a:xfrm xmlns:a="http://schemas.openxmlformats.org/drawingml/2006/main">
            <a:off x="8210550" y="5343525"/>
            <a:ext cx="3486150" cy="6286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46" name="">
            <a:extLst xmlns:a="http://schemas.openxmlformats.org/drawingml/2006/main">
              <a:ext uri="{FF2B5EF4-FFF2-40B4-BE49-F238E27FC236}">
                <a16:creationId xmlns:a16="http://schemas.microsoft.com/office/drawing/2014/main" id="{05C66ABB-025D-420B-8C8B-359012D372C1}"/>
              </a:ext>
            </a:extLst>
          </p:cNvPr>
          <p:cNvSpPr>
            <a:spLocks xmlns:a="http://schemas.openxmlformats.org/drawingml/2006/main" noGrp="1"/>
          </p:cNvSpPr>
          <p:nvPr/>
        </p:nvSpPr>
        <p:spPr>
          <a:xfrm xmlns:a="http://schemas.openxmlformats.org/drawingml/2006/main">
            <a:off x="8324850" y="5419725"/>
            <a:ext cx="3257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produce auditable reporting without invented numbers</a:t>
            </a:r>
          </a:p>
        </p:txBody>
      </p:sp>
      <p:sp>
        <p:nvSpPr>
          <p:cNvPr id="47" name="">
            <a:extLst xmlns:a="http://schemas.openxmlformats.org/drawingml/2006/main">
              <a:ext uri="{FF2B5EF4-FFF2-40B4-BE49-F238E27FC236}">
                <a16:creationId xmlns:a16="http://schemas.microsoft.com/office/drawing/2014/main" id="{E8A4DFF4-0A09-4762-B005-C0203363BF88}"/>
              </a:ext>
            </a:extLst>
          </p:cNvPr>
          <p:cNvSpPr>
            <a:spLocks xmlns:a="http://schemas.openxmlformats.org/drawingml/2006/main" noGrp="1"/>
          </p:cNvSpPr>
          <p:nvPr/>
        </p:nvSpPr>
        <p:spPr>
          <a:xfrm xmlns:a="http://schemas.openxmlformats.org/drawingml/2006/main">
            <a:off x="495300" y="6105525"/>
            <a:ext cx="11201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60"/>
          </a:bodyPr>
          <a:lstStyle xmlns:a="http://schemas.openxmlformats.org/drawingml/2006/main"/>
          <a:p xmlns:a="http://schemas.openxmlformats.org/drawingml/2006/main">
            <a:pPr algn="ctr">
              <a:lnSpc>
                <a:spcPct val="108000"/>
              </a:lnSpc>
              <a:buNone/>
              <a:defRPr sz="1425" b="1" i="0">
                <a:solidFill>
                  <a:srgbClr val="B8663B"/>
                </a:solidFill>
                <a:latin typeface="Georgia"/>
                <a:ea typeface="Georgia"/>
                <a:cs typeface="Georgia"/>
              </a:defRPr>
            </a:pPr>
            <a:r>
              <a:rPr sz="1425" b="1" i="0">
                <a:solidFill>
                  <a:srgbClr val="B8663B"/>
                </a:solidFill>
                <a:latin typeface="Georgia"/>
                <a:ea typeface="Georgia"/>
                <a:cs typeface="Georgia"/>
              </a:rPr>
              <a:t>The system turns bibliometric records into a decision surface for curation, partnership tracking, and scientific translation.</a:t>
            </a:r>
          </a:p>
        </p:txBody>
      </p:sp>
      <p:sp>
        <p:nvSpPr>
          <p:cNvPr id="48" name="">
            <a:extLst xmlns:a="http://schemas.openxmlformats.org/drawingml/2006/main">
              <a:ext uri="{FF2B5EF4-FFF2-40B4-BE49-F238E27FC236}">
                <a16:creationId xmlns:a16="http://schemas.microsoft.com/office/drawing/2014/main" id="{2F006188-DE57-4CB0-8CD1-C540F7ACD3A2}"/>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49" name="">
            <a:extLst xmlns:a="http://schemas.openxmlformats.org/drawingml/2006/main">
              <a:ext uri="{FF2B5EF4-FFF2-40B4-BE49-F238E27FC236}">
                <a16:creationId xmlns:a16="http://schemas.microsoft.com/office/drawing/2014/main" id="{02C7D92B-7DF5-4CCF-A085-C645DDE80F52}"/>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50" name="">
            <a:extLst xmlns:a="http://schemas.openxmlformats.org/drawingml/2006/main">
              <a:ext uri="{FF2B5EF4-FFF2-40B4-BE49-F238E27FC236}">
                <a16:creationId xmlns:a16="http://schemas.microsoft.com/office/drawing/2014/main" id="{9C77DC92-0180-4D43-AF23-9B06BBDFE8E4}"/>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562578877"/>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7E9E4827-DCE1-48C7-A213-5C0DD6CEB438}"/>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EVIDENCE ACCESS</a:t>
            </a:r>
          </a:p>
        </p:txBody>
      </p:sp>
      <p:sp>
        <p:nvSpPr>
          <p:cNvPr id="2" name="">
            <a:extLst xmlns:a="http://schemas.openxmlformats.org/drawingml/2006/main">
              <a:ext uri="{FF2B5EF4-FFF2-40B4-BE49-F238E27FC236}">
                <a16:creationId xmlns:a16="http://schemas.microsoft.com/office/drawing/2014/main" id="{95A3CA12-4910-4D82-9426-4831D0BB78B0}"/>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77245C08-6016-4342-A9E0-05904077B75C}"/>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5644"/>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Retrieval answers questions with graph context, propositions, and source chunks</a:t>
            </a:r>
          </a:p>
        </p:txBody>
      </p:sp>
      <p:sp>
        <p:nvSpPr>
          <p:cNvPr id="4" name="">
            <a:extLst xmlns:a="http://schemas.openxmlformats.org/drawingml/2006/main">
              <a:ext uri="{FF2B5EF4-FFF2-40B4-BE49-F238E27FC236}">
                <a16:creationId xmlns:a16="http://schemas.microsoft.com/office/drawing/2014/main" id="{6624897F-F73B-4FBA-86BF-550C6B5DAAA9}"/>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315F1161-F999-4851-8CFC-DBC39633A3B3}"/>
              </a:ext>
            </a:extLst>
          </p:cNvPr>
          <p:cNvSpPr>
            <a:spLocks xmlns:a="http://schemas.openxmlformats.org/drawingml/2006/main" noGrp="1"/>
          </p:cNvSpPr>
          <p:nvPr/>
        </p:nvSpPr>
        <p:spPr>
          <a:xfrm xmlns:a="http://schemas.openxmlformats.org/drawingml/2006/main">
            <a:off x="2038350" y="2838450"/>
            <a:ext cx="3048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EF868CC-ABC6-45CF-962D-E144258903B5}"/>
              </a:ext>
            </a:extLst>
          </p:cNvPr>
          <p:cNvSpPr>
            <a:spLocks xmlns:a="http://schemas.openxmlformats.org/drawingml/2006/main" noGrp="1"/>
          </p:cNvSpPr>
          <p:nvPr/>
        </p:nvSpPr>
        <p:spPr>
          <a:xfrm xmlns:a="http://schemas.openxmlformats.org/drawingml/2006/main">
            <a:off x="3924300" y="2838450"/>
            <a:ext cx="3048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7AE098-BAAF-4C60-89BF-FBB28E3EEE3C}"/>
              </a:ext>
            </a:extLst>
          </p:cNvPr>
          <p:cNvSpPr>
            <a:spLocks xmlns:a="http://schemas.openxmlformats.org/drawingml/2006/main" noGrp="1"/>
          </p:cNvSpPr>
          <p:nvPr/>
        </p:nvSpPr>
        <p:spPr>
          <a:xfrm xmlns:a="http://schemas.openxmlformats.org/drawingml/2006/main">
            <a:off x="5810250" y="2838450"/>
            <a:ext cx="304800" cy="95250"/>
          </a:xfrm>
          <a:prstGeom xmlns:a="http://schemas.openxmlformats.org/drawingml/2006/main" prst="rightArrow">
            <a:avLst/>
          </a:prstGeom>
          <a:solidFill xmlns:a="http://schemas.openxmlformats.org/drawingml/2006/main">
            <a:srgbClr val="587F9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A4727C-CC9B-47CB-8D1D-386D069974C5}"/>
              </a:ext>
            </a:extLst>
          </p:cNvPr>
          <p:cNvSpPr>
            <a:spLocks xmlns:a="http://schemas.openxmlformats.org/drawingml/2006/main" noGrp="1"/>
          </p:cNvSpPr>
          <p:nvPr/>
        </p:nvSpPr>
        <p:spPr>
          <a:xfrm xmlns:a="http://schemas.openxmlformats.org/drawingml/2006/main">
            <a:off x="7696200" y="2838450"/>
            <a:ext cx="304800" cy="95250"/>
          </a:xfrm>
          <a:prstGeom xmlns:a="http://schemas.openxmlformats.org/drawingml/2006/main" prst="rightArrow">
            <a:avLst/>
          </a:prstGeom>
          <a:solidFill xmlns:a="http://schemas.openxmlformats.org/drawingml/2006/main">
            <a:srgbClr val="587F9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99D858F-2692-4189-A63F-9FCAC950C8C0}"/>
              </a:ext>
            </a:extLst>
          </p:cNvPr>
          <p:cNvSpPr>
            <a:spLocks xmlns:a="http://schemas.openxmlformats.org/drawingml/2006/main" noGrp="1"/>
          </p:cNvSpPr>
          <p:nvPr/>
        </p:nvSpPr>
        <p:spPr>
          <a:xfrm xmlns:a="http://schemas.openxmlformats.org/drawingml/2006/main">
            <a:off x="9582150" y="2838450"/>
            <a:ext cx="304800" cy="95250"/>
          </a:xfrm>
          <a:prstGeom xmlns:a="http://schemas.openxmlformats.org/drawingml/2006/main" prst="rightArrow">
            <a:avLst/>
          </a:prstGeom>
          <a:solidFill xmlns:a="http://schemas.openxmlformats.org/drawingml/2006/main">
            <a:srgbClr val="587F9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26130E-31D0-4367-8A92-23081417E0C5}"/>
              </a:ext>
            </a:extLst>
          </p:cNvPr>
          <p:cNvSpPr>
            <a:spLocks xmlns:a="http://schemas.openxmlformats.org/drawingml/2006/main" noGrp="1"/>
          </p:cNvSpPr>
          <p:nvPr/>
        </p:nvSpPr>
        <p:spPr>
          <a:xfrm xmlns:a="http://schemas.openxmlformats.org/drawingml/2006/main">
            <a:off x="495300" y="2009775"/>
            <a:ext cx="15430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1" name="">
            <a:extLst xmlns:a="http://schemas.openxmlformats.org/drawingml/2006/main">
              <a:ext uri="{FF2B5EF4-FFF2-40B4-BE49-F238E27FC236}">
                <a16:creationId xmlns:a16="http://schemas.microsoft.com/office/drawing/2014/main" id="{3F117588-455A-402D-89BF-3C9A2A335824}"/>
              </a:ext>
            </a:extLst>
          </p:cNvPr>
          <p:cNvSpPr>
            <a:spLocks xmlns:a="http://schemas.openxmlformats.org/drawingml/2006/main" noGrp="1"/>
          </p:cNvSpPr>
          <p:nvPr/>
        </p:nvSpPr>
        <p:spPr>
          <a:xfrm xmlns:a="http://schemas.openxmlformats.org/drawingml/2006/main">
            <a:off x="49530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QUERY</a:t>
            </a:r>
          </a:p>
        </p:txBody>
      </p:sp>
      <p:sp>
        <p:nvSpPr>
          <p:cNvPr id="12" name="">
            <a:extLst xmlns:a="http://schemas.openxmlformats.org/drawingml/2006/main">
              <a:ext uri="{FF2B5EF4-FFF2-40B4-BE49-F238E27FC236}">
                <a16:creationId xmlns:a16="http://schemas.microsoft.com/office/drawing/2014/main" id="{7F573E9D-AD9F-4A21-83C1-7B4B8EB06D37}"/>
              </a:ext>
            </a:extLst>
          </p:cNvPr>
          <p:cNvSpPr>
            <a:spLocks xmlns:a="http://schemas.openxmlformats.org/drawingml/2006/main" noGrp="1"/>
          </p:cNvSpPr>
          <p:nvPr/>
        </p:nvSpPr>
        <p:spPr>
          <a:xfrm xmlns:a="http://schemas.openxmlformats.org/drawingml/2006/main">
            <a:off x="49530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natural-language question</a:t>
            </a:r>
          </a:p>
        </p:txBody>
      </p:sp>
      <p:sp>
        <p:nvSpPr>
          <p:cNvPr id="13" name="">
            <a:extLst xmlns:a="http://schemas.openxmlformats.org/drawingml/2006/main">
              <a:ext uri="{FF2B5EF4-FFF2-40B4-BE49-F238E27FC236}">
                <a16:creationId xmlns:a16="http://schemas.microsoft.com/office/drawing/2014/main" id="{90AFAC06-3AE7-49DF-87C9-543F85D59A6E}"/>
              </a:ext>
            </a:extLst>
          </p:cNvPr>
          <p:cNvSpPr>
            <a:spLocks xmlns:a="http://schemas.openxmlformats.org/drawingml/2006/main" noGrp="1"/>
          </p:cNvSpPr>
          <p:nvPr/>
        </p:nvSpPr>
        <p:spPr>
          <a:xfrm xmlns:a="http://schemas.openxmlformats.org/drawingml/2006/main">
            <a:off x="2381250" y="2009775"/>
            <a:ext cx="15430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4" name="">
            <a:extLst xmlns:a="http://schemas.openxmlformats.org/drawingml/2006/main">
              <a:ext uri="{FF2B5EF4-FFF2-40B4-BE49-F238E27FC236}">
                <a16:creationId xmlns:a16="http://schemas.microsoft.com/office/drawing/2014/main" id="{61D5BB8A-0E3E-4B55-9878-600876683B8F}"/>
              </a:ext>
            </a:extLst>
          </p:cNvPr>
          <p:cNvSpPr>
            <a:spLocks xmlns:a="http://schemas.openxmlformats.org/drawingml/2006/main" noGrp="1"/>
          </p:cNvSpPr>
          <p:nvPr/>
        </p:nvSpPr>
        <p:spPr>
          <a:xfrm xmlns:a="http://schemas.openxmlformats.org/drawingml/2006/main">
            <a:off x="238125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TEXT</a:t>
            </a:r>
          </a:p>
        </p:txBody>
      </p:sp>
      <p:sp>
        <p:nvSpPr>
          <p:cNvPr id="15" name="">
            <a:extLst xmlns:a="http://schemas.openxmlformats.org/drawingml/2006/main">
              <a:ext uri="{FF2B5EF4-FFF2-40B4-BE49-F238E27FC236}">
                <a16:creationId xmlns:a16="http://schemas.microsoft.com/office/drawing/2014/main" id="{1BABFCDA-2774-4D86-84A0-6D7A86D24EB8}"/>
              </a:ext>
            </a:extLst>
          </p:cNvPr>
          <p:cNvSpPr>
            <a:spLocks xmlns:a="http://schemas.openxmlformats.org/drawingml/2006/main" noGrp="1"/>
          </p:cNvSpPr>
          <p:nvPr/>
        </p:nvSpPr>
        <p:spPr>
          <a:xfrm xmlns:a="http://schemas.openxmlformats.org/drawingml/2006/main">
            <a:off x="238125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BM25 + cosine</a:t>
            </a:r>
          </a:p>
        </p:txBody>
      </p:sp>
      <p:sp>
        <p:nvSpPr>
          <p:cNvPr id="16" name="">
            <a:extLst xmlns:a="http://schemas.openxmlformats.org/drawingml/2006/main">
              <a:ext uri="{FF2B5EF4-FFF2-40B4-BE49-F238E27FC236}">
                <a16:creationId xmlns:a16="http://schemas.microsoft.com/office/drawing/2014/main" id="{CA855C1A-680C-4EAB-A4D8-20891F860055}"/>
              </a:ext>
            </a:extLst>
          </p:cNvPr>
          <p:cNvSpPr>
            <a:spLocks xmlns:a="http://schemas.openxmlformats.org/drawingml/2006/main" noGrp="1"/>
          </p:cNvSpPr>
          <p:nvPr/>
        </p:nvSpPr>
        <p:spPr>
          <a:xfrm xmlns:a="http://schemas.openxmlformats.org/drawingml/2006/main">
            <a:off x="4267200" y="2009775"/>
            <a:ext cx="15430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7" name="">
            <a:extLst xmlns:a="http://schemas.openxmlformats.org/drawingml/2006/main">
              <a:ext uri="{FF2B5EF4-FFF2-40B4-BE49-F238E27FC236}">
                <a16:creationId xmlns:a16="http://schemas.microsoft.com/office/drawing/2014/main" id="{64EC5E6B-C13A-4629-B99B-04B55C3E280A}"/>
              </a:ext>
            </a:extLst>
          </p:cNvPr>
          <p:cNvSpPr>
            <a:spLocks xmlns:a="http://schemas.openxmlformats.org/drawingml/2006/main" noGrp="1"/>
          </p:cNvSpPr>
          <p:nvPr/>
        </p:nvSpPr>
        <p:spPr>
          <a:xfrm xmlns:a="http://schemas.openxmlformats.org/drawingml/2006/main">
            <a:off x="426720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FUSION</a:t>
            </a:r>
          </a:p>
        </p:txBody>
      </p:sp>
      <p:sp>
        <p:nvSpPr>
          <p:cNvPr id="18" name="">
            <a:extLst xmlns:a="http://schemas.openxmlformats.org/drawingml/2006/main">
              <a:ext uri="{FF2B5EF4-FFF2-40B4-BE49-F238E27FC236}">
                <a16:creationId xmlns:a16="http://schemas.microsoft.com/office/drawing/2014/main" id="{9ECCC5FE-13CE-4785-A22C-AECC367FDC14}"/>
              </a:ext>
            </a:extLst>
          </p:cNvPr>
          <p:cNvSpPr>
            <a:spLocks xmlns:a="http://schemas.openxmlformats.org/drawingml/2006/main" noGrp="1"/>
          </p:cNvSpPr>
          <p:nvPr/>
        </p:nvSpPr>
        <p:spPr>
          <a:xfrm xmlns:a="http://schemas.openxmlformats.org/drawingml/2006/main">
            <a:off x="426720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RRF, k = 60</a:t>
            </a:r>
          </a:p>
        </p:txBody>
      </p:sp>
      <p:sp>
        <p:nvSpPr>
          <p:cNvPr id="19" name="">
            <a:extLst xmlns:a="http://schemas.openxmlformats.org/drawingml/2006/main">
              <a:ext uri="{FF2B5EF4-FFF2-40B4-BE49-F238E27FC236}">
                <a16:creationId xmlns:a16="http://schemas.microsoft.com/office/drawing/2014/main" id="{21F6E9E2-400B-4FCF-AA5F-5B328C02CA8D}"/>
              </a:ext>
            </a:extLst>
          </p:cNvPr>
          <p:cNvSpPr>
            <a:spLocks xmlns:a="http://schemas.openxmlformats.org/drawingml/2006/main" noGrp="1"/>
          </p:cNvSpPr>
          <p:nvPr/>
        </p:nvSpPr>
        <p:spPr>
          <a:xfrm xmlns:a="http://schemas.openxmlformats.org/drawingml/2006/main">
            <a:off x="6153150" y="2009775"/>
            <a:ext cx="15430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20" name="">
            <a:extLst xmlns:a="http://schemas.openxmlformats.org/drawingml/2006/main">
              <a:ext uri="{FF2B5EF4-FFF2-40B4-BE49-F238E27FC236}">
                <a16:creationId xmlns:a16="http://schemas.microsoft.com/office/drawing/2014/main" id="{39A57145-0BC4-442B-B177-B8F85C26C5F1}"/>
              </a:ext>
            </a:extLst>
          </p:cNvPr>
          <p:cNvSpPr>
            <a:spLocks xmlns:a="http://schemas.openxmlformats.org/drawingml/2006/main" noGrp="1"/>
          </p:cNvSpPr>
          <p:nvPr/>
        </p:nvSpPr>
        <p:spPr>
          <a:xfrm xmlns:a="http://schemas.openxmlformats.org/drawingml/2006/main">
            <a:off x="615315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GRAPH</a:t>
            </a:r>
          </a:p>
        </p:txBody>
      </p:sp>
      <p:sp>
        <p:nvSpPr>
          <p:cNvPr id="21" name="">
            <a:extLst xmlns:a="http://schemas.openxmlformats.org/drawingml/2006/main">
              <a:ext uri="{FF2B5EF4-FFF2-40B4-BE49-F238E27FC236}">
                <a16:creationId xmlns:a16="http://schemas.microsoft.com/office/drawing/2014/main" id="{8A46F996-51AD-4300-B552-8F1EF09CA851}"/>
              </a:ext>
            </a:extLst>
          </p:cNvPr>
          <p:cNvSpPr>
            <a:spLocks xmlns:a="http://schemas.openxmlformats.org/drawingml/2006/main" noGrp="1"/>
          </p:cNvSpPr>
          <p:nvPr/>
        </p:nvSpPr>
        <p:spPr>
          <a:xfrm xmlns:a="http://schemas.openxmlformats.org/drawingml/2006/main">
            <a:off x="615315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centrality rerank</a:t>
            </a:r>
          </a:p>
        </p:txBody>
      </p:sp>
      <p:sp>
        <p:nvSpPr>
          <p:cNvPr id="22" name="">
            <a:extLst xmlns:a="http://schemas.openxmlformats.org/drawingml/2006/main">
              <a:ext uri="{FF2B5EF4-FFF2-40B4-BE49-F238E27FC236}">
                <a16:creationId xmlns:a16="http://schemas.microsoft.com/office/drawing/2014/main" id="{8777D945-A3B2-48D5-9F57-1A1B5E1CB52B}"/>
              </a:ext>
            </a:extLst>
          </p:cNvPr>
          <p:cNvSpPr>
            <a:spLocks xmlns:a="http://schemas.openxmlformats.org/drawingml/2006/main" noGrp="1"/>
          </p:cNvSpPr>
          <p:nvPr/>
        </p:nvSpPr>
        <p:spPr>
          <a:xfrm xmlns:a="http://schemas.openxmlformats.org/drawingml/2006/main">
            <a:off x="8039100" y="2009775"/>
            <a:ext cx="15430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23" name="">
            <a:extLst xmlns:a="http://schemas.openxmlformats.org/drawingml/2006/main">
              <a:ext uri="{FF2B5EF4-FFF2-40B4-BE49-F238E27FC236}">
                <a16:creationId xmlns:a16="http://schemas.microsoft.com/office/drawing/2014/main" id="{3AE69174-921D-4583-8C76-63264E4C12CA}"/>
              </a:ext>
            </a:extLst>
          </p:cNvPr>
          <p:cNvSpPr>
            <a:spLocks xmlns:a="http://schemas.openxmlformats.org/drawingml/2006/main" noGrp="1"/>
          </p:cNvSpPr>
          <p:nvPr/>
        </p:nvSpPr>
        <p:spPr>
          <a:xfrm xmlns:a="http://schemas.openxmlformats.org/drawingml/2006/main">
            <a:off x="803910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STRUCTURE</a:t>
            </a:r>
          </a:p>
        </p:txBody>
      </p:sp>
      <p:sp>
        <p:nvSpPr>
          <p:cNvPr id="24" name="">
            <a:extLst xmlns:a="http://schemas.openxmlformats.org/drawingml/2006/main">
              <a:ext uri="{FF2B5EF4-FFF2-40B4-BE49-F238E27FC236}">
                <a16:creationId xmlns:a16="http://schemas.microsoft.com/office/drawing/2014/main" id="{EE6F017E-A6AD-4F28-881A-65B5D0EDD437}"/>
              </a:ext>
            </a:extLst>
          </p:cNvPr>
          <p:cNvSpPr>
            <a:spLocks xmlns:a="http://schemas.openxmlformats.org/drawingml/2006/main" noGrp="1"/>
          </p:cNvSpPr>
          <p:nvPr/>
        </p:nvSpPr>
        <p:spPr>
          <a:xfrm xmlns:a="http://schemas.openxmlformats.org/drawingml/2006/main">
            <a:off x="803910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proposition channel</a:t>
            </a:r>
          </a:p>
        </p:txBody>
      </p:sp>
      <p:sp>
        <p:nvSpPr>
          <p:cNvPr id="25" name="">
            <a:extLst xmlns:a="http://schemas.openxmlformats.org/drawingml/2006/main">
              <a:ext uri="{FF2B5EF4-FFF2-40B4-BE49-F238E27FC236}">
                <a16:creationId xmlns:a16="http://schemas.microsoft.com/office/drawing/2014/main" id="{5E56E113-0339-42A2-96CA-123C3587B217}"/>
              </a:ext>
            </a:extLst>
          </p:cNvPr>
          <p:cNvSpPr>
            <a:spLocks xmlns:a="http://schemas.openxmlformats.org/drawingml/2006/main" noGrp="1"/>
          </p:cNvSpPr>
          <p:nvPr/>
        </p:nvSpPr>
        <p:spPr>
          <a:xfrm xmlns:a="http://schemas.openxmlformats.org/drawingml/2006/main">
            <a:off x="9925050" y="2009775"/>
            <a:ext cx="15430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26" name="">
            <a:extLst xmlns:a="http://schemas.openxmlformats.org/drawingml/2006/main">
              <a:ext uri="{FF2B5EF4-FFF2-40B4-BE49-F238E27FC236}">
                <a16:creationId xmlns:a16="http://schemas.microsoft.com/office/drawing/2014/main" id="{E341616D-205F-4000-89E4-6E65BC5FEB54}"/>
              </a:ext>
            </a:extLst>
          </p:cNvPr>
          <p:cNvSpPr>
            <a:spLocks xmlns:a="http://schemas.openxmlformats.org/drawingml/2006/main" noGrp="1"/>
          </p:cNvSpPr>
          <p:nvPr/>
        </p:nvSpPr>
        <p:spPr>
          <a:xfrm xmlns:a="http://schemas.openxmlformats.org/drawingml/2006/main">
            <a:off x="9925050" y="2238375"/>
            <a:ext cx="1543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B8663B"/>
                </a:solidFill>
                <a:latin typeface="Arial"/>
                <a:ea typeface="Arial"/>
                <a:cs typeface="Arial"/>
              </a:defRPr>
            </a:pPr>
            <a:r>
              <a:rPr sz="900" b="1" i="0">
                <a:solidFill>
                  <a:srgbClr val="B8663B"/>
                </a:solidFill>
                <a:latin typeface="Arial"/>
                <a:ea typeface="Arial"/>
                <a:cs typeface="Arial"/>
              </a:rPr>
              <a:t>OUTPUT</a:t>
            </a:r>
          </a:p>
        </p:txBody>
      </p:sp>
      <p:sp>
        <p:nvSpPr>
          <p:cNvPr id="27" name="">
            <a:extLst xmlns:a="http://schemas.openxmlformats.org/drawingml/2006/main">
              <a:ext uri="{FF2B5EF4-FFF2-40B4-BE49-F238E27FC236}">
                <a16:creationId xmlns:a16="http://schemas.microsoft.com/office/drawing/2014/main" id="{1723B498-0254-47E8-B6BA-7FB6A6334DB5}"/>
              </a:ext>
            </a:extLst>
          </p:cNvPr>
          <p:cNvSpPr>
            <a:spLocks xmlns:a="http://schemas.openxmlformats.org/drawingml/2006/main" noGrp="1"/>
          </p:cNvSpPr>
          <p:nvPr/>
        </p:nvSpPr>
        <p:spPr>
          <a:xfrm xmlns:a="http://schemas.openxmlformats.org/drawingml/2006/main">
            <a:off x="9925050" y="2590800"/>
            <a:ext cx="154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03A4C"/>
                </a:solidFill>
                <a:latin typeface="Georgia"/>
                <a:ea typeface="Georgia"/>
                <a:cs typeface="Georgia"/>
              </a:defRPr>
            </a:pPr>
            <a:r>
              <a:rPr sz="1350" b="1" i="0">
                <a:solidFill>
                  <a:srgbClr val="203A4C"/>
                </a:solidFill>
                <a:latin typeface="Georgia"/>
                <a:ea typeface="Georgia"/>
                <a:cs typeface="Georgia"/>
              </a:rPr>
              <a:t>answer + sources + retry signal</a:t>
            </a:r>
          </a:p>
        </p:txBody>
      </p:sp>
      <p:sp>
        <p:nvSpPr>
          <p:cNvPr id="28" name="">
            <a:extLst xmlns:a="http://schemas.openxmlformats.org/drawingml/2006/main">
              <a:ext uri="{FF2B5EF4-FFF2-40B4-BE49-F238E27FC236}">
                <a16:creationId xmlns:a16="http://schemas.microsoft.com/office/drawing/2014/main" id="{2169A32D-A890-4EC6-B54F-A9043C1B377B}"/>
              </a:ext>
            </a:extLst>
          </p:cNvPr>
          <p:cNvSpPr>
            <a:spLocks xmlns:a="http://schemas.openxmlformats.org/drawingml/2006/main" noGrp="1"/>
          </p:cNvSpPr>
          <p:nvPr/>
        </p:nvSpPr>
        <p:spPr>
          <a:xfrm xmlns:a="http://schemas.openxmlformats.org/drawingml/2006/main">
            <a:off x="495300" y="3848100"/>
            <a:ext cx="6667500" cy="7239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271F77A-0932-430A-9F72-D9E2A15F1DB8}"/>
              </a:ext>
            </a:extLst>
          </p:cNvPr>
          <p:cNvSpPr>
            <a:spLocks xmlns:a="http://schemas.openxmlformats.org/drawingml/2006/main" noGrp="1"/>
          </p:cNvSpPr>
          <p:nvPr/>
        </p:nvSpPr>
        <p:spPr>
          <a:xfrm xmlns:a="http://schemas.openxmlformats.org/drawingml/2006/main">
            <a:off x="704850" y="3990975"/>
            <a:ext cx="624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650" b="1" i="0">
                <a:solidFill>
                  <a:srgbClr val="FFFFFF"/>
                </a:solidFill>
                <a:latin typeface="Arial"/>
                <a:ea typeface="Arial"/>
                <a:cs typeface="Arial"/>
              </a:defRPr>
            </a:pPr>
            <a:r>
              <a:rPr sz="1650" b="1" i="0">
                <a:solidFill>
                  <a:srgbClr val="FFFFFF"/>
                </a:solidFill>
                <a:latin typeface="Arial"/>
                <a:ea typeface="Arial"/>
                <a:cs typeface="Arial"/>
              </a:rPr>
              <a:t>RRF(d) = 1 / [60 + rankBM25(d)] + 1 / [60 + rankcosine(d)]</a:t>
            </a:r>
          </a:p>
        </p:txBody>
      </p:sp>
      <p:sp>
        <p:nvSpPr>
          <p:cNvPr id="30" name="">
            <a:extLst xmlns:a="http://schemas.openxmlformats.org/drawingml/2006/main">
              <a:ext uri="{FF2B5EF4-FFF2-40B4-BE49-F238E27FC236}">
                <a16:creationId xmlns:a16="http://schemas.microsoft.com/office/drawing/2014/main" id="{068EE361-FEEA-4547-908B-A5DE88E23618}"/>
              </a:ext>
            </a:extLst>
          </p:cNvPr>
          <p:cNvSpPr>
            <a:spLocks xmlns:a="http://schemas.openxmlformats.org/drawingml/2006/main" noGrp="1"/>
          </p:cNvSpPr>
          <p:nvPr/>
        </p:nvSpPr>
        <p:spPr>
          <a:xfrm xmlns:a="http://schemas.openxmlformats.org/drawingml/2006/main">
            <a:off x="495300" y="4724400"/>
            <a:ext cx="6667500" cy="723900"/>
          </a:xfrm>
          <a:prstGeom xmlns:a="http://schemas.openxmlformats.org/drawingml/2006/main" prst="rect">
            <a:avLst/>
          </a:prstGeom>
          <a:solidFill xmlns:a="http://schemas.openxmlformats.org/drawingml/2006/main">
            <a:srgbClr val="587F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5BE89EB-E019-4202-AECF-220E772CE876}"/>
              </a:ext>
            </a:extLst>
          </p:cNvPr>
          <p:cNvSpPr>
            <a:spLocks xmlns:a="http://schemas.openxmlformats.org/drawingml/2006/main" noGrp="1"/>
          </p:cNvSpPr>
          <p:nvPr/>
        </p:nvSpPr>
        <p:spPr>
          <a:xfrm xmlns:a="http://schemas.openxmlformats.org/drawingml/2006/main">
            <a:off x="704850" y="4867275"/>
            <a:ext cx="624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score′(d) = RRF(d) × [1 + 0.3 × graph importance(d)]</a:t>
            </a:r>
          </a:p>
        </p:txBody>
      </p:sp>
      <p:sp>
        <p:nvSpPr>
          <p:cNvPr id="32" name="">
            <a:extLst xmlns:a="http://schemas.openxmlformats.org/drawingml/2006/main">
              <a:ext uri="{FF2B5EF4-FFF2-40B4-BE49-F238E27FC236}">
                <a16:creationId xmlns:a16="http://schemas.microsoft.com/office/drawing/2014/main" id="{3C068724-92D3-4E50-A3DF-C17E5F100164}"/>
              </a:ext>
            </a:extLst>
          </p:cNvPr>
          <p:cNvSpPr>
            <a:spLocks xmlns:a="http://schemas.openxmlformats.org/drawingml/2006/main" noGrp="1"/>
          </p:cNvSpPr>
          <p:nvPr/>
        </p:nvSpPr>
        <p:spPr>
          <a:xfrm xmlns:a="http://schemas.openxmlformats.org/drawingml/2006/main">
            <a:off x="7620000" y="3848100"/>
            <a:ext cx="4076700" cy="16002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3" name="">
            <a:extLst xmlns:a="http://schemas.openxmlformats.org/drawingml/2006/main">
              <a:ext uri="{FF2B5EF4-FFF2-40B4-BE49-F238E27FC236}">
                <a16:creationId xmlns:a16="http://schemas.microsoft.com/office/drawing/2014/main" id="{4CCB19FC-0832-45BE-ADD6-889ABF04E322}"/>
              </a:ext>
            </a:extLst>
          </p:cNvPr>
          <p:cNvSpPr>
            <a:spLocks xmlns:a="http://schemas.openxmlformats.org/drawingml/2006/main" noGrp="1"/>
          </p:cNvSpPr>
          <p:nvPr/>
        </p:nvSpPr>
        <p:spPr>
          <a:xfrm xmlns:a="http://schemas.openxmlformats.org/drawingml/2006/main">
            <a:off x="7848600" y="405765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EVERY RETURNED SOURCE INCLUDES</a:t>
            </a:r>
          </a:p>
        </p:txBody>
      </p:sp>
      <p:sp>
        <p:nvSpPr>
          <p:cNvPr id="34" name="">
            <a:extLst xmlns:a="http://schemas.openxmlformats.org/drawingml/2006/main">
              <a:ext uri="{FF2B5EF4-FFF2-40B4-BE49-F238E27FC236}">
                <a16:creationId xmlns:a16="http://schemas.microsoft.com/office/drawing/2014/main" id="{2550E0B1-EAF2-4A6B-83B4-5C7358D200FF}"/>
              </a:ext>
            </a:extLst>
          </p:cNvPr>
          <p:cNvSpPr>
            <a:spLocks xmlns:a="http://schemas.openxmlformats.org/drawingml/2006/main" noGrp="1"/>
          </p:cNvSpPr>
          <p:nvPr/>
        </p:nvSpPr>
        <p:spPr>
          <a:xfrm xmlns:a="http://schemas.openxmlformats.org/drawingml/2006/main">
            <a:off x="7848600" y="4400550"/>
            <a:ext cx="3543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325"/>
          </a:bodyPr>
          <a:lstStyle xmlns:a="http://schemas.openxmlformats.org/drawingml/2006/main"/>
          <a:p xmlns:a="http://schemas.openxmlformats.org/drawingml/2006/main">
            <a:pPr algn="l">
              <a:lnSpc>
                <a:spcPct val="124000"/>
              </a:lnSpc>
              <a:buNone/>
              <a:defRPr sz="1200" b="0" i="0">
                <a:solidFill>
                  <a:srgbClr val="17202A"/>
                </a:solidFill>
                <a:latin typeface="Arial"/>
                <a:ea typeface="Arial"/>
                <a:cs typeface="Arial"/>
              </a:defRPr>
            </a:pPr>
            <a:r>
              <a:rPr sz="1200" b="0" i="0">
                <a:solidFill>
                  <a:srgbClr val="17202A"/>
                </a:solidFill>
                <a:latin typeface="Arial"/>
                <a:ea typeface="Arial"/>
                <a:cs typeface="Arial"/>
              </a:rPr>
              <a:t>paper ID and chunk ID</a:t>
            </a:r>
          </a:p>
          <a:p xmlns:a="http://schemas.openxmlformats.org/drawingml/2006/main">
            <a:pPr algn="l">
              <a:lnSpc>
                <a:spcPct val="124000"/>
              </a:lnSpc>
              <a:buNone/>
              <a:defRPr sz="1200" b="0" i="0">
                <a:solidFill>
                  <a:srgbClr val="17202A"/>
                </a:solidFill>
                <a:latin typeface="Arial"/>
                <a:ea typeface="Arial"/>
                <a:cs typeface="Arial"/>
              </a:defRPr>
            </a:pPr>
            <a:r>
              <a:rPr sz="1200" b="0" i="0">
                <a:solidFill>
                  <a:srgbClr val="17202A"/>
                </a:solidFill>
                <a:latin typeface="Arial"/>
                <a:ea typeface="Arial"/>
                <a:cs typeface="Arial"/>
              </a:rPr>
              <a:t>section type and title</a:t>
            </a:r>
          </a:p>
          <a:p xmlns:a="http://schemas.openxmlformats.org/drawingml/2006/main">
            <a:pPr algn="l">
              <a:lnSpc>
                <a:spcPct val="124000"/>
              </a:lnSpc>
              <a:buNone/>
              <a:defRPr sz="1200" b="0" i="0">
                <a:solidFill>
                  <a:srgbClr val="17202A"/>
                </a:solidFill>
                <a:latin typeface="Arial"/>
                <a:ea typeface="Arial"/>
                <a:cs typeface="Arial"/>
              </a:defRPr>
            </a:pPr>
            <a:r>
              <a:rPr sz="1200" b="0" i="0">
                <a:solidFill>
                  <a:srgbClr val="17202A"/>
                </a:solidFill>
                <a:latin typeface="Arial"/>
                <a:ea typeface="Arial"/>
                <a:cs typeface="Arial"/>
              </a:rPr>
              <a:t>BM25, cosine, fused, and graph scores</a:t>
            </a:r>
          </a:p>
          <a:p xmlns:a="http://schemas.openxmlformats.org/drawingml/2006/main">
            <a:pPr algn="l">
              <a:lnSpc>
                <a:spcPct val="124000"/>
              </a:lnSpc>
              <a:buNone/>
              <a:defRPr sz="1200" b="0" i="0">
                <a:solidFill>
                  <a:srgbClr val="17202A"/>
                </a:solidFill>
                <a:latin typeface="Arial"/>
                <a:ea typeface="Arial"/>
                <a:cs typeface="Arial"/>
              </a:defRPr>
            </a:pPr>
            <a:r>
              <a:rPr sz="1200" b="0" i="0">
                <a:solidFill>
                  <a:srgbClr val="17202A"/>
                </a:solidFill>
                <a:latin typeface="Arial"/>
                <a:ea typeface="Arial"/>
                <a:cs typeface="Arial"/>
              </a:rPr>
              <a:t>graph-path context when available</a:t>
            </a:r>
          </a:p>
          <a:p xmlns:a="http://schemas.openxmlformats.org/drawingml/2006/main">
            <a:pPr algn="l">
              <a:lnSpc>
                <a:spcPct val="124000"/>
              </a:lnSpc>
              <a:buNone/>
              <a:defRPr sz="1200" b="0" i="0">
                <a:solidFill>
                  <a:srgbClr val="17202A"/>
                </a:solidFill>
                <a:latin typeface="Arial"/>
                <a:ea typeface="Arial"/>
                <a:cs typeface="Arial"/>
              </a:defRPr>
            </a:pPr>
            <a:r>
              <a:rPr sz="1200" b="0" i="0">
                <a:solidFill>
                  <a:srgbClr val="17202A"/>
                </a:solidFill>
                <a:latin typeface="Arial"/>
                <a:ea typeface="Arial"/>
                <a:cs typeface="Arial"/>
              </a:rPr>
              <a:t>source precision and missing-evidence signals</a:t>
            </a:r>
          </a:p>
        </p:txBody>
      </p:sp>
      <p:sp>
        <p:nvSpPr>
          <p:cNvPr id="35" name="">
            <a:extLst xmlns:a="http://schemas.openxmlformats.org/drawingml/2006/main">
              <a:ext uri="{FF2B5EF4-FFF2-40B4-BE49-F238E27FC236}">
                <a16:creationId xmlns:a16="http://schemas.microsoft.com/office/drawing/2014/main" id="{23C854ED-E59C-4832-9576-6D802A2142CE}"/>
              </a:ext>
            </a:extLst>
          </p:cNvPr>
          <p:cNvSpPr>
            <a:spLocks xmlns:a="http://schemas.openxmlformats.org/drawingml/2006/main" noGrp="1"/>
          </p:cNvSpPr>
          <p:nvPr/>
        </p:nvSpPr>
        <p:spPr>
          <a:xfrm xmlns:a="http://schemas.openxmlformats.org/drawingml/2006/main">
            <a:off x="495300" y="5876925"/>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B8663B"/>
                </a:solidFill>
                <a:latin typeface="Georgia"/>
                <a:ea typeface="Georgia"/>
                <a:cs typeface="Georgia"/>
              </a:defRPr>
            </a:pPr>
            <a:r>
              <a:rPr sz="1425" b="1" i="0">
                <a:solidFill>
                  <a:srgbClr val="B8663B"/>
                </a:solidFill>
                <a:latin typeface="Georgia"/>
                <a:ea typeface="Georgia"/>
                <a:cs typeface="Georgia"/>
              </a:rPr>
              <a:t>Structured questions about methods or funding can use proposition-first retrieval instead of relying only on free text.</a:t>
            </a:r>
          </a:p>
        </p:txBody>
      </p:sp>
      <p:sp>
        <p:nvSpPr>
          <p:cNvPr id="36" name="">
            <a:extLst xmlns:a="http://schemas.openxmlformats.org/drawingml/2006/main">
              <a:ext uri="{FF2B5EF4-FFF2-40B4-BE49-F238E27FC236}">
                <a16:creationId xmlns:a16="http://schemas.microsoft.com/office/drawing/2014/main" id="{B5307575-FA2A-4CBE-B243-981337A73ED6}"/>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37" name="">
            <a:extLst xmlns:a="http://schemas.openxmlformats.org/drawingml/2006/main">
              <a:ext uri="{FF2B5EF4-FFF2-40B4-BE49-F238E27FC236}">
                <a16:creationId xmlns:a16="http://schemas.microsoft.com/office/drawing/2014/main" id="{6E3468E8-0CA5-4092-9276-46CAC2FC48B0}"/>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38" name="">
            <a:extLst xmlns:a="http://schemas.openxmlformats.org/drawingml/2006/main">
              <a:ext uri="{FF2B5EF4-FFF2-40B4-BE49-F238E27FC236}">
                <a16:creationId xmlns:a16="http://schemas.microsoft.com/office/drawing/2014/main" id="{BACE385D-0BE4-4123-9C23-2AA63AE21DBF}"/>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993232952"/>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3707B18-9323-4F3F-B821-7C6D0DBFE51C}"/>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GOVERNANCE</a:t>
            </a:r>
          </a:p>
        </p:txBody>
      </p:sp>
      <p:sp>
        <p:nvSpPr>
          <p:cNvPr id="2" name="">
            <a:extLst xmlns:a="http://schemas.openxmlformats.org/drawingml/2006/main">
              <a:ext uri="{FF2B5EF4-FFF2-40B4-BE49-F238E27FC236}">
                <a16:creationId xmlns:a16="http://schemas.microsoft.com/office/drawing/2014/main" id="{E13622CF-2A75-4965-8D7B-A0F78F165F84}"/>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549D259D-0C4A-4DD2-91C9-A3D6325F3456}"/>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Human review and reporting preserve authority</a:t>
            </a:r>
          </a:p>
        </p:txBody>
      </p:sp>
      <p:sp>
        <p:nvSpPr>
          <p:cNvPr id="4" name="">
            <a:extLst xmlns:a="http://schemas.openxmlformats.org/drawingml/2006/main">
              <a:ext uri="{FF2B5EF4-FFF2-40B4-BE49-F238E27FC236}">
                <a16:creationId xmlns:a16="http://schemas.microsoft.com/office/drawing/2014/main" id="{05B3F589-4C92-41B2-9E92-50FF19999F24}"/>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C3E18E90-F1AC-413A-BB59-525FC3D4C639}"/>
              </a:ext>
            </a:extLst>
          </p:cNvPr>
          <p:cNvSpPr>
            <a:spLocks xmlns:a="http://schemas.openxmlformats.org/drawingml/2006/main" noGrp="1"/>
          </p:cNvSpPr>
          <p:nvPr/>
        </p:nvSpPr>
        <p:spPr>
          <a:xfrm xmlns:a="http://schemas.openxmlformats.org/drawingml/2006/main">
            <a:off x="2457450" y="2895600"/>
            <a:ext cx="590550" cy="11430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9C6793-F273-47FE-B0AA-D76144716292}"/>
              </a:ext>
            </a:extLst>
          </p:cNvPr>
          <p:cNvSpPr>
            <a:spLocks xmlns:a="http://schemas.openxmlformats.org/drawingml/2006/main" noGrp="1"/>
          </p:cNvSpPr>
          <p:nvPr/>
        </p:nvSpPr>
        <p:spPr>
          <a:xfrm xmlns:a="http://schemas.openxmlformats.org/drawingml/2006/main">
            <a:off x="5257800" y="2895600"/>
            <a:ext cx="590550" cy="114300"/>
          </a:xfrm>
          <a:prstGeom xmlns:a="http://schemas.openxmlformats.org/drawingml/2006/main" prst="rightArrow">
            <a:avLst/>
          </a:prstGeom>
          <a:solidFill xmlns:a="http://schemas.openxmlformats.org/drawingml/2006/main">
            <a:srgbClr val="587F9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6433D8-48C9-4C9C-BAC6-3017B9BED3A7}"/>
              </a:ext>
            </a:extLst>
          </p:cNvPr>
          <p:cNvSpPr>
            <a:spLocks xmlns:a="http://schemas.openxmlformats.org/drawingml/2006/main" noGrp="1"/>
          </p:cNvSpPr>
          <p:nvPr/>
        </p:nvSpPr>
        <p:spPr>
          <a:xfrm xmlns:a="http://schemas.openxmlformats.org/drawingml/2006/main">
            <a:off x="8058150" y="2895600"/>
            <a:ext cx="590550" cy="114300"/>
          </a:xfrm>
          <a:prstGeom xmlns:a="http://schemas.openxmlformats.org/drawingml/2006/main" prst="rightArrow">
            <a:avLst/>
          </a:prstGeom>
          <a:solidFill xmlns:a="http://schemas.openxmlformats.org/drawingml/2006/main">
            <a:srgbClr val="587F9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2AFA764-58C8-4E31-A2D7-F28D9DCBE0AA}"/>
              </a:ext>
            </a:extLst>
          </p:cNvPr>
          <p:cNvSpPr>
            <a:spLocks xmlns:a="http://schemas.openxmlformats.org/drawingml/2006/main" noGrp="1"/>
          </p:cNvSpPr>
          <p:nvPr/>
        </p:nvSpPr>
        <p:spPr>
          <a:xfrm xmlns:a="http://schemas.openxmlformats.org/drawingml/2006/main">
            <a:off x="495300" y="2343150"/>
            <a:ext cx="228600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9" name="">
            <a:extLst xmlns:a="http://schemas.openxmlformats.org/drawingml/2006/main">
              <a:ext uri="{FF2B5EF4-FFF2-40B4-BE49-F238E27FC236}">
                <a16:creationId xmlns:a16="http://schemas.microsoft.com/office/drawing/2014/main" id="{7393AB43-BD0A-4CCF-81E5-D5EBD61D05FD}"/>
              </a:ext>
            </a:extLst>
          </p:cNvPr>
          <p:cNvSpPr>
            <a:spLocks xmlns:a="http://schemas.openxmlformats.org/drawingml/2006/main" noGrp="1"/>
          </p:cNvSpPr>
          <p:nvPr/>
        </p:nvSpPr>
        <p:spPr>
          <a:xfrm xmlns:a="http://schemas.openxmlformats.org/drawingml/2006/main">
            <a:off x="666750" y="2533650"/>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AUTOMATED PROPOSAL</a:t>
            </a:r>
          </a:p>
        </p:txBody>
      </p:sp>
      <p:sp>
        <p:nvSpPr>
          <p:cNvPr id="10" name="">
            <a:extLst xmlns:a="http://schemas.openxmlformats.org/drawingml/2006/main">
              <a:ext uri="{FF2B5EF4-FFF2-40B4-BE49-F238E27FC236}">
                <a16:creationId xmlns:a16="http://schemas.microsoft.com/office/drawing/2014/main" id="{4A183D57-ED70-463E-A16A-40FB9755AC9F}"/>
              </a:ext>
            </a:extLst>
          </p:cNvPr>
          <p:cNvSpPr>
            <a:spLocks xmlns:a="http://schemas.openxmlformats.org/drawingml/2006/main" noGrp="1"/>
          </p:cNvSpPr>
          <p:nvPr/>
        </p:nvSpPr>
        <p:spPr>
          <a:xfrm xmlns:a="http://schemas.openxmlformats.org/drawingml/2006/main">
            <a:off x="666750" y="29051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36"/>
          </a:bodyPr>
          <a:lstStyle xmlns:a="http://schemas.openxmlformats.org/drawingml/2006/main"/>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label · confidence · AET paths</a:t>
            </a:r>
          </a:p>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uncertainty queue</a:t>
            </a:r>
          </a:p>
        </p:txBody>
      </p:sp>
      <p:sp>
        <p:nvSpPr>
          <p:cNvPr id="11" name="">
            <a:extLst xmlns:a="http://schemas.openxmlformats.org/drawingml/2006/main">
              <a:ext uri="{FF2B5EF4-FFF2-40B4-BE49-F238E27FC236}">
                <a16:creationId xmlns:a16="http://schemas.microsoft.com/office/drawing/2014/main" id="{2D3CD15C-222C-4D8A-82AA-6C447EEE9523}"/>
              </a:ext>
            </a:extLst>
          </p:cNvPr>
          <p:cNvSpPr>
            <a:spLocks xmlns:a="http://schemas.openxmlformats.org/drawingml/2006/main" noGrp="1"/>
          </p:cNvSpPr>
          <p:nvPr/>
        </p:nvSpPr>
        <p:spPr>
          <a:xfrm xmlns:a="http://schemas.openxmlformats.org/drawingml/2006/main">
            <a:off x="3048000" y="2343150"/>
            <a:ext cx="2286000" cy="1314450"/>
          </a:xfrm>
          <a:prstGeom xmlns:a="http://schemas.openxmlformats.org/drawingml/2006/main" prst="rect">
            <a:avLst/>
          </a:prstGeom>
          <a:solidFill xmlns:a="http://schemas.openxmlformats.org/drawingml/2006/main">
            <a:srgbClr val="F1E2D8"/>
          </a:solidFill>
          <a:ln xmlns:a="http://schemas.openxmlformats.org/drawingml/2006/main" w="9525">
            <a:solidFill>
              <a:srgbClr val="BEB8AD"/>
            </a:solidFill>
            <a:prstDash val="solid"/>
          </a:ln>
        </p:spPr>
      </p:sp>
      <p:sp>
        <p:nvSpPr>
          <p:cNvPr id="12" name="">
            <a:extLst xmlns:a="http://schemas.openxmlformats.org/drawingml/2006/main">
              <a:ext uri="{FF2B5EF4-FFF2-40B4-BE49-F238E27FC236}">
                <a16:creationId xmlns:a16="http://schemas.microsoft.com/office/drawing/2014/main" id="{D72E69B4-828B-4459-8D26-343D7662FD6C}"/>
              </a:ext>
            </a:extLst>
          </p:cNvPr>
          <p:cNvSpPr>
            <a:spLocks xmlns:a="http://schemas.openxmlformats.org/drawingml/2006/main" noGrp="1"/>
          </p:cNvSpPr>
          <p:nvPr/>
        </p:nvSpPr>
        <p:spPr>
          <a:xfrm xmlns:a="http://schemas.openxmlformats.org/drawingml/2006/main">
            <a:off x="3219450" y="2533650"/>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HUMAN DECISION</a:t>
            </a:r>
          </a:p>
        </p:txBody>
      </p:sp>
      <p:sp>
        <p:nvSpPr>
          <p:cNvPr id="13" name="">
            <a:extLst xmlns:a="http://schemas.openxmlformats.org/drawingml/2006/main">
              <a:ext uri="{FF2B5EF4-FFF2-40B4-BE49-F238E27FC236}">
                <a16:creationId xmlns:a16="http://schemas.microsoft.com/office/drawing/2014/main" id="{F956B1B6-04B2-488D-8DD5-BF24665B823D}"/>
              </a:ext>
            </a:extLst>
          </p:cNvPr>
          <p:cNvSpPr>
            <a:spLocks xmlns:a="http://schemas.openxmlformats.org/drawingml/2006/main" noGrp="1"/>
          </p:cNvSpPr>
          <p:nvPr/>
        </p:nvSpPr>
        <p:spPr>
          <a:xfrm xmlns:a="http://schemas.openxmlformats.org/drawingml/2006/main">
            <a:off x="3219450" y="29051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72"/>
          </a:bodyPr>
          <a:lstStyle xmlns:a="http://schemas.openxmlformats.org/drawingml/2006/main"/>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include / exclude / uncertain</a:t>
            </a:r>
          </a:p>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reviewer + rationale</a:t>
            </a:r>
          </a:p>
        </p:txBody>
      </p:sp>
      <p:sp>
        <p:nvSpPr>
          <p:cNvPr id="14" name="">
            <a:extLst xmlns:a="http://schemas.openxmlformats.org/drawingml/2006/main">
              <a:ext uri="{FF2B5EF4-FFF2-40B4-BE49-F238E27FC236}">
                <a16:creationId xmlns:a16="http://schemas.microsoft.com/office/drawing/2014/main" id="{7C57853A-42C6-4C6A-A7D0-9DC0543E0C77}"/>
              </a:ext>
            </a:extLst>
          </p:cNvPr>
          <p:cNvSpPr>
            <a:spLocks xmlns:a="http://schemas.openxmlformats.org/drawingml/2006/main" noGrp="1"/>
          </p:cNvSpPr>
          <p:nvPr/>
        </p:nvSpPr>
        <p:spPr>
          <a:xfrm xmlns:a="http://schemas.openxmlformats.org/drawingml/2006/main">
            <a:off x="5848350" y="2343150"/>
            <a:ext cx="228600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5" name="">
            <a:extLst xmlns:a="http://schemas.openxmlformats.org/drawingml/2006/main">
              <a:ext uri="{FF2B5EF4-FFF2-40B4-BE49-F238E27FC236}">
                <a16:creationId xmlns:a16="http://schemas.microsoft.com/office/drawing/2014/main" id="{0D573C3B-1088-43FB-9F80-3B4282C04DAF}"/>
              </a:ext>
            </a:extLst>
          </p:cNvPr>
          <p:cNvSpPr>
            <a:spLocks xmlns:a="http://schemas.openxmlformats.org/drawingml/2006/main" noGrp="1"/>
          </p:cNvSpPr>
          <p:nvPr/>
        </p:nvSpPr>
        <p:spPr>
          <a:xfrm xmlns:a="http://schemas.openxmlformats.org/drawingml/2006/main">
            <a:off x="6019800" y="2533650"/>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LOCKED ATTRIBUTION</a:t>
            </a:r>
          </a:p>
        </p:txBody>
      </p:sp>
      <p:sp>
        <p:nvSpPr>
          <p:cNvPr id="16" name="">
            <a:extLst xmlns:a="http://schemas.openxmlformats.org/drawingml/2006/main">
              <a:ext uri="{FF2B5EF4-FFF2-40B4-BE49-F238E27FC236}">
                <a16:creationId xmlns:a16="http://schemas.microsoft.com/office/drawing/2014/main" id="{711AF305-0C4A-4756-A1F7-46F09C26BA69}"/>
              </a:ext>
            </a:extLst>
          </p:cNvPr>
          <p:cNvSpPr>
            <a:spLocks xmlns:a="http://schemas.openxmlformats.org/drawingml/2006/main" noGrp="1"/>
          </p:cNvSpPr>
          <p:nvPr/>
        </p:nvSpPr>
        <p:spPr>
          <a:xfrm xmlns:a="http://schemas.openxmlformats.org/drawingml/2006/main">
            <a:off x="6019800" y="29051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36"/>
          </a:bodyPr>
          <a:lstStyle xmlns:a="http://schemas.openxmlformats.org/drawingml/2006/main"/>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later automated passes cannot</a:t>
            </a:r>
          </a:p>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silently override</a:t>
            </a:r>
          </a:p>
        </p:txBody>
      </p:sp>
      <p:sp>
        <p:nvSpPr>
          <p:cNvPr id="17" name="">
            <a:extLst xmlns:a="http://schemas.openxmlformats.org/drawingml/2006/main">
              <a:ext uri="{FF2B5EF4-FFF2-40B4-BE49-F238E27FC236}">
                <a16:creationId xmlns:a16="http://schemas.microsoft.com/office/drawing/2014/main" id="{23562ABC-047F-4663-9DB3-8137E5487370}"/>
              </a:ext>
            </a:extLst>
          </p:cNvPr>
          <p:cNvSpPr>
            <a:spLocks xmlns:a="http://schemas.openxmlformats.org/drawingml/2006/main" noGrp="1"/>
          </p:cNvSpPr>
          <p:nvPr/>
        </p:nvSpPr>
        <p:spPr>
          <a:xfrm xmlns:a="http://schemas.openxmlformats.org/drawingml/2006/main">
            <a:off x="8648700" y="2343150"/>
            <a:ext cx="228600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233D97E0-045C-4BB5-A569-FFE33BFA658B}"/>
              </a:ext>
            </a:extLst>
          </p:cNvPr>
          <p:cNvSpPr>
            <a:spLocks xmlns:a="http://schemas.openxmlformats.org/drawingml/2006/main" noGrp="1"/>
          </p:cNvSpPr>
          <p:nvPr/>
        </p:nvSpPr>
        <p:spPr>
          <a:xfrm xmlns:a="http://schemas.openxmlformats.org/drawingml/2006/main">
            <a:off x="8820150" y="2533650"/>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REPORT / EXPORT</a:t>
            </a:r>
          </a:p>
        </p:txBody>
      </p:sp>
      <p:sp>
        <p:nvSpPr>
          <p:cNvPr id="19" name="">
            <a:extLst xmlns:a="http://schemas.openxmlformats.org/drawingml/2006/main">
              <a:ext uri="{FF2B5EF4-FFF2-40B4-BE49-F238E27FC236}">
                <a16:creationId xmlns:a16="http://schemas.microsoft.com/office/drawing/2014/main" id="{262986B9-748F-412C-8FC9-38E5095F7519}"/>
              </a:ext>
            </a:extLst>
          </p:cNvPr>
          <p:cNvSpPr>
            <a:spLocks xmlns:a="http://schemas.openxmlformats.org/drawingml/2006/main" noGrp="1"/>
          </p:cNvSpPr>
          <p:nvPr/>
        </p:nvSpPr>
        <p:spPr>
          <a:xfrm xmlns:a="http://schemas.openxmlformats.org/drawingml/2006/main">
            <a:off x="8820150" y="2905125"/>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CSV + SQL metrics +</a:t>
            </a:r>
          </a:p>
          <a:p xmlns:a="http://schemas.openxmlformats.org/drawingml/2006/main">
            <a:pPr algn="ctr">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source-linked narrative</a:t>
            </a:r>
          </a:p>
        </p:txBody>
      </p:sp>
      <p:sp>
        <p:nvSpPr>
          <p:cNvPr id="20" name="">
            <a:extLst xmlns:a="http://schemas.openxmlformats.org/drawingml/2006/main">
              <a:ext uri="{FF2B5EF4-FFF2-40B4-BE49-F238E27FC236}">
                <a16:creationId xmlns:a16="http://schemas.microsoft.com/office/drawing/2014/main" id="{CF9DFCFE-BA86-49E2-92F7-575E4A49B057}"/>
              </a:ext>
            </a:extLst>
          </p:cNvPr>
          <p:cNvSpPr>
            <a:spLocks xmlns:a="http://schemas.openxmlformats.org/drawingml/2006/main" noGrp="1"/>
          </p:cNvSpPr>
          <p:nvPr/>
        </p:nvSpPr>
        <p:spPr>
          <a:xfrm xmlns:a="http://schemas.openxmlformats.org/drawingml/2006/main">
            <a:off x="495300" y="4286250"/>
            <a:ext cx="5219700" cy="1543050"/>
          </a:xfrm>
          <a:prstGeom xmlns:a="http://schemas.openxmlformats.org/drawingml/2006/main" prst="rect">
            <a:avLst/>
          </a:prstGeom>
          <a:solidFill xmlns:a="http://schemas.openxmlformats.org/drawingml/2006/main">
            <a:srgbClr val="E8E1D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3F2540-9CFA-46D6-BA4D-B846612741E9}"/>
              </a:ext>
            </a:extLst>
          </p:cNvPr>
          <p:cNvSpPr>
            <a:spLocks xmlns:a="http://schemas.openxmlformats.org/drawingml/2006/main" noGrp="1"/>
          </p:cNvSpPr>
          <p:nvPr/>
        </p:nvSpPr>
        <p:spPr>
          <a:xfrm xmlns:a="http://schemas.openxmlformats.org/drawingml/2006/main">
            <a:off x="742950" y="44958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SAFE ROLE FOR CLAUDE</a:t>
            </a:r>
          </a:p>
        </p:txBody>
      </p:sp>
      <p:sp>
        <p:nvSpPr>
          <p:cNvPr id="22" name="">
            <a:extLst xmlns:a="http://schemas.openxmlformats.org/drawingml/2006/main">
              <a:ext uri="{FF2B5EF4-FFF2-40B4-BE49-F238E27FC236}">
                <a16:creationId xmlns:a16="http://schemas.microsoft.com/office/drawing/2014/main" id="{EE38FEB8-928A-4CF6-A3D9-A4EDFCA1F6CE}"/>
              </a:ext>
            </a:extLst>
          </p:cNvPr>
          <p:cNvSpPr>
            <a:spLocks xmlns:a="http://schemas.openxmlformats.org/drawingml/2006/main" noGrp="1"/>
          </p:cNvSpPr>
          <p:nvPr/>
        </p:nvSpPr>
        <p:spPr>
          <a:xfrm xmlns:a="http://schemas.openxmlformats.org/drawingml/2006/main">
            <a:off x="742950" y="4857750"/>
            <a:ext cx="4552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876"/>
          </a:bodyPr>
          <a:lstStyle xmlns:a="http://schemas.openxmlformats.org/drawingml/2006/main"/>
          <a:p xmlns:a="http://schemas.openxmlformats.org/drawingml/2006/main">
            <a:pPr algn="l">
              <a:lnSpc>
                <a:spcPct val="120000"/>
              </a:lnSpc>
              <a:buNone/>
              <a:defRPr sz="1350" b="0" i="0">
                <a:solidFill>
                  <a:srgbClr val="17202A"/>
                </a:solidFill>
                <a:latin typeface="Arial"/>
                <a:ea typeface="Arial"/>
                <a:cs typeface="Arial"/>
              </a:defRPr>
            </a:pPr>
            <a:r>
              <a:rPr sz="1350" b="0" i="0">
                <a:solidFill>
                  <a:srgbClr val="17202A"/>
                </a:solidFill>
                <a:latin typeface="Arial"/>
                <a:ea typeface="Arial"/>
                <a:cs typeface="Arial"/>
              </a:rPr>
              <a:t>• adjudicate only an uncertainty queue</a:t>
            </a:r>
          </a:p>
          <a:p xmlns:a="http://schemas.openxmlformats.org/drawingml/2006/main">
            <a:pPr algn="l">
              <a:lnSpc>
                <a:spcPct val="120000"/>
              </a:lnSpc>
              <a:buNone/>
              <a:defRPr sz="1350" b="0" i="0">
                <a:solidFill>
                  <a:srgbClr val="17202A"/>
                </a:solidFill>
                <a:latin typeface="Arial"/>
                <a:ea typeface="Arial"/>
                <a:cs typeface="Arial"/>
              </a:defRPr>
            </a:pPr>
            <a:r>
              <a:rPr sz="1350" b="0" i="0">
                <a:solidFill>
                  <a:srgbClr val="17202A"/>
                </a:solidFill>
                <a:latin typeface="Arial"/>
                <a:ea typeface="Arial"/>
                <a:cs typeface="Arial"/>
              </a:rPr>
              <a:t>• summarize retrieved evidence</a:t>
            </a:r>
          </a:p>
          <a:p xmlns:a="http://schemas.openxmlformats.org/drawingml/2006/main">
            <a:pPr algn="l">
              <a:lnSpc>
                <a:spcPct val="120000"/>
              </a:lnSpc>
              <a:buNone/>
              <a:defRPr sz="1350" b="0" i="0">
                <a:solidFill>
                  <a:srgbClr val="17202A"/>
                </a:solidFill>
                <a:latin typeface="Arial"/>
                <a:ea typeface="Arial"/>
                <a:cs typeface="Arial"/>
              </a:defRPr>
            </a:pPr>
            <a:r>
              <a:rPr sz="1350" b="0" i="0">
                <a:solidFill>
                  <a:srgbClr val="17202A"/>
                </a:solidFill>
                <a:latin typeface="Arial"/>
                <a:ea typeface="Arial"/>
                <a:cs typeface="Arial"/>
              </a:rPr>
              <a:t>• draft reviewer rationale</a:t>
            </a:r>
          </a:p>
          <a:p xmlns:a="http://schemas.openxmlformats.org/drawingml/2006/main">
            <a:pPr algn="l">
              <a:lnSpc>
                <a:spcPct val="120000"/>
              </a:lnSpc>
              <a:buNone/>
              <a:defRPr sz="1350" b="0" i="0">
                <a:solidFill>
                  <a:srgbClr val="17202A"/>
                </a:solidFill>
                <a:latin typeface="Arial"/>
                <a:ea typeface="Arial"/>
                <a:cs typeface="Arial"/>
              </a:defRPr>
            </a:pPr>
            <a:r>
              <a:rPr sz="1350" b="0" i="0">
                <a:solidFill>
                  <a:srgbClr val="17202A"/>
                </a:solidFill>
                <a:latin typeface="Arial"/>
                <a:ea typeface="Arial"/>
                <a:cs typeface="Arial"/>
              </a:rPr>
              <a:t>• rewrite reports from supplied metric triples</a:t>
            </a:r>
          </a:p>
        </p:txBody>
      </p:sp>
      <p:sp>
        <p:nvSpPr>
          <p:cNvPr id="23" name="">
            <a:extLst xmlns:a="http://schemas.openxmlformats.org/drawingml/2006/main">
              <a:ext uri="{FF2B5EF4-FFF2-40B4-BE49-F238E27FC236}">
                <a16:creationId xmlns:a16="http://schemas.microsoft.com/office/drawing/2014/main" id="{AF5FD051-3F97-4CB4-9116-72EE315F527D}"/>
              </a:ext>
            </a:extLst>
          </p:cNvPr>
          <p:cNvSpPr>
            <a:spLocks xmlns:a="http://schemas.openxmlformats.org/drawingml/2006/main" noGrp="1"/>
          </p:cNvSpPr>
          <p:nvPr/>
        </p:nvSpPr>
        <p:spPr>
          <a:xfrm xmlns:a="http://schemas.openxmlformats.org/drawingml/2006/main">
            <a:off x="6153150" y="4286250"/>
            <a:ext cx="5543550" cy="154305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FF68A64-17C0-472D-A33C-B0CEF6987EFC}"/>
              </a:ext>
            </a:extLst>
          </p:cNvPr>
          <p:cNvSpPr>
            <a:spLocks xmlns:a="http://schemas.openxmlformats.org/drawingml/2006/main" noGrp="1"/>
          </p:cNvSpPr>
          <p:nvPr/>
        </p:nvSpPr>
        <p:spPr>
          <a:xfrm xmlns:a="http://schemas.openxmlformats.org/drawingml/2006/main">
            <a:off x="6400800" y="44958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DDE9EE"/>
                </a:solidFill>
                <a:latin typeface="Arial"/>
                <a:ea typeface="Arial"/>
                <a:cs typeface="Arial"/>
              </a:defRPr>
            </a:pPr>
            <a:r>
              <a:rPr sz="825" b="1" i="0">
                <a:solidFill>
                  <a:srgbClr val="DDE9EE"/>
                </a:solidFill>
                <a:latin typeface="Arial"/>
                <a:ea typeface="Arial"/>
                <a:cs typeface="Arial"/>
              </a:rPr>
              <a:t>AUTHORITY BOUNDARY</a:t>
            </a:r>
          </a:p>
        </p:txBody>
      </p:sp>
      <p:sp>
        <p:nvSpPr>
          <p:cNvPr id="25" name="">
            <a:extLst xmlns:a="http://schemas.openxmlformats.org/drawingml/2006/main">
              <a:ext uri="{FF2B5EF4-FFF2-40B4-BE49-F238E27FC236}">
                <a16:creationId xmlns:a16="http://schemas.microsoft.com/office/drawing/2014/main" id="{5048E876-4FA3-4BBF-A05C-63CA694F634D}"/>
              </a:ext>
            </a:extLst>
          </p:cNvPr>
          <p:cNvSpPr>
            <a:spLocks xmlns:a="http://schemas.openxmlformats.org/drawingml/2006/main" noGrp="1"/>
          </p:cNvSpPr>
          <p:nvPr/>
        </p:nvSpPr>
        <p:spPr>
          <a:xfrm xmlns:a="http://schemas.openxmlformats.org/drawingml/2006/main">
            <a:off x="6400800" y="4857750"/>
            <a:ext cx="504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21"/>
          </a:bodyPr>
          <a:lstStyle xmlns:a="http://schemas.openxmlformats.org/drawingml/2006/main"/>
          <a:p xmlns:a="http://schemas.openxmlformats.org/drawingml/2006/main">
            <a:pPr algn="l">
              <a:lnSpc>
                <a:spcPct val="108000"/>
              </a:lnSpc>
              <a:buNone/>
              <a:defRPr sz="1575" b="1" i="0">
                <a:solidFill>
                  <a:srgbClr val="FFFFFF"/>
                </a:solidFill>
                <a:latin typeface="Georgia"/>
                <a:ea typeface="Georgia"/>
                <a:cs typeface="Georgia"/>
              </a:defRPr>
            </a:pPr>
            <a:r>
              <a:rPr sz="1575" b="1" i="0">
                <a:solidFill>
                  <a:srgbClr val="FFFFFF"/>
                </a:solidFill>
                <a:latin typeface="Georgia"/>
                <a:ea typeface="Georgia"/>
                <a:cs typeface="Georgia"/>
              </a:rPr>
              <a:t>Claude may not create papers, graph edges, citations, measurements, results, or numerical claims. Human-confirmed decisions remain locked.</a:t>
            </a:r>
          </a:p>
        </p:txBody>
      </p:sp>
      <p:sp>
        <p:nvSpPr>
          <p:cNvPr id="26" name="">
            <a:extLst xmlns:a="http://schemas.openxmlformats.org/drawingml/2006/main">
              <a:ext uri="{FF2B5EF4-FFF2-40B4-BE49-F238E27FC236}">
                <a16:creationId xmlns:a16="http://schemas.microsoft.com/office/drawing/2014/main" id="{3B58084C-DFB2-4583-BDF4-040948A93FE4}"/>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27" name="">
            <a:extLst xmlns:a="http://schemas.openxmlformats.org/drawingml/2006/main">
              <a:ext uri="{FF2B5EF4-FFF2-40B4-BE49-F238E27FC236}">
                <a16:creationId xmlns:a16="http://schemas.microsoft.com/office/drawing/2014/main" id="{D6DD540D-80E9-47FB-8583-183D74F8C6F3}"/>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28" name="">
            <a:extLst xmlns:a="http://schemas.openxmlformats.org/drawingml/2006/main">
              <a:ext uri="{FF2B5EF4-FFF2-40B4-BE49-F238E27FC236}">
                <a16:creationId xmlns:a16="http://schemas.microsoft.com/office/drawing/2014/main" id="{410EA7ED-1F0A-4FC0-9C35-3C584D3ED1E9}"/>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634396762"/>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D6A462-9256-4AD0-AF3F-A17C02E65CBD}"/>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KNOWLEDGE PREPARATION</a:t>
            </a:r>
          </a:p>
        </p:txBody>
      </p:sp>
      <p:sp>
        <p:nvSpPr>
          <p:cNvPr id="2" name="">
            <a:extLst xmlns:a="http://schemas.openxmlformats.org/drawingml/2006/main">
              <a:ext uri="{FF2B5EF4-FFF2-40B4-BE49-F238E27FC236}">
                <a16:creationId xmlns:a16="http://schemas.microsoft.com/office/drawing/2014/main" id="{2B9EDF02-EF14-4A3F-813C-93360BA994F5}"/>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36AC5FFE-B0D7-4171-A32B-A375C1F718FA}"/>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604"/>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Attributed papers become source-grounded cross-SDL transfer candidates</a:t>
            </a:r>
          </a:p>
        </p:txBody>
      </p:sp>
      <p:sp>
        <p:nvSpPr>
          <p:cNvPr id="4" name="">
            <a:extLst xmlns:a="http://schemas.openxmlformats.org/drawingml/2006/main">
              <a:ext uri="{FF2B5EF4-FFF2-40B4-BE49-F238E27FC236}">
                <a16:creationId xmlns:a16="http://schemas.microsoft.com/office/drawing/2014/main" id="{B3BE8AF7-5FC8-4764-9B43-4215BFE8C845}"/>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60724DA6-EF87-49C4-B8FD-ECD76FED1206}"/>
              </a:ext>
            </a:extLst>
          </p:cNvPr>
          <p:cNvSpPr>
            <a:spLocks xmlns:a="http://schemas.openxmlformats.org/drawingml/2006/main" noGrp="1"/>
          </p:cNvSpPr>
          <p:nvPr/>
        </p:nvSpPr>
        <p:spPr>
          <a:xfrm xmlns:a="http://schemas.openxmlformats.org/drawingml/2006/main">
            <a:off x="2085975" y="2867025"/>
            <a:ext cx="3429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67ED73-4D8F-4A53-A967-B85DBE4537AB}"/>
              </a:ext>
            </a:extLst>
          </p:cNvPr>
          <p:cNvSpPr>
            <a:spLocks xmlns:a="http://schemas.openxmlformats.org/drawingml/2006/main" noGrp="1"/>
          </p:cNvSpPr>
          <p:nvPr/>
        </p:nvSpPr>
        <p:spPr>
          <a:xfrm xmlns:a="http://schemas.openxmlformats.org/drawingml/2006/main">
            <a:off x="4010025" y="2867025"/>
            <a:ext cx="342900" cy="95250"/>
          </a:xfrm>
          <a:prstGeom xmlns:a="http://schemas.openxmlformats.org/drawingml/2006/main" prst="rightArrow">
            <a:avLst/>
          </a:prstGeom>
          <a:solidFill xmlns:a="http://schemas.openxmlformats.org/drawingml/2006/main">
            <a:srgbClr val="BEB8A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0BAE24-0CE5-41FC-9212-7F4396BAE04E}"/>
              </a:ext>
            </a:extLst>
          </p:cNvPr>
          <p:cNvSpPr>
            <a:spLocks xmlns:a="http://schemas.openxmlformats.org/drawingml/2006/main" noGrp="1"/>
          </p:cNvSpPr>
          <p:nvPr/>
        </p:nvSpPr>
        <p:spPr>
          <a:xfrm xmlns:a="http://schemas.openxmlformats.org/drawingml/2006/main">
            <a:off x="5934075" y="2867025"/>
            <a:ext cx="342900" cy="95250"/>
          </a:xfrm>
          <a:prstGeom xmlns:a="http://schemas.openxmlformats.org/drawingml/2006/main" prst="rightArrow">
            <a:avLst/>
          </a:prstGeom>
          <a:solidFill xmlns:a="http://schemas.openxmlformats.org/drawingml/2006/main">
            <a:srgbClr val="B866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78B21E-883C-40FD-A071-6D3BFBBD1B92}"/>
              </a:ext>
            </a:extLst>
          </p:cNvPr>
          <p:cNvSpPr>
            <a:spLocks xmlns:a="http://schemas.openxmlformats.org/drawingml/2006/main" noGrp="1"/>
          </p:cNvSpPr>
          <p:nvPr/>
        </p:nvSpPr>
        <p:spPr>
          <a:xfrm xmlns:a="http://schemas.openxmlformats.org/drawingml/2006/main">
            <a:off x="7858125" y="2867025"/>
            <a:ext cx="342900" cy="95250"/>
          </a:xfrm>
          <a:prstGeom xmlns:a="http://schemas.openxmlformats.org/drawingml/2006/main" prst="rightArrow">
            <a:avLst/>
          </a:prstGeom>
          <a:solidFill xmlns:a="http://schemas.openxmlformats.org/drawingml/2006/main">
            <a:srgbClr val="B8663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77C68C3-4C65-436F-B250-7A1A147B3583}"/>
              </a:ext>
            </a:extLst>
          </p:cNvPr>
          <p:cNvSpPr>
            <a:spLocks xmlns:a="http://schemas.openxmlformats.org/drawingml/2006/main" noGrp="1"/>
          </p:cNvSpPr>
          <p:nvPr/>
        </p:nvSpPr>
        <p:spPr>
          <a:xfrm xmlns:a="http://schemas.openxmlformats.org/drawingml/2006/main">
            <a:off x="9782175" y="2867025"/>
            <a:ext cx="342900" cy="95250"/>
          </a:xfrm>
          <a:prstGeom xmlns:a="http://schemas.openxmlformats.org/drawingml/2006/main" prst="rightArrow">
            <a:avLst/>
          </a:prstGeom>
          <a:solidFill xmlns:a="http://schemas.openxmlformats.org/drawingml/2006/main">
            <a:srgbClr val="B8663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0EB56F-1975-4489-A61E-F1307F8EAF41}"/>
              </a:ext>
            </a:extLst>
          </p:cNvPr>
          <p:cNvSpPr>
            <a:spLocks xmlns:a="http://schemas.openxmlformats.org/drawingml/2006/main" noGrp="1"/>
          </p:cNvSpPr>
          <p:nvPr/>
        </p:nvSpPr>
        <p:spPr>
          <a:xfrm xmlns:a="http://schemas.openxmlformats.org/drawingml/2006/main">
            <a:off x="495300" y="2009775"/>
            <a:ext cx="15811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1" name="">
            <a:extLst xmlns:a="http://schemas.openxmlformats.org/drawingml/2006/main">
              <a:ext uri="{FF2B5EF4-FFF2-40B4-BE49-F238E27FC236}">
                <a16:creationId xmlns:a16="http://schemas.microsoft.com/office/drawing/2014/main" id="{C257D39A-CBE8-49D9-B5CD-52477AEAD176}"/>
              </a:ext>
            </a:extLst>
          </p:cNvPr>
          <p:cNvSpPr>
            <a:spLocks xmlns:a="http://schemas.openxmlformats.org/drawingml/2006/main" noGrp="1"/>
          </p:cNvSpPr>
          <p:nvPr/>
        </p:nvSpPr>
        <p:spPr>
          <a:xfrm xmlns:a="http://schemas.openxmlformats.org/drawingml/2006/main">
            <a:off x="49530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ATTRIBUTED PAPER</a:t>
            </a:r>
          </a:p>
        </p:txBody>
      </p:sp>
      <p:sp>
        <p:nvSpPr>
          <p:cNvPr id="12" name="">
            <a:extLst xmlns:a="http://schemas.openxmlformats.org/drawingml/2006/main">
              <a:ext uri="{FF2B5EF4-FFF2-40B4-BE49-F238E27FC236}">
                <a16:creationId xmlns:a16="http://schemas.microsoft.com/office/drawing/2014/main" id="{02986588-1827-4FAF-8FB3-86DC705F7E3D}"/>
              </a:ext>
            </a:extLst>
          </p:cNvPr>
          <p:cNvSpPr>
            <a:spLocks xmlns:a="http://schemas.openxmlformats.org/drawingml/2006/main" noGrp="1"/>
          </p:cNvSpPr>
          <p:nvPr/>
        </p:nvSpPr>
        <p:spPr>
          <a:xfrm xmlns:a="http://schemas.openxmlformats.org/drawingml/2006/main">
            <a:off x="49530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reviewed evidence paths</a:t>
            </a:r>
          </a:p>
        </p:txBody>
      </p:sp>
      <p:sp>
        <p:nvSpPr>
          <p:cNvPr id="13" name="">
            <a:extLst xmlns:a="http://schemas.openxmlformats.org/drawingml/2006/main">
              <a:ext uri="{FF2B5EF4-FFF2-40B4-BE49-F238E27FC236}">
                <a16:creationId xmlns:a16="http://schemas.microsoft.com/office/drawing/2014/main" id="{4696DC64-5191-451A-A628-04C0570CA75C}"/>
              </a:ext>
            </a:extLst>
          </p:cNvPr>
          <p:cNvSpPr>
            <a:spLocks xmlns:a="http://schemas.openxmlformats.org/drawingml/2006/main" noGrp="1"/>
          </p:cNvSpPr>
          <p:nvPr/>
        </p:nvSpPr>
        <p:spPr>
          <a:xfrm xmlns:a="http://schemas.openxmlformats.org/drawingml/2006/main">
            <a:off x="2419350" y="2009775"/>
            <a:ext cx="1581150" cy="0"/>
          </a:xfrm>
          <a:prstGeom xmlns:a="http://schemas.openxmlformats.org/drawingml/2006/main" prst="line">
            <a:avLst/>
          </a:prstGeom>
          <a:noFill xmlns:a="http://schemas.openxmlformats.org/drawingml/2006/main"/>
          <a:ln xmlns:a="http://schemas.openxmlformats.org/drawingml/2006/main" w="38100">
            <a:solidFill>
              <a:srgbClr val="587F96"/>
            </a:solidFill>
            <a:prstDash val="solid"/>
          </a:ln>
        </p:spPr>
      </p:sp>
      <p:sp>
        <p:nvSpPr>
          <p:cNvPr id="14" name="">
            <a:extLst xmlns:a="http://schemas.openxmlformats.org/drawingml/2006/main">
              <a:ext uri="{FF2B5EF4-FFF2-40B4-BE49-F238E27FC236}">
                <a16:creationId xmlns:a16="http://schemas.microsoft.com/office/drawing/2014/main" id="{4FF861AE-E869-4B04-AB20-64AF0B712B4B}"/>
              </a:ext>
            </a:extLst>
          </p:cNvPr>
          <p:cNvSpPr>
            <a:spLocks xmlns:a="http://schemas.openxmlformats.org/drawingml/2006/main" noGrp="1"/>
          </p:cNvSpPr>
          <p:nvPr/>
        </p:nvSpPr>
        <p:spPr>
          <a:xfrm xmlns:a="http://schemas.openxmlformats.org/drawingml/2006/main">
            <a:off x="241935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587F96"/>
                </a:solidFill>
                <a:latin typeface="Arial"/>
                <a:ea typeface="Arial"/>
                <a:cs typeface="Arial"/>
              </a:defRPr>
            </a:pPr>
            <a:r>
              <a:rPr sz="825" b="1" i="0">
                <a:solidFill>
                  <a:srgbClr val="587F96"/>
                </a:solidFill>
                <a:latin typeface="Arial"/>
                <a:ea typeface="Arial"/>
                <a:cs typeface="Arial"/>
              </a:rPr>
              <a:t>STRUCTURED CLAIMS</a:t>
            </a:r>
          </a:p>
        </p:txBody>
      </p:sp>
      <p:sp>
        <p:nvSpPr>
          <p:cNvPr id="15" name="">
            <a:extLst xmlns:a="http://schemas.openxmlformats.org/drawingml/2006/main">
              <a:ext uri="{FF2B5EF4-FFF2-40B4-BE49-F238E27FC236}">
                <a16:creationId xmlns:a16="http://schemas.microsoft.com/office/drawing/2014/main" id="{0449E3FB-CB39-41DB-8540-9DF913BB92DE}"/>
              </a:ext>
            </a:extLst>
          </p:cNvPr>
          <p:cNvSpPr>
            <a:spLocks xmlns:a="http://schemas.openxmlformats.org/drawingml/2006/main" noGrp="1"/>
          </p:cNvSpPr>
          <p:nvPr/>
        </p:nvSpPr>
        <p:spPr>
          <a:xfrm xmlns:a="http://schemas.openxmlformats.org/drawingml/2006/main">
            <a:off x="241935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entities + propositions</a:t>
            </a:r>
          </a:p>
        </p:txBody>
      </p:sp>
      <p:sp>
        <p:nvSpPr>
          <p:cNvPr id="16" name="">
            <a:extLst xmlns:a="http://schemas.openxmlformats.org/drawingml/2006/main">
              <a:ext uri="{FF2B5EF4-FFF2-40B4-BE49-F238E27FC236}">
                <a16:creationId xmlns:a16="http://schemas.microsoft.com/office/drawing/2014/main" id="{A0FF7143-61BA-4332-8A91-7C8B537870A0}"/>
              </a:ext>
            </a:extLst>
          </p:cNvPr>
          <p:cNvSpPr>
            <a:spLocks xmlns:a="http://schemas.openxmlformats.org/drawingml/2006/main" noGrp="1"/>
          </p:cNvSpPr>
          <p:nvPr/>
        </p:nvSpPr>
        <p:spPr>
          <a:xfrm xmlns:a="http://schemas.openxmlformats.org/drawingml/2006/main">
            <a:off x="4343400" y="2009775"/>
            <a:ext cx="15811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17" name="">
            <a:extLst xmlns:a="http://schemas.openxmlformats.org/drawingml/2006/main">
              <a:ext uri="{FF2B5EF4-FFF2-40B4-BE49-F238E27FC236}">
                <a16:creationId xmlns:a16="http://schemas.microsoft.com/office/drawing/2014/main" id="{365B79ED-2CE9-46A2-B214-260C18498BC6}"/>
              </a:ext>
            </a:extLst>
          </p:cNvPr>
          <p:cNvSpPr>
            <a:spLocks xmlns:a="http://schemas.openxmlformats.org/drawingml/2006/main" noGrp="1"/>
          </p:cNvSpPr>
          <p:nvPr/>
        </p:nvSpPr>
        <p:spPr>
          <a:xfrm xmlns:a="http://schemas.openxmlformats.org/drawingml/2006/main">
            <a:off x="434340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TKU</a:t>
            </a:r>
          </a:p>
        </p:txBody>
      </p:sp>
      <p:sp>
        <p:nvSpPr>
          <p:cNvPr id="18" name="">
            <a:extLst xmlns:a="http://schemas.openxmlformats.org/drawingml/2006/main">
              <a:ext uri="{FF2B5EF4-FFF2-40B4-BE49-F238E27FC236}">
                <a16:creationId xmlns:a16="http://schemas.microsoft.com/office/drawing/2014/main" id="{092BD0F4-471B-484A-91C1-88E95ACB5547}"/>
              </a:ext>
            </a:extLst>
          </p:cNvPr>
          <p:cNvSpPr>
            <a:spLocks xmlns:a="http://schemas.openxmlformats.org/drawingml/2006/main" noGrp="1"/>
          </p:cNvSpPr>
          <p:nvPr/>
        </p:nvSpPr>
        <p:spPr>
          <a:xfrm xmlns:a="http://schemas.openxmlformats.org/drawingml/2006/main">
            <a:off x="434340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method core + assumptions + lessons</a:t>
            </a:r>
          </a:p>
        </p:txBody>
      </p:sp>
      <p:sp>
        <p:nvSpPr>
          <p:cNvPr id="19" name="">
            <a:extLst xmlns:a="http://schemas.openxmlformats.org/drawingml/2006/main">
              <a:ext uri="{FF2B5EF4-FFF2-40B4-BE49-F238E27FC236}">
                <a16:creationId xmlns:a16="http://schemas.microsoft.com/office/drawing/2014/main" id="{BC668556-4AEA-4A58-884F-CFE27F645448}"/>
              </a:ext>
            </a:extLst>
          </p:cNvPr>
          <p:cNvSpPr>
            <a:spLocks xmlns:a="http://schemas.openxmlformats.org/drawingml/2006/main" noGrp="1"/>
          </p:cNvSpPr>
          <p:nvPr/>
        </p:nvSpPr>
        <p:spPr>
          <a:xfrm xmlns:a="http://schemas.openxmlformats.org/drawingml/2006/main">
            <a:off x="6267450" y="2009775"/>
            <a:ext cx="15811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20" name="">
            <a:extLst xmlns:a="http://schemas.openxmlformats.org/drawingml/2006/main">
              <a:ext uri="{FF2B5EF4-FFF2-40B4-BE49-F238E27FC236}">
                <a16:creationId xmlns:a16="http://schemas.microsoft.com/office/drawing/2014/main" id="{62391DE7-76D8-4F6D-BED6-1222D19F32CD}"/>
              </a:ext>
            </a:extLst>
          </p:cNvPr>
          <p:cNvSpPr>
            <a:spLocks xmlns:a="http://schemas.openxmlformats.org/drawingml/2006/main" noGrp="1"/>
          </p:cNvSpPr>
          <p:nvPr/>
        </p:nvSpPr>
        <p:spPr>
          <a:xfrm xmlns:a="http://schemas.openxmlformats.org/drawingml/2006/main">
            <a:off x="626745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TARGET MATCH</a:t>
            </a:r>
          </a:p>
        </p:txBody>
      </p:sp>
      <p:sp>
        <p:nvSpPr>
          <p:cNvPr id="21" name="">
            <a:extLst xmlns:a="http://schemas.openxmlformats.org/drawingml/2006/main">
              <a:ext uri="{FF2B5EF4-FFF2-40B4-BE49-F238E27FC236}">
                <a16:creationId xmlns:a16="http://schemas.microsoft.com/office/drawing/2014/main" id="{FD7DA485-6799-49DB-8004-216E5F5E532C}"/>
              </a:ext>
            </a:extLst>
          </p:cNvPr>
          <p:cNvSpPr>
            <a:spLocks xmlns:a="http://schemas.openxmlformats.org/drawingml/2006/main" noGrp="1"/>
          </p:cNvSpPr>
          <p:nvPr/>
        </p:nvSpPr>
        <p:spPr>
          <a:xfrm xmlns:a="http://schemas.openxmlformats.org/drawingml/2006/main">
            <a:off x="626745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different SDL domain</a:t>
            </a:r>
          </a:p>
        </p:txBody>
      </p:sp>
      <p:sp>
        <p:nvSpPr>
          <p:cNvPr id="22" name="">
            <a:extLst xmlns:a="http://schemas.openxmlformats.org/drawingml/2006/main">
              <a:ext uri="{FF2B5EF4-FFF2-40B4-BE49-F238E27FC236}">
                <a16:creationId xmlns:a16="http://schemas.microsoft.com/office/drawing/2014/main" id="{2E072E26-046A-4ED4-82C3-AA3A3FD9643E}"/>
              </a:ext>
            </a:extLst>
          </p:cNvPr>
          <p:cNvSpPr>
            <a:spLocks xmlns:a="http://schemas.openxmlformats.org/drawingml/2006/main" noGrp="1"/>
          </p:cNvSpPr>
          <p:nvPr/>
        </p:nvSpPr>
        <p:spPr>
          <a:xfrm xmlns:a="http://schemas.openxmlformats.org/drawingml/2006/main">
            <a:off x="8191500" y="2009775"/>
            <a:ext cx="15811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23" name="">
            <a:extLst xmlns:a="http://schemas.openxmlformats.org/drawingml/2006/main">
              <a:ext uri="{FF2B5EF4-FFF2-40B4-BE49-F238E27FC236}">
                <a16:creationId xmlns:a16="http://schemas.microsoft.com/office/drawing/2014/main" id="{51D805E1-2C2B-4A12-BAF5-183B02C50109}"/>
              </a:ext>
            </a:extLst>
          </p:cNvPr>
          <p:cNvSpPr>
            <a:spLocks xmlns:a="http://schemas.openxmlformats.org/drawingml/2006/main" noGrp="1"/>
          </p:cNvSpPr>
          <p:nvPr/>
        </p:nvSpPr>
        <p:spPr>
          <a:xfrm xmlns:a="http://schemas.openxmlformats.org/drawingml/2006/main">
            <a:off x="819150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TRANSFER DESIGN</a:t>
            </a:r>
          </a:p>
        </p:txBody>
      </p:sp>
      <p:sp>
        <p:nvSpPr>
          <p:cNvPr id="24" name="">
            <a:extLst xmlns:a="http://schemas.openxmlformats.org/drawingml/2006/main">
              <a:ext uri="{FF2B5EF4-FFF2-40B4-BE49-F238E27FC236}">
                <a16:creationId xmlns:a16="http://schemas.microsoft.com/office/drawing/2014/main" id="{E137F88E-1710-44EB-B1B0-862408A77287}"/>
              </a:ext>
            </a:extLst>
          </p:cNvPr>
          <p:cNvSpPr>
            <a:spLocks xmlns:a="http://schemas.openxmlformats.org/drawingml/2006/main" noGrp="1"/>
          </p:cNvSpPr>
          <p:nvPr/>
        </p:nvSpPr>
        <p:spPr>
          <a:xfrm xmlns:a="http://schemas.openxmlformats.org/drawingml/2006/main">
            <a:off x="819150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plan + risks + citations</a:t>
            </a:r>
          </a:p>
        </p:txBody>
      </p:sp>
      <p:sp>
        <p:nvSpPr>
          <p:cNvPr id="25" name="">
            <a:extLst xmlns:a="http://schemas.openxmlformats.org/drawingml/2006/main">
              <a:ext uri="{FF2B5EF4-FFF2-40B4-BE49-F238E27FC236}">
                <a16:creationId xmlns:a16="http://schemas.microsoft.com/office/drawing/2014/main" id="{BF452F2F-12A0-4F2A-8C7B-C667AFC195A5}"/>
              </a:ext>
            </a:extLst>
          </p:cNvPr>
          <p:cNvSpPr>
            <a:spLocks xmlns:a="http://schemas.openxmlformats.org/drawingml/2006/main" noGrp="1"/>
          </p:cNvSpPr>
          <p:nvPr/>
        </p:nvSpPr>
        <p:spPr>
          <a:xfrm xmlns:a="http://schemas.openxmlformats.org/drawingml/2006/main">
            <a:off x="10115550" y="2009775"/>
            <a:ext cx="1581150" cy="0"/>
          </a:xfrm>
          <a:prstGeom xmlns:a="http://schemas.openxmlformats.org/drawingml/2006/main" prst="line">
            <a:avLst/>
          </a:prstGeom>
          <a:noFill xmlns:a="http://schemas.openxmlformats.org/drawingml/2006/main"/>
          <a:ln xmlns:a="http://schemas.openxmlformats.org/drawingml/2006/main" w="38100">
            <a:solidFill>
              <a:srgbClr val="B8663B"/>
            </a:solidFill>
            <a:prstDash val="solid"/>
          </a:ln>
        </p:spPr>
      </p:sp>
      <p:sp>
        <p:nvSpPr>
          <p:cNvPr id="26" name="">
            <a:extLst xmlns:a="http://schemas.openxmlformats.org/drawingml/2006/main">
              <a:ext uri="{FF2B5EF4-FFF2-40B4-BE49-F238E27FC236}">
                <a16:creationId xmlns:a16="http://schemas.microsoft.com/office/drawing/2014/main" id="{0A40B7B8-1250-4C10-BEB9-C6257F37F97B}"/>
              </a:ext>
            </a:extLst>
          </p:cNvPr>
          <p:cNvSpPr>
            <a:spLocks xmlns:a="http://schemas.openxmlformats.org/drawingml/2006/main" noGrp="1"/>
          </p:cNvSpPr>
          <p:nvPr/>
        </p:nvSpPr>
        <p:spPr>
          <a:xfrm xmlns:a="http://schemas.openxmlformats.org/drawingml/2006/main">
            <a:off x="10115550" y="22383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KNOWLEDGE CARD</a:t>
            </a:r>
          </a:p>
        </p:txBody>
      </p:sp>
      <p:sp>
        <p:nvSpPr>
          <p:cNvPr id="27" name="">
            <a:extLst xmlns:a="http://schemas.openxmlformats.org/drawingml/2006/main">
              <a:ext uri="{FF2B5EF4-FFF2-40B4-BE49-F238E27FC236}">
                <a16:creationId xmlns:a16="http://schemas.microsoft.com/office/drawing/2014/main" id="{7AF6246D-12B5-4E80-BA09-5636A00C1F5D}"/>
              </a:ext>
            </a:extLst>
          </p:cNvPr>
          <p:cNvSpPr>
            <a:spLocks xmlns:a="http://schemas.openxmlformats.org/drawingml/2006/main" noGrp="1"/>
          </p:cNvSpPr>
          <p:nvPr/>
        </p:nvSpPr>
        <p:spPr>
          <a:xfrm xmlns:a="http://schemas.openxmlformats.org/drawingml/2006/main">
            <a:off x="10115550" y="2647950"/>
            <a:ext cx="1581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203A4C"/>
                </a:solidFill>
                <a:latin typeface="Georgia"/>
                <a:ea typeface="Georgia"/>
                <a:cs typeface="Georgia"/>
              </a:defRPr>
            </a:pPr>
            <a:r>
              <a:rPr sz="1275" b="1" i="0">
                <a:solidFill>
                  <a:srgbClr val="203A4C"/>
                </a:solidFill>
                <a:latin typeface="Georgia"/>
                <a:ea typeface="Georgia"/>
                <a:cs typeface="Georgia"/>
              </a:rPr>
              <a:t>human-reviewed reusable asset</a:t>
            </a:r>
          </a:p>
        </p:txBody>
      </p:sp>
      <p:sp>
        <p:nvSpPr>
          <p:cNvPr id="28" name="">
            <a:extLst xmlns:a="http://schemas.openxmlformats.org/drawingml/2006/main">
              <a:ext uri="{FF2B5EF4-FFF2-40B4-BE49-F238E27FC236}">
                <a16:creationId xmlns:a16="http://schemas.microsoft.com/office/drawing/2014/main" id="{9C700362-AA17-4839-8D06-9A287602FB1E}"/>
              </a:ext>
            </a:extLst>
          </p:cNvPr>
          <p:cNvSpPr>
            <a:spLocks xmlns:a="http://schemas.openxmlformats.org/drawingml/2006/main" noGrp="1"/>
          </p:cNvSpPr>
          <p:nvPr/>
        </p:nvSpPr>
        <p:spPr>
          <a:xfrm xmlns:a="http://schemas.openxmlformats.org/drawingml/2006/main">
            <a:off x="495300" y="3981450"/>
            <a:ext cx="7239000" cy="838200"/>
          </a:xfrm>
          <a:prstGeom xmlns:a="http://schemas.openxmlformats.org/drawingml/2006/main" prst="rect">
            <a:avLst/>
          </a:prstGeom>
          <a:solidFill xmlns:a="http://schemas.openxmlformats.org/drawingml/2006/main">
            <a:srgbClr val="203A4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7CA758C-5D41-4D83-99CC-EC09938C1F2C}"/>
              </a:ext>
            </a:extLst>
          </p:cNvPr>
          <p:cNvSpPr>
            <a:spLocks xmlns:a="http://schemas.openxmlformats.org/drawingml/2006/main" noGrp="1"/>
          </p:cNvSpPr>
          <p:nvPr/>
        </p:nvSpPr>
        <p:spPr>
          <a:xfrm xmlns:a="http://schemas.openxmlformats.org/drawingml/2006/main">
            <a:off x="704850" y="4124325"/>
            <a:ext cx="681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Transfer score = match strength + novelty + transferability + evidence − risk penalty</a:t>
            </a:r>
          </a:p>
        </p:txBody>
      </p:sp>
      <p:sp>
        <p:nvSpPr>
          <p:cNvPr id="30" name="">
            <a:extLst xmlns:a="http://schemas.openxmlformats.org/drawingml/2006/main">
              <a:ext uri="{FF2B5EF4-FFF2-40B4-BE49-F238E27FC236}">
                <a16:creationId xmlns:a16="http://schemas.microsoft.com/office/drawing/2014/main" id="{0B376674-270F-4A8D-9103-9D769D6323DA}"/>
              </a:ext>
            </a:extLst>
          </p:cNvPr>
          <p:cNvSpPr>
            <a:spLocks xmlns:a="http://schemas.openxmlformats.org/drawingml/2006/main" noGrp="1"/>
          </p:cNvSpPr>
          <p:nvPr/>
        </p:nvSpPr>
        <p:spPr>
          <a:xfrm xmlns:a="http://schemas.openxmlformats.org/drawingml/2006/main">
            <a:off x="8153400" y="3981450"/>
            <a:ext cx="3543300" cy="15621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31" name="">
            <a:extLst xmlns:a="http://schemas.openxmlformats.org/drawingml/2006/main">
              <a:ext uri="{FF2B5EF4-FFF2-40B4-BE49-F238E27FC236}">
                <a16:creationId xmlns:a16="http://schemas.microsoft.com/office/drawing/2014/main" id="{EB9AEC66-2631-4B84-BB84-DFFC9E863955}"/>
              </a:ext>
            </a:extLst>
          </p:cNvPr>
          <p:cNvSpPr>
            <a:spLocks xmlns:a="http://schemas.openxmlformats.org/drawingml/2006/main" noGrp="1"/>
          </p:cNvSpPr>
          <p:nvPr/>
        </p:nvSpPr>
        <p:spPr>
          <a:xfrm xmlns:a="http://schemas.openxmlformats.org/drawingml/2006/main">
            <a:off x="8382000" y="418147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B8663B"/>
                </a:solidFill>
                <a:latin typeface="Arial"/>
                <a:ea typeface="Arial"/>
                <a:cs typeface="Arial"/>
              </a:defRPr>
            </a:pPr>
            <a:r>
              <a:rPr sz="825" b="1" i="0">
                <a:solidFill>
                  <a:srgbClr val="B8663B"/>
                </a:solidFill>
                <a:latin typeface="Arial"/>
                <a:ea typeface="Arial"/>
                <a:cs typeface="Arial"/>
              </a:rPr>
              <a:t>SOURCE CONTRACT</a:t>
            </a:r>
          </a:p>
        </p:txBody>
      </p:sp>
      <p:sp>
        <p:nvSpPr>
          <p:cNvPr id="32" name="">
            <a:extLst xmlns:a="http://schemas.openxmlformats.org/drawingml/2006/main">
              <a:ext uri="{FF2B5EF4-FFF2-40B4-BE49-F238E27FC236}">
                <a16:creationId xmlns:a16="http://schemas.microsoft.com/office/drawing/2014/main" id="{30C0628D-0939-4901-8362-47432B937E31}"/>
              </a:ext>
            </a:extLst>
          </p:cNvPr>
          <p:cNvSpPr>
            <a:spLocks xmlns:a="http://schemas.openxmlformats.org/drawingml/2006/main" noGrp="1"/>
          </p:cNvSpPr>
          <p:nvPr/>
        </p:nvSpPr>
        <p:spPr>
          <a:xfrm xmlns:a="http://schemas.openxmlformats.org/drawingml/2006/main">
            <a:off x="8382000" y="4552950"/>
            <a:ext cx="30861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l">
              <a:lnSpc>
                <a:spcPct val="108000"/>
              </a:lnSpc>
              <a:buNone/>
              <a:defRPr sz="1350" b="1" i="0">
                <a:solidFill>
                  <a:srgbClr val="17202A"/>
                </a:solidFill>
                <a:latin typeface="Arial"/>
                <a:ea typeface="Arial"/>
                <a:cs typeface="Arial"/>
              </a:defRPr>
            </a:pPr>
            <a:r>
              <a:rPr sz="1350" b="1" i="0">
                <a:solidFill>
                  <a:srgbClr val="17202A"/>
                </a:solidFill>
                <a:latin typeface="Arial"/>
                <a:ea typeface="Arial"/>
                <a:cs typeface="Arial"/>
              </a:rPr>
              <a:t>Every generated claim carries a source tag such as [src:paper_id]. Same-domain matches are excluded. Human review precedes acceptance.</a:t>
            </a:r>
          </a:p>
        </p:txBody>
      </p:sp>
      <p:sp>
        <p:nvSpPr>
          <p:cNvPr id="33" name="">
            <a:extLst xmlns:a="http://schemas.openxmlformats.org/drawingml/2006/main">
              <a:ext uri="{FF2B5EF4-FFF2-40B4-BE49-F238E27FC236}">
                <a16:creationId xmlns:a16="http://schemas.microsoft.com/office/drawing/2014/main" id="{B5D7B46D-A7AE-4708-AFEE-05AF9FFC944D}"/>
              </a:ext>
            </a:extLst>
          </p:cNvPr>
          <p:cNvSpPr>
            <a:spLocks xmlns:a="http://schemas.openxmlformats.org/drawingml/2006/main" noGrp="1"/>
          </p:cNvSpPr>
          <p:nvPr/>
        </p:nvSpPr>
        <p:spPr>
          <a:xfrm xmlns:a="http://schemas.openxmlformats.org/drawingml/2006/main">
            <a:off x="495300" y="5676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515"/>
          </a:bodyPr>
          <a:lstStyle xmlns:a="http://schemas.openxmlformats.org/drawingml/2006/main"/>
          <a:p xmlns:a="http://schemas.openxmlformats.org/drawingml/2006/main">
            <a:pPr algn="l">
              <a:lnSpc>
                <a:spcPct val="108000"/>
              </a:lnSpc>
              <a:buNone/>
              <a:defRPr sz="1725" b="1" i="0">
                <a:solidFill>
                  <a:srgbClr val="B8663B"/>
                </a:solidFill>
                <a:latin typeface="Georgia"/>
                <a:ea typeface="Georgia"/>
                <a:cs typeface="Georgia"/>
              </a:defRPr>
            </a:pPr>
            <a:r>
              <a:rPr sz="1725" b="1" i="0">
                <a:solidFill>
                  <a:srgbClr val="B8663B"/>
                </a:solidFill>
                <a:latin typeface="Georgia"/>
                <a:ea typeface="Georgia"/>
                <a:cs typeface="Georgia"/>
              </a:rPr>
              <a:t>Classification makes the corpus searchable; attribution makes the extracted knowledge defensible.</a:t>
            </a:r>
          </a:p>
        </p:txBody>
      </p:sp>
      <p:sp>
        <p:nvSpPr>
          <p:cNvPr id="34" name="">
            <a:extLst xmlns:a="http://schemas.openxmlformats.org/drawingml/2006/main">
              <a:ext uri="{FF2B5EF4-FFF2-40B4-BE49-F238E27FC236}">
                <a16:creationId xmlns:a16="http://schemas.microsoft.com/office/drawing/2014/main" id="{4E1D29D5-7C73-40D8-97E2-46BCA6E7174A}"/>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35" name="">
            <a:extLst xmlns:a="http://schemas.openxmlformats.org/drawingml/2006/main">
              <a:ext uri="{FF2B5EF4-FFF2-40B4-BE49-F238E27FC236}">
                <a16:creationId xmlns:a16="http://schemas.microsoft.com/office/drawing/2014/main" id="{C694BFDC-74D6-42AE-9016-186EFA23034F}"/>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36" name="">
            <a:extLst xmlns:a="http://schemas.openxmlformats.org/drawingml/2006/main">
              <a:ext uri="{FF2B5EF4-FFF2-40B4-BE49-F238E27FC236}">
                <a16:creationId xmlns:a16="http://schemas.microsoft.com/office/drawing/2014/main" id="{F4176148-EFCE-42BF-BB7A-AD7899C28D73}"/>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309311430"/>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93E0784-717A-48D2-A761-836CDF9E92EF}"/>
              </a:ext>
            </a:extLst>
          </p:cNvPr>
          <p:cNvSpPr>
            <a:spLocks xmlns:a="http://schemas.openxmlformats.org/drawingml/2006/main" noGrp="1"/>
          </p:cNvSpPr>
          <p:nvPr/>
        </p:nvSpPr>
        <p:spPr>
          <a:xfrm xmlns:a="http://schemas.openxmlformats.org/drawingml/2006/main">
            <a:off x="49530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587F96"/>
                </a:solidFill>
                <a:latin typeface="Arial"/>
                <a:ea typeface="Arial"/>
                <a:cs typeface="Arial"/>
              </a:defRPr>
            </a:pPr>
            <a:r>
              <a:rPr sz="900" b="1" i="0">
                <a:solidFill>
                  <a:srgbClr val="587F96"/>
                </a:solidFill>
                <a:latin typeface="Arial"/>
                <a:ea typeface="Arial"/>
                <a:cs typeface="Arial"/>
              </a:rPr>
              <a:t>SYSTEM BOUNDARY</a:t>
            </a:r>
          </a:p>
        </p:txBody>
      </p:sp>
      <p:sp>
        <p:nvSpPr>
          <p:cNvPr id="2" name="">
            <a:extLst xmlns:a="http://schemas.openxmlformats.org/drawingml/2006/main">
              <a:ext uri="{FF2B5EF4-FFF2-40B4-BE49-F238E27FC236}">
                <a16:creationId xmlns:a16="http://schemas.microsoft.com/office/drawing/2014/main" id="{0B45155A-A25E-48BE-8170-E599619072F9}"/>
              </a:ext>
            </a:extLst>
          </p:cNvPr>
          <p:cNvSpPr>
            <a:spLocks xmlns:a="http://schemas.openxmlformats.org/drawingml/2006/main" noGrp="1"/>
          </p:cNvSpPr>
          <p:nvPr/>
        </p:nvSpPr>
        <p:spPr>
          <a:xfrm xmlns:a="http://schemas.openxmlformats.org/drawingml/2006/main">
            <a:off x="11220450" y="3238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0" i="0">
                <a:solidFill>
                  <a:srgbClr val="8B8F91"/>
                </a:solidFill>
                <a:latin typeface="Arial"/>
                <a:ea typeface="Arial"/>
                <a:cs typeface="Arial"/>
              </a:defRPr>
            </a:pPr>
            <a:r>
              <a:rPr sz="900" b="0" i="0">
                <a:solidFill>
                  <a:srgbClr val="8B8F91"/>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1C39A861-1726-491F-A820-CD6821BF296B}"/>
              </a:ext>
            </a:extLst>
          </p:cNvPr>
          <p:cNvSpPr>
            <a:spLocks xmlns:a="http://schemas.openxmlformats.org/drawingml/2006/main" noGrp="1"/>
          </p:cNvSpPr>
          <p:nvPr/>
        </p:nvSpPr>
        <p:spPr>
          <a:xfrm xmlns:a="http://schemas.openxmlformats.org/drawingml/2006/main">
            <a:off x="495300" y="68580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470"/>
          </a:bodyPr>
          <a:lstStyle xmlns:a="http://schemas.openxmlformats.org/drawingml/2006/main"/>
          <a:p xmlns:a="http://schemas.openxmlformats.org/drawingml/2006/main">
            <a:pPr algn="l">
              <a:lnSpc>
                <a:spcPct val="108000"/>
              </a:lnSpc>
              <a:buNone/>
              <a:defRPr sz="3150" b="1" i="0">
                <a:solidFill>
                  <a:srgbClr val="17202A"/>
                </a:solidFill>
                <a:latin typeface="Georgia"/>
                <a:ea typeface="Georgia"/>
                <a:cs typeface="Georgia"/>
              </a:defRPr>
            </a:pPr>
            <a:r>
              <a:rPr sz="3150" b="1" i="0">
                <a:solidFill>
                  <a:srgbClr val="17202A"/>
                </a:solidFill>
                <a:latin typeface="Georgia"/>
                <a:ea typeface="Georgia"/>
                <a:cs typeface="Georgia"/>
              </a:rPr>
              <a:t>Current capability, optional layers, and experimental work remain distinct</a:t>
            </a:r>
          </a:p>
        </p:txBody>
      </p:sp>
      <p:sp>
        <p:nvSpPr>
          <p:cNvPr id="4" name="">
            <a:extLst xmlns:a="http://schemas.openxmlformats.org/drawingml/2006/main">
              <a:ext uri="{FF2B5EF4-FFF2-40B4-BE49-F238E27FC236}">
                <a16:creationId xmlns:a16="http://schemas.microsoft.com/office/drawing/2014/main" id="{DDD1B664-527E-4156-B7B3-DFA30B2F53FC}"/>
              </a:ext>
            </a:extLst>
          </p:cNvPr>
          <p:cNvSpPr>
            <a:spLocks xmlns:a="http://schemas.openxmlformats.org/drawingml/2006/main" noGrp="1"/>
          </p:cNvSpPr>
          <p:nvPr/>
        </p:nvSpPr>
        <p:spPr>
          <a:xfrm xmlns:a="http://schemas.openxmlformats.org/drawingml/2006/main">
            <a:off x="495300" y="13906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5" name="">
            <a:extLst xmlns:a="http://schemas.openxmlformats.org/drawingml/2006/main">
              <a:ext uri="{FF2B5EF4-FFF2-40B4-BE49-F238E27FC236}">
                <a16:creationId xmlns:a16="http://schemas.microsoft.com/office/drawing/2014/main" id="{C77A3290-B03B-4A82-BD03-DB0EE35EA053}"/>
              </a:ext>
            </a:extLst>
          </p:cNvPr>
          <p:cNvSpPr>
            <a:spLocks xmlns:a="http://schemas.openxmlformats.org/drawingml/2006/main" noGrp="1"/>
          </p:cNvSpPr>
          <p:nvPr/>
        </p:nvSpPr>
        <p:spPr>
          <a:xfrm xmlns:a="http://schemas.openxmlformats.org/drawingml/2006/main">
            <a:off x="495300" y="1790700"/>
            <a:ext cx="19050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6" name="">
            <a:extLst xmlns:a="http://schemas.openxmlformats.org/drawingml/2006/main">
              <a:ext uri="{FF2B5EF4-FFF2-40B4-BE49-F238E27FC236}">
                <a16:creationId xmlns:a16="http://schemas.microsoft.com/office/drawing/2014/main" id="{4F7B4512-EE12-4D94-8229-0051CE99EA53}"/>
              </a:ext>
            </a:extLst>
          </p:cNvPr>
          <p:cNvSpPr>
            <a:spLocks xmlns:a="http://schemas.openxmlformats.org/drawingml/2006/main" noGrp="1"/>
          </p:cNvSpPr>
          <p:nvPr/>
        </p:nvSpPr>
        <p:spPr>
          <a:xfrm xmlns:a="http://schemas.openxmlformats.org/drawingml/2006/main">
            <a:off x="609600" y="18669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STATUS</a:t>
            </a:r>
          </a:p>
        </p:txBody>
      </p:sp>
      <p:sp>
        <p:nvSpPr>
          <p:cNvPr id="7" name="">
            <a:extLst xmlns:a="http://schemas.openxmlformats.org/drawingml/2006/main">
              <a:ext uri="{FF2B5EF4-FFF2-40B4-BE49-F238E27FC236}">
                <a16:creationId xmlns:a16="http://schemas.microsoft.com/office/drawing/2014/main" id="{98F86E1C-4311-4E41-9861-64B90E284645}"/>
              </a:ext>
            </a:extLst>
          </p:cNvPr>
          <p:cNvSpPr>
            <a:spLocks xmlns:a="http://schemas.openxmlformats.org/drawingml/2006/main" noGrp="1"/>
          </p:cNvSpPr>
          <p:nvPr/>
        </p:nvSpPr>
        <p:spPr>
          <a:xfrm xmlns:a="http://schemas.openxmlformats.org/drawingml/2006/main">
            <a:off x="2400300" y="1790700"/>
            <a:ext cx="59436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8" name="">
            <a:extLst xmlns:a="http://schemas.openxmlformats.org/drawingml/2006/main">
              <a:ext uri="{FF2B5EF4-FFF2-40B4-BE49-F238E27FC236}">
                <a16:creationId xmlns:a16="http://schemas.microsoft.com/office/drawing/2014/main" id="{7BF98873-C731-40AF-9818-A4EEBDA0CAFB}"/>
              </a:ext>
            </a:extLst>
          </p:cNvPr>
          <p:cNvSpPr>
            <a:spLocks xmlns:a="http://schemas.openxmlformats.org/drawingml/2006/main" noGrp="1"/>
          </p:cNvSpPr>
          <p:nvPr/>
        </p:nvSpPr>
        <p:spPr>
          <a:xfrm xmlns:a="http://schemas.openxmlformats.org/drawingml/2006/main">
            <a:off x="2514600" y="18669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CAPABILITIES</a:t>
            </a:r>
          </a:p>
        </p:txBody>
      </p:sp>
      <p:sp>
        <p:nvSpPr>
          <p:cNvPr id="9" name="">
            <a:extLst xmlns:a="http://schemas.openxmlformats.org/drawingml/2006/main">
              <a:ext uri="{FF2B5EF4-FFF2-40B4-BE49-F238E27FC236}">
                <a16:creationId xmlns:a16="http://schemas.microsoft.com/office/drawing/2014/main" id="{156EF2AE-193E-4161-994A-6311557AEAC9}"/>
              </a:ext>
            </a:extLst>
          </p:cNvPr>
          <p:cNvSpPr>
            <a:spLocks xmlns:a="http://schemas.openxmlformats.org/drawingml/2006/main" noGrp="1"/>
          </p:cNvSpPr>
          <p:nvPr/>
        </p:nvSpPr>
        <p:spPr>
          <a:xfrm xmlns:a="http://schemas.openxmlformats.org/drawingml/2006/main">
            <a:off x="8343900" y="1790700"/>
            <a:ext cx="3352800" cy="419100"/>
          </a:xfrm>
          <a:prstGeom xmlns:a="http://schemas.openxmlformats.org/drawingml/2006/main" prst="rect">
            <a:avLst/>
          </a:prstGeom>
          <a:solidFill xmlns:a="http://schemas.openxmlformats.org/drawingml/2006/main">
            <a:srgbClr val="203A4C"/>
          </a:solidFill>
          <a:ln xmlns:a="http://schemas.openxmlformats.org/drawingml/2006/main" w="9525">
            <a:solidFill>
              <a:srgbClr val="203A4C"/>
            </a:solidFill>
            <a:prstDash val="solid"/>
          </a:ln>
        </p:spPr>
      </p:sp>
      <p:sp>
        <p:nvSpPr>
          <p:cNvPr id="10" name="">
            <a:extLst xmlns:a="http://schemas.openxmlformats.org/drawingml/2006/main">
              <a:ext uri="{FF2B5EF4-FFF2-40B4-BE49-F238E27FC236}">
                <a16:creationId xmlns:a16="http://schemas.microsoft.com/office/drawing/2014/main" id="{01630877-954C-4A39-AD53-2C377873B900}"/>
              </a:ext>
            </a:extLst>
          </p:cNvPr>
          <p:cNvSpPr>
            <a:spLocks xmlns:a="http://schemas.openxmlformats.org/drawingml/2006/main" noGrp="1"/>
          </p:cNvSpPr>
          <p:nvPr/>
        </p:nvSpPr>
        <p:spPr>
          <a:xfrm xmlns:a="http://schemas.openxmlformats.org/drawingml/2006/main">
            <a:off x="8458200" y="186690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AUTHORITY / LIMIT</a:t>
            </a:r>
          </a:p>
        </p:txBody>
      </p:sp>
      <p:sp>
        <p:nvSpPr>
          <p:cNvPr id="11" name="">
            <a:extLst xmlns:a="http://schemas.openxmlformats.org/drawingml/2006/main">
              <a:ext uri="{FF2B5EF4-FFF2-40B4-BE49-F238E27FC236}">
                <a16:creationId xmlns:a16="http://schemas.microsoft.com/office/drawing/2014/main" id="{BB9CD800-14F1-40D4-8AE1-3791231D8A09}"/>
              </a:ext>
            </a:extLst>
          </p:cNvPr>
          <p:cNvSpPr>
            <a:spLocks xmlns:a="http://schemas.openxmlformats.org/drawingml/2006/main" noGrp="1"/>
          </p:cNvSpPr>
          <p:nvPr/>
        </p:nvSpPr>
        <p:spPr>
          <a:xfrm xmlns:a="http://schemas.openxmlformats.org/drawingml/2006/main">
            <a:off x="495300" y="2209800"/>
            <a:ext cx="19050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2" name="">
            <a:extLst xmlns:a="http://schemas.openxmlformats.org/drawingml/2006/main">
              <a:ext uri="{FF2B5EF4-FFF2-40B4-BE49-F238E27FC236}">
                <a16:creationId xmlns:a16="http://schemas.microsoft.com/office/drawing/2014/main" id="{247326F9-7CA5-4895-8D4E-F4B700B8141E}"/>
              </a:ext>
            </a:extLst>
          </p:cNvPr>
          <p:cNvSpPr>
            <a:spLocks xmlns:a="http://schemas.openxmlformats.org/drawingml/2006/main" noGrp="1"/>
          </p:cNvSpPr>
          <p:nvPr/>
        </p:nvSpPr>
        <p:spPr>
          <a:xfrm xmlns:a="http://schemas.openxmlformats.org/drawingml/2006/main">
            <a:off x="609600" y="2286000"/>
            <a:ext cx="1676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CURRENT</a:t>
            </a:r>
          </a:p>
        </p:txBody>
      </p:sp>
      <p:sp>
        <p:nvSpPr>
          <p:cNvPr id="13" name="">
            <a:extLst xmlns:a="http://schemas.openxmlformats.org/drawingml/2006/main">
              <a:ext uri="{FF2B5EF4-FFF2-40B4-BE49-F238E27FC236}">
                <a16:creationId xmlns:a16="http://schemas.microsoft.com/office/drawing/2014/main" id="{686A3168-461F-45F9-9094-554FC79D6637}"/>
              </a:ext>
            </a:extLst>
          </p:cNvPr>
          <p:cNvSpPr>
            <a:spLocks xmlns:a="http://schemas.openxmlformats.org/drawingml/2006/main" noGrp="1"/>
          </p:cNvSpPr>
          <p:nvPr/>
        </p:nvSpPr>
        <p:spPr>
          <a:xfrm xmlns:a="http://schemas.openxmlformats.org/drawingml/2006/main">
            <a:off x="2400300" y="2209800"/>
            <a:ext cx="59436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4" name="">
            <a:extLst xmlns:a="http://schemas.openxmlformats.org/drawingml/2006/main">
              <a:ext uri="{FF2B5EF4-FFF2-40B4-BE49-F238E27FC236}">
                <a16:creationId xmlns:a16="http://schemas.microsoft.com/office/drawing/2014/main" id="{60FD7FF1-C5FD-4C01-9395-5C9516310E71}"/>
              </a:ext>
            </a:extLst>
          </p:cNvPr>
          <p:cNvSpPr>
            <a:spLocks xmlns:a="http://schemas.openxmlformats.org/drawingml/2006/main" noGrp="1"/>
          </p:cNvSpPr>
          <p:nvPr/>
        </p:nvSpPr>
        <p:spPr>
          <a:xfrm xmlns:a="http://schemas.openxmlformats.org/drawingml/2006/main">
            <a:off x="2514600" y="2286000"/>
            <a:ext cx="571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paper attribution record · AET evidence paths · deterministic graph explanations · coauthor / institution / multi-entity networks · Sankey / impact / drift · source-linked retrieval · TKU and transfer services</a:t>
            </a:r>
          </a:p>
        </p:txBody>
      </p:sp>
      <p:sp>
        <p:nvSpPr>
          <p:cNvPr id="15" name="">
            <a:extLst xmlns:a="http://schemas.openxmlformats.org/drawingml/2006/main">
              <a:ext uri="{FF2B5EF4-FFF2-40B4-BE49-F238E27FC236}">
                <a16:creationId xmlns:a16="http://schemas.microsoft.com/office/drawing/2014/main" id="{438500EB-E140-446C-ABC7-486E4481C6E6}"/>
              </a:ext>
            </a:extLst>
          </p:cNvPr>
          <p:cNvSpPr>
            <a:spLocks xmlns:a="http://schemas.openxmlformats.org/drawingml/2006/main" noGrp="1"/>
          </p:cNvSpPr>
          <p:nvPr/>
        </p:nvSpPr>
        <p:spPr>
          <a:xfrm xmlns:a="http://schemas.openxmlformats.org/drawingml/2006/main">
            <a:off x="8343900" y="2209800"/>
            <a:ext cx="3352800" cy="110490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16" name="">
            <a:extLst xmlns:a="http://schemas.openxmlformats.org/drawingml/2006/main">
              <a:ext uri="{FF2B5EF4-FFF2-40B4-BE49-F238E27FC236}">
                <a16:creationId xmlns:a16="http://schemas.microsoft.com/office/drawing/2014/main" id="{118DC88B-BDA0-477C-8C59-F509418E3396}"/>
              </a:ext>
            </a:extLst>
          </p:cNvPr>
          <p:cNvSpPr>
            <a:spLocks xmlns:a="http://schemas.openxmlformats.org/drawingml/2006/main" noGrp="1"/>
          </p:cNvSpPr>
          <p:nvPr/>
        </p:nvSpPr>
        <p:spPr>
          <a:xfrm xmlns:a="http://schemas.openxmlformats.org/drawingml/2006/main">
            <a:off x="8458200" y="2286000"/>
            <a:ext cx="3124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implemented paths in the current repository; outputs remain evidence-linked</a:t>
            </a:r>
          </a:p>
        </p:txBody>
      </p:sp>
      <p:sp>
        <p:nvSpPr>
          <p:cNvPr id="17" name="">
            <a:extLst xmlns:a="http://schemas.openxmlformats.org/drawingml/2006/main">
              <a:ext uri="{FF2B5EF4-FFF2-40B4-BE49-F238E27FC236}">
                <a16:creationId xmlns:a16="http://schemas.microsoft.com/office/drawing/2014/main" id="{33F08BAE-F584-42CD-BF53-1A7BD340C512}"/>
              </a:ext>
            </a:extLst>
          </p:cNvPr>
          <p:cNvSpPr>
            <a:spLocks xmlns:a="http://schemas.openxmlformats.org/drawingml/2006/main" noGrp="1"/>
          </p:cNvSpPr>
          <p:nvPr/>
        </p:nvSpPr>
        <p:spPr>
          <a:xfrm xmlns:a="http://schemas.openxmlformats.org/drawingml/2006/main">
            <a:off x="495300" y="3314700"/>
            <a:ext cx="19050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18" name="">
            <a:extLst xmlns:a="http://schemas.openxmlformats.org/drawingml/2006/main">
              <a:ext uri="{FF2B5EF4-FFF2-40B4-BE49-F238E27FC236}">
                <a16:creationId xmlns:a16="http://schemas.microsoft.com/office/drawing/2014/main" id="{C3A9C6E4-9364-4F02-BCA8-F6E506850282}"/>
              </a:ext>
            </a:extLst>
          </p:cNvPr>
          <p:cNvSpPr>
            <a:spLocks xmlns:a="http://schemas.openxmlformats.org/drawingml/2006/main" noGrp="1"/>
          </p:cNvSpPr>
          <p:nvPr/>
        </p:nvSpPr>
        <p:spPr>
          <a:xfrm xmlns:a="http://schemas.openxmlformats.org/drawingml/2006/main">
            <a:off x="609600" y="3390900"/>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OPTIONAL</a:t>
            </a:r>
          </a:p>
        </p:txBody>
      </p:sp>
      <p:sp>
        <p:nvSpPr>
          <p:cNvPr id="19" name="">
            <a:extLst xmlns:a="http://schemas.openxmlformats.org/drawingml/2006/main">
              <a:ext uri="{FF2B5EF4-FFF2-40B4-BE49-F238E27FC236}">
                <a16:creationId xmlns:a16="http://schemas.microsoft.com/office/drawing/2014/main" id="{DF5F8333-0CF9-4B08-B72A-AF2A85DF56A4}"/>
              </a:ext>
            </a:extLst>
          </p:cNvPr>
          <p:cNvSpPr>
            <a:spLocks xmlns:a="http://schemas.openxmlformats.org/drawingml/2006/main" noGrp="1"/>
          </p:cNvSpPr>
          <p:nvPr/>
        </p:nvSpPr>
        <p:spPr>
          <a:xfrm xmlns:a="http://schemas.openxmlformats.org/drawingml/2006/main">
            <a:off x="2400300" y="3314700"/>
            <a:ext cx="59436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0" name="">
            <a:extLst xmlns:a="http://schemas.openxmlformats.org/drawingml/2006/main">
              <a:ext uri="{FF2B5EF4-FFF2-40B4-BE49-F238E27FC236}">
                <a16:creationId xmlns:a16="http://schemas.microsoft.com/office/drawing/2014/main" id="{C6A8E98E-EBD4-46D7-B296-CC3CDA4000FD}"/>
              </a:ext>
            </a:extLst>
          </p:cNvPr>
          <p:cNvSpPr>
            <a:spLocks xmlns:a="http://schemas.openxmlformats.org/drawingml/2006/main" noGrp="1"/>
          </p:cNvSpPr>
          <p:nvPr/>
        </p:nvSpPr>
        <p:spPr>
          <a:xfrm xmlns:a="http://schemas.openxmlformats.org/drawingml/2006/main">
            <a:off x="2514600" y="3390900"/>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Claude uncertainty judge · Claude report rewriter · learned classifier using 14 engineered features</a:t>
            </a:r>
          </a:p>
        </p:txBody>
      </p:sp>
      <p:sp>
        <p:nvSpPr>
          <p:cNvPr id="21" name="">
            <a:extLst xmlns:a="http://schemas.openxmlformats.org/drawingml/2006/main">
              <a:ext uri="{FF2B5EF4-FFF2-40B4-BE49-F238E27FC236}">
                <a16:creationId xmlns:a16="http://schemas.microsoft.com/office/drawing/2014/main" id="{0D580426-58B2-4235-9FBF-C2E1BF4AB2E0}"/>
              </a:ext>
            </a:extLst>
          </p:cNvPr>
          <p:cNvSpPr>
            <a:spLocks xmlns:a="http://schemas.openxmlformats.org/drawingml/2006/main" noGrp="1"/>
          </p:cNvSpPr>
          <p:nvPr/>
        </p:nvSpPr>
        <p:spPr>
          <a:xfrm xmlns:a="http://schemas.openxmlformats.org/drawingml/2006/main">
            <a:off x="8343900" y="3314700"/>
            <a:ext cx="33528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22" name="">
            <a:extLst xmlns:a="http://schemas.openxmlformats.org/drawingml/2006/main">
              <a:ext uri="{FF2B5EF4-FFF2-40B4-BE49-F238E27FC236}">
                <a16:creationId xmlns:a16="http://schemas.microsoft.com/office/drawing/2014/main" id="{7A1394D8-4EBF-44C4-BBA2-41350491F09D}"/>
              </a:ext>
            </a:extLst>
          </p:cNvPr>
          <p:cNvSpPr>
            <a:spLocks xmlns:a="http://schemas.openxmlformats.org/drawingml/2006/main" noGrp="1"/>
          </p:cNvSpPr>
          <p:nvPr/>
        </p:nvSpPr>
        <p:spPr>
          <a:xfrm xmlns:a="http://schemas.openxmlformats.org/drawingml/2006/main">
            <a:off x="8458200" y="3390900"/>
            <a:ext cx="3124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default-off or conditional; bounded by retrieved evidence and high-margin rules</a:t>
            </a:r>
          </a:p>
        </p:txBody>
      </p:sp>
      <p:sp>
        <p:nvSpPr>
          <p:cNvPr id="23" name="">
            <a:extLst xmlns:a="http://schemas.openxmlformats.org/drawingml/2006/main">
              <a:ext uri="{FF2B5EF4-FFF2-40B4-BE49-F238E27FC236}">
                <a16:creationId xmlns:a16="http://schemas.microsoft.com/office/drawing/2014/main" id="{34FC2D76-401F-4579-87AF-1B6203667426}"/>
              </a:ext>
            </a:extLst>
          </p:cNvPr>
          <p:cNvSpPr>
            <a:spLocks xmlns:a="http://schemas.openxmlformats.org/drawingml/2006/main" noGrp="1"/>
          </p:cNvSpPr>
          <p:nvPr/>
        </p:nvSpPr>
        <p:spPr>
          <a:xfrm xmlns:a="http://schemas.openxmlformats.org/drawingml/2006/main">
            <a:off x="495300" y="4171950"/>
            <a:ext cx="1905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4" name="">
            <a:extLst xmlns:a="http://schemas.openxmlformats.org/drawingml/2006/main">
              <a:ext uri="{FF2B5EF4-FFF2-40B4-BE49-F238E27FC236}">
                <a16:creationId xmlns:a16="http://schemas.microsoft.com/office/drawing/2014/main" id="{33244A1F-A591-4F57-A451-BE8C7A668DB3}"/>
              </a:ext>
            </a:extLst>
          </p:cNvPr>
          <p:cNvSpPr>
            <a:spLocks xmlns:a="http://schemas.openxmlformats.org/drawingml/2006/main" noGrp="1"/>
          </p:cNvSpPr>
          <p:nvPr/>
        </p:nvSpPr>
        <p:spPr>
          <a:xfrm xmlns:a="http://schemas.openxmlformats.org/drawingml/2006/main">
            <a:off x="609600" y="4248150"/>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OFFLINE BASELINE</a:t>
            </a:r>
          </a:p>
        </p:txBody>
      </p:sp>
      <p:sp>
        <p:nvSpPr>
          <p:cNvPr id="25" name="">
            <a:extLst xmlns:a="http://schemas.openxmlformats.org/drawingml/2006/main">
              <a:ext uri="{FF2B5EF4-FFF2-40B4-BE49-F238E27FC236}">
                <a16:creationId xmlns:a16="http://schemas.microsoft.com/office/drawing/2014/main" id="{8856C085-CA6D-4899-80ED-0583CDBCF37A}"/>
              </a:ext>
            </a:extLst>
          </p:cNvPr>
          <p:cNvSpPr>
            <a:spLocks xmlns:a="http://schemas.openxmlformats.org/drawingml/2006/main" noGrp="1"/>
          </p:cNvSpPr>
          <p:nvPr/>
        </p:nvSpPr>
        <p:spPr>
          <a:xfrm xmlns:a="http://schemas.openxmlformats.org/drawingml/2006/main">
            <a:off x="2400300" y="4171950"/>
            <a:ext cx="59436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6" name="">
            <a:extLst xmlns:a="http://schemas.openxmlformats.org/drawingml/2006/main">
              <a:ext uri="{FF2B5EF4-FFF2-40B4-BE49-F238E27FC236}">
                <a16:creationId xmlns:a16="http://schemas.microsoft.com/office/drawing/2014/main" id="{282C3B10-5EEB-40DC-8845-A5478D74E3DA}"/>
              </a:ext>
            </a:extLst>
          </p:cNvPr>
          <p:cNvSpPr>
            <a:spLocks xmlns:a="http://schemas.openxmlformats.org/drawingml/2006/main" noGrp="1"/>
          </p:cNvSpPr>
          <p:nvPr/>
        </p:nvSpPr>
        <p:spPr>
          <a:xfrm xmlns:a="http://schemas.openxmlformats.org/drawingml/2006/main">
            <a:off x="2514600" y="4248150"/>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ten leakage-safe structural graph features + balanced logistic regression + leave-one-out evaluation</a:t>
            </a:r>
          </a:p>
        </p:txBody>
      </p:sp>
      <p:sp>
        <p:nvSpPr>
          <p:cNvPr id="27" name="">
            <a:extLst xmlns:a="http://schemas.openxmlformats.org/drawingml/2006/main">
              <a:ext uri="{FF2B5EF4-FFF2-40B4-BE49-F238E27FC236}">
                <a16:creationId xmlns:a16="http://schemas.microsoft.com/office/drawing/2014/main" id="{2EE0467B-12EB-458D-8C43-6EEF4AAD8A95}"/>
              </a:ext>
            </a:extLst>
          </p:cNvPr>
          <p:cNvSpPr>
            <a:spLocks xmlns:a="http://schemas.openxmlformats.org/drawingml/2006/main" noGrp="1"/>
          </p:cNvSpPr>
          <p:nvPr/>
        </p:nvSpPr>
        <p:spPr>
          <a:xfrm xmlns:a="http://schemas.openxmlformats.org/drawingml/2006/main">
            <a:off x="8343900" y="4171950"/>
            <a:ext cx="33528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EB8AD"/>
            </a:solidFill>
            <a:prstDash val="solid"/>
          </a:ln>
        </p:spPr>
      </p:sp>
      <p:sp>
        <p:nvSpPr>
          <p:cNvPr id="28" name="">
            <a:extLst xmlns:a="http://schemas.openxmlformats.org/drawingml/2006/main">
              <a:ext uri="{FF2B5EF4-FFF2-40B4-BE49-F238E27FC236}">
                <a16:creationId xmlns:a16="http://schemas.microsoft.com/office/drawing/2014/main" id="{872FF5AB-E7EE-40E2-A16A-4B2ECFE733D2}"/>
              </a:ext>
            </a:extLst>
          </p:cNvPr>
          <p:cNvSpPr>
            <a:spLocks xmlns:a="http://schemas.openxmlformats.org/drawingml/2006/main" noGrp="1"/>
          </p:cNvSpPr>
          <p:nvPr/>
        </p:nvSpPr>
        <p:spPr>
          <a:xfrm xmlns:a="http://schemas.openxmlformats.org/drawingml/2006/main">
            <a:off x="8458200" y="4248150"/>
            <a:ext cx="3124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evaluation artifact only; no production authority</a:t>
            </a:r>
          </a:p>
        </p:txBody>
      </p:sp>
      <p:sp>
        <p:nvSpPr>
          <p:cNvPr id="29" name="">
            <a:extLst xmlns:a="http://schemas.openxmlformats.org/drawingml/2006/main">
              <a:ext uri="{FF2B5EF4-FFF2-40B4-BE49-F238E27FC236}">
                <a16:creationId xmlns:a16="http://schemas.microsoft.com/office/drawing/2014/main" id="{2C5D4E76-C6FE-4EC7-824A-22254914B91B}"/>
              </a:ext>
            </a:extLst>
          </p:cNvPr>
          <p:cNvSpPr>
            <a:spLocks xmlns:a="http://schemas.openxmlformats.org/drawingml/2006/main" noGrp="1"/>
          </p:cNvSpPr>
          <p:nvPr/>
        </p:nvSpPr>
        <p:spPr>
          <a:xfrm xmlns:a="http://schemas.openxmlformats.org/drawingml/2006/main">
            <a:off x="495300" y="5029200"/>
            <a:ext cx="19050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0" name="">
            <a:extLst xmlns:a="http://schemas.openxmlformats.org/drawingml/2006/main">
              <a:ext uri="{FF2B5EF4-FFF2-40B4-BE49-F238E27FC236}">
                <a16:creationId xmlns:a16="http://schemas.microsoft.com/office/drawing/2014/main" id="{A4E97738-6C9A-435F-9B55-1BD1FC89169B}"/>
              </a:ext>
            </a:extLst>
          </p:cNvPr>
          <p:cNvSpPr>
            <a:spLocks xmlns:a="http://schemas.openxmlformats.org/drawingml/2006/main" noGrp="1"/>
          </p:cNvSpPr>
          <p:nvPr/>
        </p:nvSpPr>
        <p:spPr>
          <a:xfrm xmlns:a="http://schemas.openxmlformats.org/drawingml/2006/main">
            <a:off x="609600" y="5105400"/>
            <a:ext cx="1676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1" i="0">
                <a:solidFill>
                  <a:srgbClr val="17202A"/>
                </a:solidFill>
                <a:latin typeface="Arial"/>
                <a:ea typeface="Arial"/>
                <a:cs typeface="Arial"/>
              </a:defRPr>
            </a:pPr>
            <a:r>
              <a:rPr sz="1200" b="1" i="0">
                <a:solidFill>
                  <a:srgbClr val="17202A"/>
                </a:solidFill>
                <a:latin typeface="Arial"/>
                <a:ea typeface="Arial"/>
                <a:cs typeface="Arial"/>
              </a:rPr>
              <a:t>FUTURE EXPERIMENT</a:t>
            </a:r>
          </a:p>
        </p:txBody>
      </p:sp>
      <p:sp>
        <p:nvSpPr>
          <p:cNvPr id="31" name="">
            <a:extLst xmlns:a="http://schemas.openxmlformats.org/drawingml/2006/main">
              <a:ext uri="{FF2B5EF4-FFF2-40B4-BE49-F238E27FC236}">
                <a16:creationId xmlns:a16="http://schemas.microsoft.com/office/drawing/2014/main" id="{5FFCD87B-E69F-4BFC-AB21-95C23C4E4CB4}"/>
              </a:ext>
            </a:extLst>
          </p:cNvPr>
          <p:cNvSpPr>
            <a:spLocks xmlns:a="http://schemas.openxmlformats.org/drawingml/2006/main" noGrp="1"/>
          </p:cNvSpPr>
          <p:nvPr/>
        </p:nvSpPr>
        <p:spPr>
          <a:xfrm xmlns:a="http://schemas.openxmlformats.org/drawingml/2006/main">
            <a:off x="2400300" y="5029200"/>
            <a:ext cx="59436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2" name="">
            <a:extLst xmlns:a="http://schemas.openxmlformats.org/drawingml/2006/main">
              <a:ext uri="{FF2B5EF4-FFF2-40B4-BE49-F238E27FC236}">
                <a16:creationId xmlns:a16="http://schemas.microsoft.com/office/drawing/2014/main" id="{0E490975-052B-4959-A9AD-7F392443A4BE}"/>
              </a:ext>
            </a:extLst>
          </p:cNvPr>
          <p:cNvSpPr>
            <a:spLocks xmlns:a="http://schemas.openxmlformats.org/drawingml/2006/main" noGrp="1"/>
          </p:cNvSpPr>
          <p:nvPr/>
        </p:nvSpPr>
        <p:spPr>
          <a:xfrm xmlns:a="http://schemas.openxmlformats.org/drawingml/2006/main">
            <a:off x="2514600" y="5105400"/>
            <a:ext cx="571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PyTorch Geometric / DGL model training, saved weights, inference service, production classifier integration</a:t>
            </a:r>
          </a:p>
        </p:txBody>
      </p:sp>
      <p:sp>
        <p:nvSpPr>
          <p:cNvPr id="33" name="">
            <a:extLst xmlns:a="http://schemas.openxmlformats.org/drawingml/2006/main">
              <a:ext uri="{FF2B5EF4-FFF2-40B4-BE49-F238E27FC236}">
                <a16:creationId xmlns:a16="http://schemas.microsoft.com/office/drawing/2014/main" id="{1097BAB4-30E5-4618-A9C7-FF912A8D00C3}"/>
              </a:ext>
            </a:extLst>
          </p:cNvPr>
          <p:cNvSpPr>
            <a:spLocks xmlns:a="http://schemas.openxmlformats.org/drawingml/2006/main" noGrp="1"/>
          </p:cNvSpPr>
          <p:nvPr/>
        </p:nvSpPr>
        <p:spPr>
          <a:xfrm xmlns:a="http://schemas.openxmlformats.org/drawingml/2006/main">
            <a:off x="8343900" y="5029200"/>
            <a:ext cx="3352800" cy="857250"/>
          </a:xfrm>
          <a:prstGeom xmlns:a="http://schemas.openxmlformats.org/drawingml/2006/main" prst="rect">
            <a:avLst/>
          </a:prstGeom>
          <a:solidFill xmlns:a="http://schemas.openxmlformats.org/drawingml/2006/main">
            <a:srgbClr val="EFEBE3"/>
          </a:solidFill>
          <a:ln xmlns:a="http://schemas.openxmlformats.org/drawingml/2006/main" w="9525">
            <a:solidFill>
              <a:srgbClr val="BEB8AD"/>
            </a:solidFill>
            <a:prstDash val="solid"/>
          </a:ln>
        </p:spPr>
      </p:sp>
      <p:sp>
        <p:nvSpPr>
          <p:cNvPr id="34" name="">
            <a:extLst xmlns:a="http://schemas.openxmlformats.org/drawingml/2006/main">
              <a:ext uri="{FF2B5EF4-FFF2-40B4-BE49-F238E27FC236}">
                <a16:creationId xmlns:a16="http://schemas.microsoft.com/office/drawing/2014/main" id="{51BBAF77-8C87-42A1-B651-0FCA1A59D035}"/>
              </a:ext>
            </a:extLst>
          </p:cNvPr>
          <p:cNvSpPr>
            <a:spLocks xmlns:a="http://schemas.openxmlformats.org/drawingml/2006/main" noGrp="1"/>
          </p:cNvSpPr>
          <p:nvPr/>
        </p:nvSpPr>
        <p:spPr>
          <a:xfrm xmlns:a="http://schemas.openxmlformats.org/drawingml/2006/main">
            <a:off x="8458200" y="5105400"/>
            <a:ext cx="3124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00" b="0" i="0">
                <a:solidFill>
                  <a:srgbClr val="17202A"/>
                </a:solidFill>
                <a:latin typeface="Arial"/>
                <a:ea typeface="Arial"/>
                <a:cs typeface="Arial"/>
              </a:defRPr>
            </a:pPr>
            <a:r>
              <a:rPr sz="1200" b="0" i="0">
                <a:solidFill>
                  <a:srgbClr val="17202A"/>
                </a:solidFill>
                <a:latin typeface="Arial"/>
                <a:ea typeface="Arial"/>
                <a:cs typeface="Arial"/>
              </a:rPr>
              <a:t>not implemented as a production GNN path</a:t>
            </a:r>
          </a:p>
        </p:txBody>
      </p:sp>
      <p:sp>
        <p:nvSpPr>
          <p:cNvPr id="35" name="">
            <a:extLst xmlns:a="http://schemas.openxmlformats.org/drawingml/2006/main">
              <a:ext uri="{FF2B5EF4-FFF2-40B4-BE49-F238E27FC236}">
                <a16:creationId xmlns:a16="http://schemas.microsoft.com/office/drawing/2014/main" id="{9F3F4A0B-4AF3-4234-A3D0-03D289A0C6FA}"/>
              </a:ext>
            </a:extLst>
          </p:cNvPr>
          <p:cNvSpPr>
            <a:spLocks xmlns:a="http://schemas.openxmlformats.org/drawingml/2006/main" noGrp="1"/>
          </p:cNvSpPr>
          <p:nvPr/>
        </p:nvSpPr>
        <p:spPr>
          <a:xfrm xmlns:a="http://schemas.openxmlformats.org/drawingml/2006/main">
            <a:off x="495300" y="5981700"/>
            <a:ext cx="11201400" cy="304800"/>
          </a:xfrm>
          <a:prstGeom xmlns:a="http://schemas.openxmlformats.org/drawingml/2006/main" prst="rect">
            <a:avLst/>
          </a:prstGeom>
          <a:solidFill xmlns:a="http://schemas.openxmlformats.org/drawingml/2006/main">
            <a:srgbClr val="F1E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A4B11E5-95A8-4526-AFFC-5B951E7CF641}"/>
              </a:ext>
            </a:extLst>
          </p:cNvPr>
          <p:cNvSpPr>
            <a:spLocks xmlns:a="http://schemas.openxmlformats.org/drawingml/2006/main" noGrp="1"/>
          </p:cNvSpPr>
          <p:nvPr/>
        </p:nvSpPr>
        <p:spPr>
          <a:xfrm xmlns:a="http://schemas.openxmlformats.org/drawingml/2006/main">
            <a:off x="609600" y="60483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lnSpc>
                <a:spcPct val="108000"/>
              </a:lnSpc>
              <a:buNone/>
              <a:defRPr sz="1125" b="1" i="0">
                <a:solidFill>
                  <a:srgbClr val="A74D43"/>
                </a:solidFill>
                <a:latin typeface="Arial"/>
                <a:ea typeface="Arial"/>
                <a:cs typeface="Arial"/>
              </a:defRPr>
            </a:pPr>
            <a:r>
              <a:rPr sz="1125" b="1" i="0">
                <a:solidFill>
                  <a:srgbClr val="A74D43"/>
                </a:solidFill>
                <a:latin typeface="Arial"/>
                <a:ea typeface="Arial"/>
                <a:cs typeface="Arial"/>
              </a:rPr>
              <a:t>Do not describe graph export or the offline structural baseline as a deployed GNN classifier.</a:t>
            </a:r>
          </a:p>
        </p:txBody>
      </p:sp>
      <p:sp>
        <p:nvSpPr>
          <p:cNvPr id="37" name="">
            <a:extLst xmlns:a="http://schemas.openxmlformats.org/drawingml/2006/main">
              <a:ext uri="{FF2B5EF4-FFF2-40B4-BE49-F238E27FC236}">
                <a16:creationId xmlns:a16="http://schemas.microsoft.com/office/drawing/2014/main" id="{27AB1FA2-34B2-4E1F-A786-CB9E01E1A4C4}"/>
              </a:ext>
            </a:extLst>
          </p:cNvPr>
          <p:cNvSpPr>
            <a:spLocks xmlns:a="http://schemas.openxmlformats.org/drawingml/2006/main" noGrp="1"/>
          </p:cNvSpPr>
          <p:nvPr/>
        </p:nvSpPr>
        <p:spPr>
          <a:xfrm xmlns:a="http://schemas.openxmlformats.org/drawingml/2006/main">
            <a:off x="495300" y="6496050"/>
            <a:ext cx="11201400" cy="0"/>
          </a:xfrm>
          <a:prstGeom xmlns:a="http://schemas.openxmlformats.org/drawingml/2006/main" prst="line">
            <a:avLst/>
          </a:prstGeom>
          <a:noFill xmlns:a="http://schemas.openxmlformats.org/drawingml/2006/main"/>
          <a:ln xmlns:a="http://schemas.openxmlformats.org/drawingml/2006/main" w="9525">
            <a:solidFill>
              <a:srgbClr val="BEB8AD"/>
            </a:solidFill>
            <a:prstDash val="solid"/>
          </a:ln>
        </p:spPr>
      </p:sp>
      <p:sp>
        <p:nvSpPr>
          <p:cNvPr id="38" name="">
            <a:extLst xmlns:a="http://schemas.openxmlformats.org/drawingml/2006/main">
              <a:ext uri="{FF2B5EF4-FFF2-40B4-BE49-F238E27FC236}">
                <a16:creationId xmlns:a16="http://schemas.microsoft.com/office/drawing/2014/main" id="{A7F3D459-43D3-4370-B897-2CAAD9BB0FF2}"/>
              </a:ext>
            </a:extLst>
          </p:cNvPr>
          <p:cNvSpPr>
            <a:spLocks xmlns:a="http://schemas.openxmlformats.org/drawingml/2006/main" noGrp="1"/>
          </p:cNvSpPr>
          <p:nvPr/>
        </p:nvSpPr>
        <p:spPr>
          <a:xfrm xmlns:a="http://schemas.openxmlformats.org/drawingml/2006/main">
            <a:off x="495300" y="6581775"/>
            <a:ext cx="3619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8B8F91"/>
                </a:solidFill>
                <a:latin typeface="Arial"/>
                <a:ea typeface="Arial"/>
                <a:cs typeface="Arial"/>
              </a:defRPr>
            </a:pPr>
            <a:r>
              <a:rPr sz="750" b="1" i="0">
                <a:solidFill>
                  <a:srgbClr val="8B8F91"/>
                </a:solidFill>
                <a:latin typeface="Arial"/>
                <a:ea typeface="Arial"/>
                <a:cs typeface="Arial"/>
              </a:rPr>
              <a:t>PAPER ATTRIBUTION SYSTEM</a:t>
            </a:r>
          </a:p>
        </p:txBody>
      </p:sp>
      <p:sp>
        <p:nvSpPr>
          <p:cNvPr id="39" name="">
            <a:extLst xmlns:a="http://schemas.openxmlformats.org/drawingml/2006/main">
              <a:ext uri="{FF2B5EF4-FFF2-40B4-BE49-F238E27FC236}">
                <a16:creationId xmlns:a16="http://schemas.microsoft.com/office/drawing/2014/main" id="{B23213C3-3FB6-4AEE-BC0C-39F8DD67840E}"/>
              </a:ext>
            </a:extLst>
          </p:cNvPr>
          <p:cNvSpPr>
            <a:spLocks xmlns:a="http://schemas.openxmlformats.org/drawingml/2006/main" noGrp="1"/>
          </p:cNvSpPr>
          <p:nvPr/>
        </p:nvSpPr>
        <p:spPr>
          <a:xfrm xmlns:a="http://schemas.openxmlformats.org/drawingml/2006/main">
            <a:off x="8067675" y="6581775"/>
            <a:ext cx="36290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587F96"/>
                </a:solidFill>
                <a:latin typeface="Arial"/>
                <a:ea typeface="Arial"/>
                <a:cs typeface="Arial"/>
              </a:defRPr>
            </a:pPr>
            <a:r>
              <a:rPr sz="750" b="0" i="0">
                <a:solidFill>
                  <a:srgbClr val="587F96"/>
                </a:solidFill>
                <a:latin typeface="Arial"/>
                <a:ea typeface="Arial"/>
                <a:cs typeface="Arial"/>
              </a:rPr>
              <a:t>ATTRIBUTION · CONNECTIONS · KNOWLEDGE</a:t>
            </a:r>
          </a:p>
        </p:txBody>
      </p:sp>
    </p:spTree>
    <p:extLst>
      <p:ext uri="{BB962C8B-B14F-4D97-AF65-F5344CB8AC3E}">
        <p14:creationId xmlns:p14="http://schemas.microsoft.com/office/powerpoint/2010/main" val="1237928279"/>
      </p:ext>
    </p:extLst>
  </p:cSld>
</p:sld>
</file>

<file path=ppt/slides/slide19.xml><?xml version="1.0" encoding="utf-8"?>
<p:sld xmlns:p="http://schemas.openxmlformats.org/presentationml/2006/main">
  <p:cSld>
    <p:bg>
      <p:bgPr>
        <a:solidFill xmlns:a="http://schemas.openxmlformats.org/drawingml/2006/main">
          <a:srgbClr val="203A4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DA3B8B-CAC5-4D58-9D44-86344573A4F0}"/>
              </a:ext>
            </a:extLst>
          </p:cNvPr>
          <p:cNvSpPr>
            <a:spLocks xmlns:a="http://schemas.openxmlformats.org/drawingml/2006/main" noGrp="1"/>
          </p:cNvSpPr>
          <p:nvPr/>
        </p:nvSpPr>
        <p:spPr>
          <a:xfrm xmlns:a="http://schemas.openxmlformats.org/drawingml/2006/main">
            <a:off x="495300" y="4000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DDE9EE"/>
                </a:solidFill>
                <a:latin typeface="Arial"/>
                <a:ea typeface="Arial"/>
                <a:cs typeface="Arial"/>
              </a:defRPr>
            </a:pPr>
            <a:r>
              <a:rPr sz="900" b="1" i="0">
                <a:solidFill>
                  <a:srgbClr val="DDE9EE"/>
                </a:solidFill>
                <a:latin typeface="Arial"/>
                <a:ea typeface="Arial"/>
                <a:cs typeface="Arial"/>
              </a:rPr>
              <a:t>MEETING OUTCOME</a:t>
            </a:r>
          </a:p>
        </p:txBody>
      </p:sp>
      <p:sp>
        <p:nvSpPr>
          <p:cNvPr id="2" name="">
            <a:extLst xmlns:a="http://schemas.openxmlformats.org/drawingml/2006/main">
              <a:ext uri="{FF2B5EF4-FFF2-40B4-BE49-F238E27FC236}">
                <a16:creationId xmlns:a16="http://schemas.microsoft.com/office/drawing/2014/main" id="{B4FEEE7A-E17B-4ED9-A59C-FBD608EBE3C5}"/>
              </a:ext>
            </a:extLst>
          </p:cNvPr>
          <p:cNvSpPr>
            <a:spLocks xmlns:a="http://schemas.openxmlformats.org/drawingml/2006/main" noGrp="1"/>
          </p:cNvSpPr>
          <p:nvPr/>
        </p:nvSpPr>
        <p:spPr>
          <a:xfrm xmlns:a="http://schemas.openxmlformats.org/drawingml/2006/main">
            <a:off x="495300" y="990600"/>
            <a:ext cx="723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83"/>
          </a:bodyPr>
          <a:lstStyle xmlns:a="http://schemas.openxmlformats.org/drawingml/2006/main"/>
          <a:p xmlns:a="http://schemas.openxmlformats.org/drawingml/2006/main">
            <a:pPr algn="l">
              <a:lnSpc>
                <a:spcPct val="96000"/>
              </a:lnSpc>
              <a:buNone/>
              <a:defRPr sz="3900" b="1" i="0">
                <a:solidFill>
                  <a:srgbClr val="FFFFFF"/>
                </a:solidFill>
                <a:latin typeface="Georgia"/>
                <a:ea typeface="Georgia"/>
                <a:cs typeface="Georgia"/>
              </a:defRPr>
            </a:pPr>
            <a:r>
              <a:rPr sz="3900" b="1" i="0">
                <a:solidFill>
                  <a:srgbClr val="FFFFFF"/>
                </a:solidFill>
                <a:latin typeface="Georgia"/>
                <a:ea typeface="Georgia"/>
                <a:cs typeface="Georgia"/>
              </a:rPr>
              <a:t>Decisions for a shared</a:t>
            </a:r>
          </a:p>
          <a:p xmlns:a="http://schemas.openxmlformats.org/drawingml/2006/main">
            <a:pPr algn="l">
              <a:lnSpc>
                <a:spcPct val="96000"/>
              </a:lnSpc>
              <a:buNone/>
              <a:defRPr sz="3900" b="1" i="0">
                <a:solidFill>
                  <a:srgbClr val="FFFFFF"/>
                </a:solidFill>
                <a:latin typeface="Georgia"/>
                <a:ea typeface="Georgia"/>
                <a:cs typeface="Georgia"/>
              </a:defRPr>
            </a:pPr>
            <a:r>
              <a:rPr sz="3900" b="1" i="0">
                <a:solidFill>
                  <a:srgbClr val="FFFFFF"/>
                </a:solidFill>
                <a:latin typeface="Georgia"/>
                <a:ea typeface="Georgia"/>
                <a:cs typeface="Georgia"/>
              </a:rPr>
              <a:t>bibliometric program</a:t>
            </a:r>
          </a:p>
        </p:txBody>
      </p:sp>
      <p:sp>
        <p:nvSpPr>
          <p:cNvPr id="3" name="">
            <a:extLst xmlns:a="http://schemas.openxmlformats.org/drawingml/2006/main">
              <a:ext uri="{FF2B5EF4-FFF2-40B4-BE49-F238E27FC236}">
                <a16:creationId xmlns:a16="http://schemas.microsoft.com/office/drawing/2014/main" id="{C0C02BBB-10AF-42FA-AAF9-EEDDAA91523B}"/>
              </a:ext>
            </a:extLst>
          </p:cNvPr>
          <p:cNvSpPr>
            <a:spLocks xmlns:a="http://schemas.openxmlformats.org/drawingml/2006/main" noGrp="1"/>
          </p:cNvSpPr>
          <p:nvPr/>
        </p:nvSpPr>
        <p:spPr>
          <a:xfrm xmlns:a="http://schemas.openxmlformats.org/drawingml/2006/main">
            <a:off x="495300" y="2400300"/>
            <a:ext cx="876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DDE9EE"/>
                </a:solidFill>
                <a:latin typeface="Arial"/>
                <a:ea typeface="Arial"/>
                <a:cs typeface="Arial"/>
              </a:defRPr>
            </a:pPr>
            <a:r>
              <a:rPr sz="1650" b="0" i="0">
                <a:solidFill>
                  <a:srgbClr val="DDE9EE"/>
                </a:solidFill>
                <a:latin typeface="Arial"/>
                <a:ea typeface="Arial"/>
                <a:cs typeface="Arial"/>
              </a:rPr>
              <a:t>The first release should define not only which papers enter the dataset,</a:t>
            </a:r>
          </a:p>
          <a:p xmlns:a="http://schemas.openxmlformats.org/drawingml/2006/main">
            <a:pPr algn="l">
              <a:lnSpc>
                <a:spcPct val="108000"/>
              </a:lnSpc>
              <a:buNone/>
              <a:defRPr sz="1650" b="0" i="0">
                <a:solidFill>
                  <a:srgbClr val="DDE9EE"/>
                </a:solidFill>
                <a:latin typeface="Arial"/>
                <a:ea typeface="Arial"/>
                <a:cs typeface="Arial"/>
              </a:defRPr>
            </a:pPr>
            <a:r>
              <a:rPr sz="1650" b="0" i="0">
                <a:solidFill>
                  <a:srgbClr val="DDE9EE"/>
                </a:solidFill>
                <a:latin typeface="Arial"/>
                <a:ea typeface="Arial"/>
                <a:cs typeface="Arial"/>
              </a:rPr>
              <a:t>but which relationships and evidence paths the consortium agrees to trust.</a:t>
            </a:r>
          </a:p>
        </p:txBody>
      </p:sp>
      <p:sp>
        <p:nvSpPr>
          <p:cNvPr id="4" name="">
            <a:extLst xmlns:a="http://schemas.openxmlformats.org/drawingml/2006/main">
              <a:ext uri="{FF2B5EF4-FFF2-40B4-BE49-F238E27FC236}">
                <a16:creationId xmlns:a16="http://schemas.microsoft.com/office/drawing/2014/main" id="{0F53FC6D-B4E4-4798-8C02-3F654A36510A}"/>
              </a:ext>
            </a:extLst>
          </p:cNvPr>
          <p:cNvSpPr>
            <a:spLocks xmlns:a="http://schemas.openxmlformats.org/drawingml/2006/main" noGrp="1"/>
          </p:cNvSpPr>
          <p:nvPr/>
        </p:nvSpPr>
        <p:spPr>
          <a:xfrm xmlns:a="http://schemas.openxmlformats.org/drawingml/2006/main">
            <a:off x="495300" y="3600450"/>
            <a:ext cx="5143500" cy="0"/>
          </a:xfrm>
          <a:prstGeom xmlns:a="http://schemas.openxmlformats.org/drawingml/2006/main" prst="line">
            <a:avLst/>
          </a:prstGeom>
          <a:noFill xmlns:a="http://schemas.openxmlformats.org/drawingml/2006/main"/>
          <a:ln xmlns:a="http://schemas.openxmlformats.org/drawingml/2006/main" w="28575">
            <a:solidFill>
              <a:srgbClr val="B8663B"/>
            </a:solidFill>
            <a:prstDash val="solid"/>
          </a:ln>
        </p:spPr>
      </p:sp>
      <p:sp>
        <p:nvSpPr>
          <p:cNvPr id="5" name="">
            <a:extLst xmlns:a="http://schemas.openxmlformats.org/drawingml/2006/main">
              <a:ext uri="{FF2B5EF4-FFF2-40B4-BE49-F238E27FC236}">
                <a16:creationId xmlns:a16="http://schemas.microsoft.com/office/drawing/2014/main" id="{720F890D-DFC7-4ED8-8A3E-38592DB4A530}"/>
              </a:ext>
            </a:extLst>
          </p:cNvPr>
          <p:cNvSpPr>
            <a:spLocks xmlns:a="http://schemas.openxmlformats.org/drawingml/2006/main" noGrp="1"/>
          </p:cNvSpPr>
          <p:nvPr/>
        </p:nvSpPr>
        <p:spPr>
          <a:xfrm xmlns:a="http://schemas.openxmlformats.org/drawingml/2006/main">
            <a:off x="495300" y="3771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B8663B"/>
                </a:solidFill>
                <a:latin typeface="Arial"/>
                <a:ea typeface="Arial"/>
                <a:cs typeface="Arial"/>
              </a:defRPr>
            </a:pPr>
            <a:r>
              <a:rPr sz="975" b="1" i="0">
                <a:solidFill>
                  <a:srgbClr val="B8663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7B731D1-8AE8-42E8-A9FC-34DDF916482D}"/>
              </a:ext>
            </a:extLst>
          </p:cNvPr>
          <p:cNvSpPr>
            <a:spLocks xmlns:a="http://schemas.openxmlformats.org/drawingml/2006/main" noGrp="1"/>
          </p:cNvSpPr>
          <p:nvPr/>
        </p:nvSpPr>
        <p:spPr>
          <a:xfrm xmlns:a="http://schemas.openxmlformats.org/drawingml/2006/main">
            <a:off x="990600" y="37433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CORPUS</a:t>
            </a:r>
          </a:p>
        </p:txBody>
      </p:sp>
      <p:sp>
        <p:nvSpPr>
          <p:cNvPr id="7" name="">
            <a:extLst xmlns:a="http://schemas.openxmlformats.org/drawingml/2006/main">
              <a:ext uri="{FF2B5EF4-FFF2-40B4-BE49-F238E27FC236}">
                <a16:creationId xmlns:a16="http://schemas.microsoft.com/office/drawing/2014/main" id="{AA805B4C-C732-4411-BFF5-6AD007937438}"/>
              </a:ext>
            </a:extLst>
          </p:cNvPr>
          <p:cNvSpPr>
            <a:spLocks xmlns:a="http://schemas.openxmlformats.org/drawingml/2006/main" noGrp="1"/>
          </p:cNvSpPr>
          <p:nvPr/>
        </p:nvSpPr>
        <p:spPr>
          <a:xfrm xmlns:a="http://schemas.openxmlformats.org/drawingml/2006/main">
            <a:off x="990600" y="41529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DDE9EE"/>
                </a:solidFill>
                <a:latin typeface="Arial"/>
                <a:ea typeface="Arial"/>
                <a:cs typeface="Arial"/>
              </a:defRPr>
            </a:pPr>
            <a:r>
              <a:rPr sz="1275" b="0" i="0">
                <a:solidFill>
                  <a:srgbClr val="DDE9EE"/>
                </a:solidFill>
                <a:latin typeface="Arial"/>
                <a:ea typeface="Arial"/>
                <a:cs typeface="Arial"/>
              </a:rPr>
              <a:t>Which bibliometric sources, date range, and gold papers define the trusted starting set?</a:t>
            </a:r>
          </a:p>
        </p:txBody>
      </p:sp>
      <p:sp>
        <p:nvSpPr>
          <p:cNvPr id="8" name="">
            <a:extLst xmlns:a="http://schemas.openxmlformats.org/drawingml/2006/main">
              <a:ext uri="{FF2B5EF4-FFF2-40B4-BE49-F238E27FC236}">
                <a16:creationId xmlns:a16="http://schemas.microsoft.com/office/drawing/2014/main" id="{67FF4771-9B31-4095-A47F-90F631CC15E6}"/>
              </a:ext>
            </a:extLst>
          </p:cNvPr>
          <p:cNvSpPr>
            <a:spLocks xmlns:a="http://schemas.openxmlformats.org/drawingml/2006/main" noGrp="1"/>
          </p:cNvSpPr>
          <p:nvPr/>
        </p:nvSpPr>
        <p:spPr>
          <a:xfrm xmlns:a="http://schemas.openxmlformats.org/drawingml/2006/main">
            <a:off x="6115050" y="3600450"/>
            <a:ext cx="5143500" cy="0"/>
          </a:xfrm>
          <a:prstGeom xmlns:a="http://schemas.openxmlformats.org/drawingml/2006/main" prst="line">
            <a:avLst/>
          </a:prstGeom>
          <a:noFill xmlns:a="http://schemas.openxmlformats.org/drawingml/2006/main"/>
          <a:ln xmlns:a="http://schemas.openxmlformats.org/drawingml/2006/main" w="28575">
            <a:solidFill>
              <a:srgbClr val="B8663B"/>
            </a:solidFill>
            <a:prstDash val="solid"/>
          </a:ln>
        </p:spPr>
      </p:sp>
      <p:sp>
        <p:nvSpPr>
          <p:cNvPr id="9" name="">
            <a:extLst xmlns:a="http://schemas.openxmlformats.org/drawingml/2006/main">
              <a:ext uri="{FF2B5EF4-FFF2-40B4-BE49-F238E27FC236}">
                <a16:creationId xmlns:a16="http://schemas.microsoft.com/office/drawing/2014/main" id="{FCA91BD2-E207-434A-A396-81C0B5FCED22}"/>
              </a:ext>
            </a:extLst>
          </p:cNvPr>
          <p:cNvSpPr>
            <a:spLocks xmlns:a="http://schemas.openxmlformats.org/drawingml/2006/main" noGrp="1"/>
          </p:cNvSpPr>
          <p:nvPr/>
        </p:nvSpPr>
        <p:spPr>
          <a:xfrm xmlns:a="http://schemas.openxmlformats.org/drawingml/2006/main">
            <a:off x="6115050" y="37719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B8663B"/>
                </a:solidFill>
                <a:latin typeface="Arial"/>
                <a:ea typeface="Arial"/>
                <a:cs typeface="Arial"/>
              </a:defRPr>
            </a:pPr>
            <a:r>
              <a:rPr sz="975" b="1" i="0">
                <a:solidFill>
                  <a:srgbClr val="B8663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10BF53F-EA58-43D6-8310-198A47C4B999}"/>
              </a:ext>
            </a:extLst>
          </p:cNvPr>
          <p:cNvSpPr>
            <a:spLocks xmlns:a="http://schemas.openxmlformats.org/drawingml/2006/main" noGrp="1"/>
          </p:cNvSpPr>
          <p:nvPr/>
        </p:nvSpPr>
        <p:spPr>
          <a:xfrm xmlns:a="http://schemas.openxmlformats.org/drawingml/2006/main">
            <a:off x="6610350" y="374332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ATTRIBUTION POLICY</a:t>
            </a:r>
          </a:p>
        </p:txBody>
      </p:sp>
      <p:sp>
        <p:nvSpPr>
          <p:cNvPr id="11" name="">
            <a:extLst xmlns:a="http://schemas.openxmlformats.org/drawingml/2006/main">
              <a:ext uri="{FF2B5EF4-FFF2-40B4-BE49-F238E27FC236}">
                <a16:creationId xmlns:a16="http://schemas.microsoft.com/office/drawing/2014/main" id="{0319E83B-43D5-43DF-9A13-75328CF6BB3E}"/>
              </a:ext>
            </a:extLst>
          </p:cNvPr>
          <p:cNvSpPr>
            <a:spLocks xmlns:a="http://schemas.openxmlformats.org/drawingml/2006/main" noGrp="1"/>
          </p:cNvSpPr>
          <p:nvPr/>
        </p:nvSpPr>
        <p:spPr>
          <a:xfrm xmlns:a="http://schemas.openxmlformats.org/drawingml/2006/main">
            <a:off x="6610350" y="41529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DDE9EE"/>
                </a:solidFill>
                <a:latin typeface="Arial"/>
                <a:ea typeface="Arial"/>
                <a:cs typeface="Arial"/>
              </a:defRPr>
            </a:pPr>
            <a:r>
              <a:rPr sz="1275" b="0" i="0">
                <a:solidFill>
                  <a:srgbClr val="DDE9EE"/>
                </a:solidFill>
                <a:latin typeface="Arial"/>
                <a:ea typeface="Arial"/>
                <a:cs typeface="Arial"/>
              </a:rPr>
              <a:t>Which evidence paths are sufficient for CORE, RELATED, and organization-level reporting?</a:t>
            </a:r>
          </a:p>
        </p:txBody>
      </p:sp>
      <p:sp>
        <p:nvSpPr>
          <p:cNvPr id="12" name="">
            <a:extLst xmlns:a="http://schemas.openxmlformats.org/drawingml/2006/main">
              <a:ext uri="{FF2B5EF4-FFF2-40B4-BE49-F238E27FC236}">
                <a16:creationId xmlns:a16="http://schemas.microsoft.com/office/drawing/2014/main" id="{746806D1-9EF0-4F99-8B99-1D348FA84C2B}"/>
              </a:ext>
            </a:extLst>
          </p:cNvPr>
          <p:cNvSpPr>
            <a:spLocks xmlns:a="http://schemas.openxmlformats.org/drawingml/2006/main" noGrp="1"/>
          </p:cNvSpPr>
          <p:nvPr/>
        </p:nvSpPr>
        <p:spPr>
          <a:xfrm xmlns:a="http://schemas.openxmlformats.org/drawingml/2006/main">
            <a:off x="495300" y="4838700"/>
            <a:ext cx="5143500" cy="0"/>
          </a:xfrm>
          <a:prstGeom xmlns:a="http://schemas.openxmlformats.org/drawingml/2006/main" prst="line">
            <a:avLst/>
          </a:prstGeom>
          <a:noFill xmlns:a="http://schemas.openxmlformats.org/drawingml/2006/main"/>
          <a:ln xmlns:a="http://schemas.openxmlformats.org/drawingml/2006/main" w="28575">
            <a:solidFill>
              <a:srgbClr val="DDE9EE"/>
            </a:solidFill>
            <a:prstDash val="solid"/>
          </a:ln>
        </p:spPr>
      </p:sp>
      <p:sp>
        <p:nvSpPr>
          <p:cNvPr id="13" name="">
            <a:extLst xmlns:a="http://schemas.openxmlformats.org/drawingml/2006/main">
              <a:ext uri="{FF2B5EF4-FFF2-40B4-BE49-F238E27FC236}">
                <a16:creationId xmlns:a16="http://schemas.microsoft.com/office/drawing/2014/main" id="{432BF984-5798-4441-995E-CABC59F68CEB}"/>
              </a:ext>
            </a:extLst>
          </p:cNvPr>
          <p:cNvSpPr>
            <a:spLocks xmlns:a="http://schemas.openxmlformats.org/drawingml/2006/main" noGrp="1"/>
          </p:cNvSpPr>
          <p:nvPr/>
        </p:nvSpPr>
        <p:spPr>
          <a:xfrm xmlns:a="http://schemas.openxmlformats.org/drawingml/2006/main">
            <a:off x="495300" y="50101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DDE9EE"/>
                </a:solidFill>
                <a:latin typeface="Arial"/>
                <a:ea typeface="Arial"/>
                <a:cs typeface="Arial"/>
              </a:defRPr>
            </a:pPr>
            <a:r>
              <a:rPr sz="975" b="1" i="0">
                <a:solidFill>
                  <a:srgbClr val="DDE9E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BD2746D-FCE4-47F8-9B01-34F31864119A}"/>
              </a:ext>
            </a:extLst>
          </p:cNvPr>
          <p:cNvSpPr>
            <a:spLocks xmlns:a="http://schemas.openxmlformats.org/drawingml/2006/main" noGrp="1"/>
          </p:cNvSpPr>
          <p:nvPr/>
        </p:nvSpPr>
        <p:spPr>
          <a:xfrm xmlns:a="http://schemas.openxmlformats.org/drawingml/2006/main">
            <a:off x="990600" y="49815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CONNECTION METRICS</a:t>
            </a:r>
          </a:p>
        </p:txBody>
      </p:sp>
      <p:sp>
        <p:nvSpPr>
          <p:cNvPr id="15" name="">
            <a:extLst xmlns:a="http://schemas.openxmlformats.org/drawingml/2006/main">
              <a:ext uri="{FF2B5EF4-FFF2-40B4-BE49-F238E27FC236}">
                <a16:creationId xmlns:a16="http://schemas.microsoft.com/office/drawing/2014/main" id="{06F298FB-E40B-4A3A-B66D-2F5E400156E7}"/>
              </a:ext>
            </a:extLst>
          </p:cNvPr>
          <p:cNvSpPr>
            <a:spLocks xmlns:a="http://schemas.openxmlformats.org/drawingml/2006/main" noGrp="1"/>
          </p:cNvSpPr>
          <p:nvPr/>
        </p:nvSpPr>
        <p:spPr>
          <a:xfrm xmlns:a="http://schemas.openxmlformats.org/drawingml/2006/main">
            <a:off x="990600" y="5391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DDE9EE"/>
                </a:solidFill>
                <a:latin typeface="Arial"/>
                <a:ea typeface="Arial"/>
                <a:cs typeface="Arial"/>
              </a:defRPr>
            </a:pPr>
            <a:r>
              <a:rPr sz="1275" b="0" i="0">
                <a:solidFill>
                  <a:srgbClr val="DDE9EE"/>
                </a:solidFill>
                <a:latin typeface="Arial"/>
                <a:ea typeface="Arial"/>
                <a:cs typeface="Arial"/>
              </a:rPr>
              <a:t>Which profiles should AC use for attribution, bridge discovery, institutions, and topic diffusion?</a:t>
            </a:r>
          </a:p>
        </p:txBody>
      </p:sp>
      <p:sp>
        <p:nvSpPr>
          <p:cNvPr id="16" name="">
            <a:extLst xmlns:a="http://schemas.openxmlformats.org/drawingml/2006/main">
              <a:ext uri="{FF2B5EF4-FFF2-40B4-BE49-F238E27FC236}">
                <a16:creationId xmlns:a16="http://schemas.microsoft.com/office/drawing/2014/main" id="{2F141577-12E3-4F50-8698-41F333246BE2}"/>
              </a:ext>
            </a:extLst>
          </p:cNvPr>
          <p:cNvSpPr>
            <a:spLocks xmlns:a="http://schemas.openxmlformats.org/drawingml/2006/main" noGrp="1"/>
          </p:cNvSpPr>
          <p:nvPr/>
        </p:nvSpPr>
        <p:spPr>
          <a:xfrm xmlns:a="http://schemas.openxmlformats.org/drawingml/2006/main">
            <a:off x="6115050" y="4838700"/>
            <a:ext cx="5143500" cy="0"/>
          </a:xfrm>
          <a:prstGeom xmlns:a="http://schemas.openxmlformats.org/drawingml/2006/main" prst="line">
            <a:avLst/>
          </a:prstGeom>
          <a:noFill xmlns:a="http://schemas.openxmlformats.org/drawingml/2006/main"/>
          <a:ln xmlns:a="http://schemas.openxmlformats.org/drawingml/2006/main" w="28575">
            <a:solidFill>
              <a:srgbClr val="DDE9EE"/>
            </a:solidFill>
            <a:prstDash val="solid"/>
          </a:ln>
        </p:spPr>
      </p:sp>
      <p:sp>
        <p:nvSpPr>
          <p:cNvPr id="17" name="">
            <a:extLst xmlns:a="http://schemas.openxmlformats.org/drawingml/2006/main">
              <a:ext uri="{FF2B5EF4-FFF2-40B4-BE49-F238E27FC236}">
                <a16:creationId xmlns:a16="http://schemas.microsoft.com/office/drawing/2014/main" id="{BEC827DB-417C-4A2C-B4CF-C1FBEF5122DC}"/>
              </a:ext>
            </a:extLst>
          </p:cNvPr>
          <p:cNvSpPr>
            <a:spLocks xmlns:a="http://schemas.openxmlformats.org/drawingml/2006/main" noGrp="1"/>
          </p:cNvSpPr>
          <p:nvPr/>
        </p:nvSpPr>
        <p:spPr>
          <a:xfrm xmlns:a="http://schemas.openxmlformats.org/drawingml/2006/main">
            <a:off x="6115050" y="50101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DDE9EE"/>
                </a:solidFill>
                <a:latin typeface="Arial"/>
                <a:ea typeface="Arial"/>
                <a:cs typeface="Arial"/>
              </a:defRPr>
            </a:pPr>
            <a:r>
              <a:rPr sz="975" b="1" i="0">
                <a:solidFill>
                  <a:srgbClr val="DDE9EE"/>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2DC4BDF3-386C-4345-BB0D-416A0FE5959E}"/>
              </a:ext>
            </a:extLst>
          </p:cNvPr>
          <p:cNvSpPr>
            <a:spLocks xmlns:a="http://schemas.openxmlformats.org/drawingml/2006/main" noGrp="1"/>
          </p:cNvSpPr>
          <p:nvPr/>
        </p:nvSpPr>
        <p:spPr>
          <a:xfrm xmlns:a="http://schemas.openxmlformats.org/drawingml/2006/main">
            <a:off x="6610350" y="49815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REVIEW &amp; MODEL BUDGET</a:t>
            </a:r>
          </a:p>
        </p:txBody>
      </p:sp>
      <p:sp>
        <p:nvSpPr>
          <p:cNvPr id="19" name="">
            <a:extLst xmlns:a="http://schemas.openxmlformats.org/drawingml/2006/main">
              <a:ext uri="{FF2B5EF4-FFF2-40B4-BE49-F238E27FC236}">
                <a16:creationId xmlns:a16="http://schemas.microsoft.com/office/drawing/2014/main" id="{47F280B6-0CFD-4BC2-B683-3C6FE09C0A98}"/>
              </a:ext>
            </a:extLst>
          </p:cNvPr>
          <p:cNvSpPr>
            <a:spLocks xmlns:a="http://schemas.openxmlformats.org/drawingml/2006/main" noGrp="1"/>
          </p:cNvSpPr>
          <p:nvPr/>
        </p:nvSpPr>
        <p:spPr>
          <a:xfrm xmlns:a="http://schemas.openxmlformats.org/drawingml/2006/main">
            <a:off x="6610350" y="5391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DDE9EE"/>
                </a:solidFill>
                <a:latin typeface="Arial"/>
                <a:ea typeface="Arial"/>
                <a:cs typeface="Arial"/>
              </a:defRPr>
            </a:pPr>
            <a:r>
              <a:rPr sz="1275" b="0" i="0">
                <a:solidFill>
                  <a:srgbClr val="DDE9EE"/>
                </a:solidFill>
                <a:latin typeface="Arial"/>
                <a:ea typeface="Arial"/>
                <a:cs typeface="Arial"/>
              </a:rPr>
              <a:t>Which uncertainty bands require humans, and where should Claude credits reduce review work?</a:t>
            </a:r>
          </a:p>
        </p:txBody>
      </p:sp>
      <p:sp>
        <p:nvSpPr>
          <p:cNvPr id="20" name="">
            <a:extLst xmlns:a="http://schemas.openxmlformats.org/drawingml/2006/main">
              <a:ext uri="{FF2B5EF4-FFF2-40B4-BE49-F238E27FC236}">
                <a16:creationId xmlns:a16="http://schemas.microsoft.com/office/drawing/2014/main" id="{F5ADFB80-A697-493F-9323-7A951DE9D887}"/>
              </a:ext>
            </a:extLst>
          </p:cNvPr>
          <p:cNvSpPr>
            <a:spLocks xmlns:a="http://schemas.openxmlformats.org/drawingml/2006/main" noGrp="1"/>
          </p:cNvSpPr>
          <p:nvPr/>
        </p:nvSpPr>
        <p:spPr>
          <a:xfrm xmlns:a="http://schemas.openxmlformats.org/drawingml/2006/main">
            <a:off x="495300" y="6324600"/>
            <a:ext cx="11201400" cy="0"/>
          </a:xfrm>
          <a:prstGeom xmlns:a="http://schemas.openxmlformats.org/drawingml/2006/main" prst="line">
            <a:avLst/>
          </a:prstGeom>
          <a:noFill xmlns:a="http://schemas.openxmlformats.org/drawingml/2006/main"/>
          <a:ln xmlns:a="http://schemas.openxmlformats.org/drawingml/2006/main" w="9525">
            <a:solidFill>
              <a:srgbClr val="5D7482"/>
            </a:solidFill>
            <a:prstDash val="solid"/>
          </a:ln>
        </p:spPr>
      </p:sp>
      <p:sp>
        <p:nvSpPr>
          <p:cNvPr id="21" name="">
            <a:extLst xmlns:a="http://schemas.openxmlformats.org/drawingml/2006/main">
              <a:ext uri="{FF2B5EF4-FFF2-40B4-BE49-F238E27FC236}">
                <a16:creationId xmlns:a16="http://schemas.microsoft.com/office/drawing/2014/main" id="{61F4E967-F693-4B4A-A5E2-91A3E950E513}"/>
              </a:ext>
            </a:extLst>
          </p:cNvPr>
          <p:cNvSpPr>
            <a:spLocks xmlns:a="http://schemas.openxmlformats.org/drawingml/2006/main" noGrp="1"/>
          </p:cNvSpPr>
          <p:nvPr/>
        </p:nvSpPr>
        <p:spPr>
          <a:xfrm xmlns:a="http://schemas.openxmlformats.org/drawingml/2006/main">
            <a:off x="495300" y="64674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DDE9EE"/>
                </a:solidFill>
                <a:latin typeface="Arial"/>
                <a:ea typeface="Arial"/>
                <a:cs typeface="Arial"/>
              </a:defRPr>
            </a:pPr>
            <a:r>
              <a:rPr sz="825" b="0" i="0">
                <a:solidFill>
                  <a:srgbClr val="DDE9EE"/>
                </a:solidFill>
                <a:latin typeface="Arial"/>
                <a:ea typeface="Arial"/>
                <a:cs typeface="Arial"/>
              </a:rPr>
              <a:t>PAPER ATTRIBUTION · CONNECTION INTELLIGENCE · CROSS-SDL KNOWLEDGE</a:t>
            </a:r>
          </a:p>
        </p:txBody>
      </p:sp>
      <p:sp>
        <p:nvSpPr>
          <p:cNvPr id="22" name="">
            <a:extLst xmlns:a="http://schemas.openxmlformats.org/drawingml/2006/main">
              <a:ext uri="{FF2B5EF4-FFF2-40B4-BE49-F238E27FC236}">
                <a16:creationId xmlns:a16="http://schemas.microsoft.com/office/drawing/2014/main" id="{FFD3996C-1A60-409F-89D3-D82D5B03CA29}"/>
              </a:ext>
            </a:extLst>
          </p:cNvPr>
          <p:cNvSpPr>
            <a:spLocks xmlns:a="http://schemas.openxmlformats.org/drawingml/2006/main" noGrp="1"/>
          </p:cNvSpPr>
          <p:nvPr/>
        </p:nvSpPr>
        <p:spPr>
          <a:xfrm xmlns:a="http://schemas.openxmlformats.org/drawingml/2006/main">
            <a:off x="10477500" y="6467475"/>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1" i="0">
                <a:solidFill>
                  <a:srgbClr val="FFFFFF"/>
                </a:solidFill>
                <a:latin typeface="Arial"/>
                <a:ea typeface="Arial"/>
                <a:cs typeface="Arial"/>
              </a:defRPr>
            </a:pPr>
            <a:r>
              <a:rPr sz="825" b="1" i="0">
                <a:solidFill>
                  <a:srgbClr val="FFFFFF"/>
                </a:solidFill>
                <a:latin typeface="Arial"/>
                <a:ea typeface="Arial"/>
                <a:cs typeface="Arial"/>
              </a:rPr>
              <a:t>DISCUSSION</a:t>
            </a:r>
          </a:p>
        </p:txBody>
      </p:sp>
    </p:spTree>
    <p:extLst>
      <p:ext uri="{BB962C8B-B14F-4D97-AF65-F5344CB8AC3E}">
        <p14:creationId xmlns:p14="http://schemas.microsoft.com/office/powerpoint/2010/main" val="1822545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2026-07-28T19:48:13.8040000Z</dcterms:created>
  <dcterms:modified xsi:type="dcterms:W3CDTF">2026-07-28T19:48:13.8040000Z</dcterms:modified>
</coreProperties>
</file>