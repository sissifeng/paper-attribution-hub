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f948ff5864174" /><Relationship Type="http://schemas.openxmlformats.org/officeDocument/2006/relationships/extended-properties" Target="/docProps/app.xml" Id="Ra697c8bea4744d5b" /><Relationship Type="http://schemas.openxmlformats.org/officeDocument/2006/relationships/officeDocument" Target="/ppt/presentation.xml" Id="R41468e79d635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d594e37b54635"/>
  </p:sldMasterIdLst>
  <p:notesMasterIdLst>
    <p:notesMasterId xmlns:r="http://schemas.openxmlformats.org/officeDocument/2006/relationships" r:id="R12f4cf1cc1dd488b"/>
  </p:notesMasterIdLst>
  <p:sldIdLst>
    <p:sldId xmlns:r="http://schemas.openxmlformats.org/officeDocument/2006/relationships" id="256" r:id="Rdcbfc8cd3f034534"/>
    <p:sldId xmlns:r="http://schemas.openxmlformats.org/officeDocument/2006/relationships" id="257" r:id="R5e8b3773846e48bd"/>
    <p:sldId xmlns:r="http://schemas.openxmlformats.org/officeDocument/2006/relationships" id="258" r:id="R14366dadc9184f4c"/>
    <p:sldId xmlns:r="http://schemas.openxmlformats.org/officeDocument/2006/relationships" id="259" r:id="R726909fdfde844c4"/>
    <p:sldId xmlns:r="http://schemas.openxmlformats.org/officeDocument/2006/relationships" id="260" r:id="R54c765cd9cac4eae"/>
    <p:sldId xmlns:r="http://schemas.openxmlformats.org/officeDocument/2006/relationships" id="261" r:id="R19bb79c6220a45f2"/>
    <p:sldId xmlns:r="http://schemas.openxmlformats.org/officeDocument/2006/relationships" id="262" r:id="R74c0804ba89e47cf"/>
    <p:sldId xmlns:r="http://schemas.openxmlformats.org/officeDocument/2006/relationships" id="263" r:id="R030b86347260494d"/>
    <p:sldId xmlns:r="http://schemas.openxmlformats.org/officeDocument/2006/relationships" id="264" r:id="Rc3490fff19514c83"/>
    <p:sldId xmlns:r="http://schemas.openxmlformats.org/officeDocument/2006/relationships" id="265" r:id="R5f979fc6a4c54942"/>
    <p:sldId xmlns:r="http://schemas.openxmlformats.org/officeDocument/2006/relationships" id="266" r:id="R82d0f41aee7e41ac"/>
    <p:sldId xmlns:r="http://schemas.openxmlformats.org/officeDocument/2006/relationships" id="267" r:id="R8a402778971b44dd"/>
    <p:sldId xmlns:r="http://schemas.openxmlformats.org/officeDocument/2006/relationships" id="268" r:id="R3f976b6a4bfe402a"/>
    <p:sldId xmlns:r="http://schemas.openxmlformats.org/officeDocument/2006/relationships" id="269" r:id="Rcb162d25ddeb4a8e"/>
    <p:sldId xmlns:r="http://schemas.openxmlformats.org/officeDocument/2006/relationships" id="270" r:id="R2fea24ed7f8141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425dde478487a" /><Relationship Type="http://schemas.openxmlformats.org/officeDocument/2006/relationships/slideMaster" Target="/ppt/slideMasters/slideMaster1.xml" Id="R895d594e37b54635" /><Relationship Type="http://schemas.openxmlformats.org/officeDocument/2006/relationships/notesMaster" Target="/ppt/notesMasters/notesMaster1.xml" Id="R12f4cf1cc1dd488b" /><Relationship Type="http://schemas.openxmlformats.org/officeDocument/2006/relationships/presProps" Target="/ppt/presProps.xml" Id="Rbeef4a6d74f54375" /><Relationship Type="http://schemas.openxmlformats.org/officeDocument/2006/relationships/viewProps" Target="/ppt/viewProps.xml" Id="Rb02f95866f9b46dd" /><Relationship Type="http://schemas.openxmlformats.org/officeDocument/2006/relationships/tableStyles" Target="/ppt/tableStyles.xml" Id="R2c15214c7d3d4ff0" /><Relationship Type="http://schemas.openxmlformats.org/officeDocument/2006/relationships/slide" Target="/ppt/slides/slide1.xml" Id="Rdcbfc8cd3f034534" /><Relationship Type="http://schemas.openxmlformats.org/officeDocument/2006/relationships/slide" Target="/ppt/slides/slide2.xml" Id="R5e8b3773846e48bd" /><Relationship Type="http://schemas.openxmlformats.org/officeDocument/2006/relationships/slide" Target="/ppt/slides/slide3.xml" Id="R14366dadc9184f4c" /><Relationship Type="http://schemas.openxmlformats.org/officeDocument/2006/relationships/slide" Target="/ppt/slides/slide4.xml" Id="R726909fdfde844c4" /><Relationship Type="http://schemas.openxmlformats.org/officeDocument/2006/relationships/slide" Target="/ppt/slides/slide5.xml" Id="R54c765cd9cac4eae" /><Relationship Type="http://schemas.openxmlformats.org/officeDocument/2006/relationships/slide" Target="/ppt/slides/slide6.xml" Id="R19bb79c6220a45f2" /><Relationship Type="http://schemas.openxmlformats.org/officeDocument/2006/relationships/slide" Target="/ppt/slides/slide7.xml" Id="R74c0804ba89e47cf" /><Relationship Type="http://schemas.openxmlformats.org/officeDocument/2006/relationships/slide" Target="/ppt/slides/slide8.xml" Id="R030b86347260494d" /><Relationship Type="http://schemas.openxmlformats.org/officeDocument/2006/relationships/slide" Target="/ppt/slides/slide9.xml" Id="Rc3490fff19514c83" /><Relationship Type="http://schemas.openxmlformats.org/officeDocument/2006/relationships/slide" Target="/ppt/slides/slide10.xml" Id="R5f979fc6a4c54942" /><Relationship Type="http://schemas.openxmlformats.org/officeDocument/2006/relationships/slide" Target="/ppt/slides/slide11.xml" Id="R82d0f41aee7e41ac" /><Relationship Type="http://schemas.openxmlformats.org/officeDocument/2006/relationships/slide" Target="/ppt/slides/slide12.xml" Id="R8a402778971b44dd" /><Relationship Type="http://schemas.openxmlformats.org/officeDocument/2006/relationships/slide" Target="/ppt/slides/slide13.xml" Id="R3f976b6a4bfe402a" /><Relationship Type="http://schemas.openxmlformats.org/officeDocument/2006/relationships/slide" Target="/ppt/slides/slide14.xml" Id="Rcb162d25ddeb4a8e" /><Relationship Type="http://schemas.openxmlformats.org/officeDocument/2006/relationships/slide" Target="/ppt/slides/slide15.xml" Id="R2fea24ed7f81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ab26a999041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6fa2b65e14a98" /><Relationship Type="http://schemas.openxmlformats.org/officeDocument/2006/relationships/notesMaster" Target="/ppt/notesMasters/notesMaster1.xml" Id="Rf62aa78eca3d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440fbc03094913" /><Relationship Type="http://schemas.openxmlformats.org/officeDocument/2006/relationships/notesMaster" Target="/ppt/notesMasters/notesMaster1.xml" Id="R9994add029ee46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ef9ed60a24d80" /><Relationship Type="http://schemas.openxmlformats.org/officeDocument/2006/relationships/notesMaster" Target="/ppt/notesMasters/notesMaster1.xml" Id="R681e2edecbd2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4d2cea6a824764" /><Relationship Type="http://schemas.openxmlformats.org/officeDocument/2006/relationships/notesMaster" Target="/ppt/notesMasters/notesMaster1.xml" Id="R0f0a9071dc3049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23c359b60d48b7" /><Relationship Type="http://schemas.openxmlformats.org/officeDocument/2006/relationships/notesMaster" Target="/ppt/notesMasters/notesMaster1.xml" Id="Ra814e4d4dccc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c593c928f94233" /><Relationship Type="http://schemas.openxmlformats.org/officeDocument/2006/relationships/notesMaster" Target="/ppt/notesMasters/notesMaster1.xml" Id="R0872f1e1145d4d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3afec573644c6c" /><Relationship Type="http://schemas.openxmlformats.org/officeDocument/2006/relationships/notesMaster" Target="/ppt/notesMasters/notesMaster1.xml" Id="Ra78ffa8634964b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5e8881b5eb4a88" /><Relationship Type="http://schemas.openxmlformats.org/officeDocument/2006/relationships/notesMaster" Target="/ppt/notesMasters/notesMaster1.xml" Id="Rf270dff4f51844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fd642a489c465d" /><Relationship Type="http://schemas.openxmlformats.org/officeDocument/2006/relationships/notesMaster" Target="/ppt/notesMasters/notesMaster1.xml" Id="R83e6b024985d42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cde3d6011d4165" /><Relationship Type="http://schemas.openxmlformats.org/officeDocument/2006/relationships/notesMaster" Target="/ppt/notesMasters/notesMaster1.xml" Id="Rbb69ec613ec542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4e09237a9c4185" /><Relationship Type="http://schemas.openxmlformats.org/officeDocument/2006/relationships/notesMaster" Target="/ppt/notesMasters/notesMaster1.xml" Id="R17478c86512646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36cfd592b54bc0" /><Relationship Type="http://schemas.openxmlformats.org/officeDocument/2006/relationships/notesMaster" Target="/ppt/notesMasters/notesMaster1.xml" Id="Rc7b68605769145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442c94bfc14ef8" /><Relationship Type="http://schemas.openxmlformats.org/officeDocument/2006/relationships/notesMaster" Target="/ppt/notesMasters/notesMaster1.xml" Id="Rca7173e0864247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1e951367914619" /><Relationship Type="http://schemas.openxmlformats.org/officeDocument/2006/relationships/notesMaster" Target="/ppt/notesMasters/notesMaster1.xml" Id="R1d55b260e48c4c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97501aee7149a0" /><Relationship Type="http://schemas.openxmlformats.org/officeDocument/2006/relationships/notesMaster" Target="/ppt/notesMasters/notesMaster1.xml" Id="R2aa828f1ecfc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f1171b77b48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b2344ca80e4405" /><Relationship Type="http://schemas.openxmlformats.org/officeDocument/2006/relationships/slideLayout" Target="/ppt/slideLayouts/slideLayout1.xml" Id="R1d90fef4e36e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0fef4e36e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6f8b982134eaa" /><Relationship Type="http://schemas.openxmlformats.org/officeDocument/2006/relationships/notesSlide" Target="/ppt/notesSlides/notesSlide1.xml" Id="R1400602bdeef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67847ea084596" /><Relationship Type="http://schemas.openxmlformats.org/officeDocument/2006/relationships/notesSlide" Target="/ppt/notesSlides/notesSlide2.xml" Id="R80ac154974ad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d89b950e4939" /><Relationship Type="http://schemas.openxmlformats.org/officeDocument/2006/relationships/notesSlide" Target="/ppt/notesSlides/notesSlide3.xml" Id="R07cebbe63df141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5e1d958c14e1a" /><Relationship Type="http://schemas.openxmlformats.org/officeDocument/2006/relationships/notesSlide" Target="/ppt/notesSlides/notesSlide4.xml" Id="R3dc8a7e4d0fd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cefb074ed45b9" /><Relationship Type="http://schemas.openxmlformats.org/officeDocument/2006/relationships/notesSlide" Target="/ppt/notesSlides/notesSlide5.xml" Id="R2c59b03c3e3346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a09776c5a43d7" /><Relationship Type="http://schemas.openxmlformats.org/officeDocument/2006/relationships/notesSlide" Target="/ppt/notesSlides/notesSlide6.xml" Id="Re6dc351180e5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c6f8602c248cd" /><Relationship Type="http://schemas.openxmlformats.org/officeDocument/2006/relationships/notesSlide" Target="/ppt/notesSlides/notesSlide7.xml" Id="Rb098c9c9a6514e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295d6ddf84529" /><Relationship Type="http://schemas.openxmlformats.org/officeDocument/2006/relationships/notesSlide" Target="/ppt/notesSlides/notesSlide8.xml" Id="Rafffd62d5ba64a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5a73f3f89423a" /><Relationship Type="http://schemas.openxmlformats.org/officeDocument/2006/relationships/notesSlide" Target="/ppt/notesSlides/notesSlide9.xml" Id="Rd95d99e1908940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5273920294d78" /><Relationship Type="http://schemas.openxmlformats.org/officeDocument/2006/relationships/notesSlide" Target="/ppt/notesSlides/notesSlide10.xml" Id="R15c15e4033c646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dc8586fa94ec8" /><Relationship Type="http://schemas.openxmlformats.org/officeDocument/2006/relationships/notesSlide" Target="/ppt/notesSlides/notesSlide11.xml" Id="Ra2238837596e40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4807b23545d0" /><Relationship Type="http://schemas.openxmlformats.org/officeDocument/2006/relationships/notesSlide" Target="/ppt/notesSlides/notesSlide12.xml" Id="Rec26737915e14c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d1f9ef81e4c07" /><Relationship Type="http://schemas.openxmlformats.org/officeDocument/2006/relationships/notesSlide" Target="/ppt/notesSlides/notesSlide13.xml" Id="R84570d9f63f440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0ca2e57749b9" /><Relationship Type="http://schemas.openxmlformats.org/officeDocument/2006/relationships/notesSlide" Target="/ppt/notesSlides/notesSlide14.xml" Id="Racf6ffcc73fa45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d8473dd67473c" /><Relationship Type="http://schemas.openxmlformats.org/officeDocument/2006/relationships/notesSlide" Target="/ppt/notesSlides/notesSlide15.xml" Id="R16cca5999cd64f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32770-836E-403B-8989-13C2BC7A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02005-6DA3-4EE3-9039-1D57D006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1F186-FC67-4432-93B7-07BF2B01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BDA0B-24F9-4FF8-AF53-80C2D23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D6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D6C2"/>
                </a:solidFill>
                <a:latin typeface="Aptos"/>
                <a:ea typeface="Aptos"/>
                <a:cs typeface="Aptos"/>
              </a:rPr>
              <a:t>System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BE1FE-1490-49D9-91D3-0DB390B9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0" cy="1028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 Literature Attribution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D7E57-53A1-4388-A015-6A8118D8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096250" cy="704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ED8D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ED8DD"/>
                </a:solidFill>
                <a:latin typeface="Aptos"/>
                <a:ea typeface="Aptos"/>
                <a:cs typeface="Aptos"/>
              </a:rPr>
              <a:t>How the system turns broad paper search results into an AC knowledge base, then lets people query, explore, and reason over that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E01BB-CDF6-4089-B094-8BC388E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2A"/>
          </a:solidFill>
          <a:ln xmlns:a="http://schemas.openxmlformats.org/drawingml/2006/main" w="9525">
            <a:solidFill>
              <a:srgbClr val="3151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17E80-7402-44AD-ABA5-AD49317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809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75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Automated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A3B91-441C-4C61-A18D-F62979F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6C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6CB"/>
                </a:solidFill>
                <a:latin typeface="Aptos"/>
                <a:ea typeface="Aptos"/>
                <a:cs typeface="Aptos"/>
              </a:rPr>
              <a:t>ingest → classify →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8B55B-9605-44DC-9CE5-D8267972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2A"/>
          </a:solidFill>
          <a:ln xmlns:a="http://schemas.openxmlformats.org/drawingml/2006/main" w="9525">
            <a:solidFill>
              <a:srgbClr val="31515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4F0CF-2D1D-4D07-A0F6-BE2E8B7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1809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B1B92-1BD5-4498-99B3-54FBADF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43400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889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6C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6CB"/>
                </a:solidFill>
                <a:latin typeface="Aptos"/>
                <a:ea typeface="Aptos"/>
                <a:cs typeface="Aptos"/>
              </a:rPr>
              <a:t>paper pages + entities +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7393B-1AAA-4E99-9ADA-27570BA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290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42A"/>
          </a:solidFill>
          <a:ln xmlns:a="http://schemas.openxmlformats.org/drawingml/2006/main" w="9525">
            <a:solidFill>
              <a:srgbClr val="3151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D2E96-1C73-4A73-A92B-05284EB4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1809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Exploration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B9DA7-F41E-4C41-B512-21C721DB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82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C6C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6CB"/>
                </a:solidFill>
                <a:latin typeface="Aptos"/>
                <a:ea typeface="Aptos"/>
                <a:cs typeface="Aptos"/>
              </a:rPr>
              <a:t>Agentic RAG · Multi-Graph · Co-author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9563B-F902-43C1-B032-1EAB3DE2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7630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5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5E8"/>
                </a:solidFill>
                <a:latin typeface="Aptos"/>
                <a:ea typeface="Aptos"/>
                <a:cs typeface="Aptos"/>
              </a:rPr>
              <a:t>Narrative: first show the pipeline, then explain the algorithm, then show how the digested database is consumed.</a:t>
            </a:r>
          </a:p>
        </p:txBody>
      </p:sp>
    </p:spTree>
    <p:extLst>
      <p:ext uri="{BB962C8B-B14F-4D97-AF65-F5344CB8AC3E}">
        <p14:creationId xmlns:p14="http://schemas.microsoft.com/office/powerpoint/2010/main" val="4604017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E969AD-80E0-481D-8593-1EB6F086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3B996-3F72-4A6E-A528-AC01C08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 · Walkthrough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4EC43-C459-4D4B-B82F-5821D123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Start with the big picture: this is a developing AC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B64EE-41F2-4B14-A1F2-BCA428CE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The point is not only to classify papers once. The point is to maintain a living AC research knowledge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6DD91-9E6E-4FCD-941C-063FBD9C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2CAD2-8C60-458D-AF4C-31636CF7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343B7-61A1-40EF-A07F-EFB2836C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78293-A91F-42B6-B4ED-17953D8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9080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6A7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1ACAE-0602-4645-BB32-DBE9A435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4287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Broad paper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A72A3-B5C8-4D54-B260-69B276C4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search pulls in thousands of candidate papers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8E1D0-7567-443C-9D84-AB64442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86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5761B-51BA-416C-A4F6-98CCA34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1DA84-A9F7-429F-A309-4C31765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9080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6A7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BF26B-C67A-4A24-B1A0-557FB13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14287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447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Automated classification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94D49-5AC7-4819-8573-6E51ACB5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242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papers are assigned relevance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C4874-03D7-4A2B-8ABD-F49CD9A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86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A52B3-1C42-45F9-BD91-58F50C7F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89048-4C49-4EDA-A060-C0668C93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9080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A88ED-F115-4635-99B0-BBECD087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19450"/>
            <a:ext cx="14287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28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AC knowledge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54D4C-9DC8-4820-8635-A0BBFBF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AC-related papers enter the structured corpus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44DCF-D0CB-4D33-B40C-DDE42B4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E6675-D8ED-453B-A13C-ECBD58E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27755-192C-44BD-B854-3262C51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9080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6A7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C0DCD-0AE3-4287-9BEC-2BECFCE2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4287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Evidence + Wiki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D12CB-9D69-4722-BA1B-CF892F5D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each paper gets reasons, scores, and a digest page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58EF7-A6F7-469D-9EFF-E82E77C9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05990-0CD6-48D1-8D9D-ED2D580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76ECF-194E-4F98-A7D2-3899261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90800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6A7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C2A10-45E4-4F48-B9BA-7C2095A2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14287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3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Graph + Q&amp;A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8D876-A9D6-4220-83D6-B7380423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1619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50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Agentic RAG, Multi-Graph, Co-author, People Grid consume the corpus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8C7B3C-D7FF-41DB-955B-C813C4B3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8382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FD3186-50E1-4ABE-BB21-2B5BD2A3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05375"/>
            <a:ext cx="803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paper → classification label + confidence + evidence → wiki/entity graph → retrieval/network/analytics</a:t>
            </a:r>
          </a:p>
        </p:txBody>
      </p:sp>
    </p:spTree>
    <p:extLst>
      <p:ext uri="{BB962C8B-B14F-4D97-AF65-F5344CB8AC3E}">
        <p14:creationId xmlns:p14="http://schemas.microsoft.com/office/powerpoint/2010/main" val="9405447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A718E-3C5F-4F63-8524-F64873CE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B6636-62EE-417C-B7B0-143A93F6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2 · What the pipeline classifies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D01F7-1179-41CF-ACBE-E2DB21D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system separates AC attribution from broader SDL relevance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CCD85-27A7-47B1-ADAB-88AABD5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A paper can be relevant to the field without being attributable to AC.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36595-E612-4677-9227-1335FBB5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F0D2E-1E95-4A57-8E53-5E8EE819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F9626-9865-4F8C-BBD5-62222E8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8A70">
              <a:alpha val="8235"/>
            </a:srgbClr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A3FA4-CD33-4EC0-86FA-6EBDC0E9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CORE_RELEVANT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83683-F866-4B9C-AB9C-A8B90A5D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high-confidence AC / SDL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109A2-30FE-4EB0-AF03-B6760B1A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6FED">
              <a:alpha val="8235"/>
            </a:srgbClr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A8B3-5E5D-416A-97E5-B6D38ADB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RELATED_RELEVANT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BA279-39E1-435E-8B61-B563EDD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clear AC relation, weaker topic/core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79F77-78C4-499A-8062-73C11259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8B5CF6">
              <a:alpha val="8235"/>
            </a:srgbClr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8578D-D2D9-43A1-9DC9-3DD9F21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SDL_FIELD_RELEVANT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03BE0-674C-497E-B763-0F37D6B7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SDL field paper, weak AC attribution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919F0-D009-4641-B763-124324CA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7861A">
              <a:alpha val="8235"/>
            </a:srgbClr>
          </a:solidFill>
          <a:ln xmlns:a="http://schemas.openxmlformats.org/drawingml/2006/main" w="9525">
            <a:solidFill>
              <a:srgbClr val="C7861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00BC2-9A38-4E18-89FE-D46B06CD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6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61A"/>
                </a:solidFill>
                <a:latin typeface="Aptos"/>
                <a:ea typeface="Aptos"/>
                <a:cs typeface="Aptos"/>
              </a:rPr>
              <a:t>ADJACENT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F492C-7151-43AA-A673-B619BCA7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weak but potentially useful related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5D3F5-9F98-40CB-8F15-9EE05555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75C2A">
              <a:alpha val="8235"/>
            </a:srgbClr>
          </a:solidFill>
          <a:ln xmlns:a="http://schemas.openxmlformats.org/drawingml/2006/main" w="9525">
            <a:solidFill>
              <a:srgbClr val="D75C2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A32A3-EB4A-417F-A40E-804648A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5C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75C2A"/>
                </a:solidFill>
                <a:latin typeface="Aptos"/>
                <a:ea typeface="Aptos"/>
                <a:cs typeface="Aptos"/>
              </a:rPr>
              <a:t>UNCERTAIN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042DF-94EC-499B-827D-A37E4A3F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needs reranker / judge / human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45371-DF1A-49DA-8020-A880A8F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E6A71">
              <a:alpha val="8235"/>
            </a:srgbClr>
          </a:solidFill>
          <a:ln xmlns:a="http://schemas.openxmlformats.org/drawingml/2006/main" w="9525">
            <a:solidFill>
              <a:srgbClr val="5E6A7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7D0A8-5316-4FD6-8063-8F687E6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E6A71"/>
                </a:solidFill>
                <a:latin typeface="Aptos"/>
                <a:ea typeface="Aptos"/>
                <a:cs typeface="Aptos"/>
              </a:rPr>
              <a:t>EXCLUDE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05769-79F1-4324-ABCE-1D4E7B8D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no enough attribution or relevance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00B5D-DFED-4D99-9865-4E267F3D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29250"/>
            <a:ext cx="80962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AC-positive labels are what move directly into the AC knowledge-base workflow; other labels support review, field monitoring, and exclusion.</a:t>
            </a:r>
          </a:p>
        </p:txBody>
      </p:sp>
    </p:spTree>
    <p:extLst>
      <p:ext uri="{BB962C8B-B14F-4D97-AF65-F5344CB8AC3E}">
        <p14:creationId xmlns:p14="http://schemas.microsoft.com/office/powerpoint/2010/main" val="19148095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3F6B89-EC23-4BC8-81D7-1789983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F68B1-3ED9-4F84-8682-25EF811C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3 · Classification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D2743-44E1-4D0F-A909-9C7EADD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score is interpretable: evidence signals are combined, then rules decide the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4979F-1B20-4040-B24A-8C0FDE9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This is the part to explain after showing that the system can classify broad paper batches.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42475-1BB1-450E-83FF-E07B9EE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66A38-A001-4998-BA35-01483FF2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5EB19-A5B2-4183-99D8-BB128B3B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9144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1F8A70">
                <a:alpha val="33333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2A3EE-97E2-4A0C-BD1D-12362E72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86106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rPr>
              <a:t>CLASSIFICATION 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A3FC0-C8D0-49E2-8B63-43F8C5A0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86106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22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confidence(paper) = Σ wi · signali(paper)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3FEF6-3773-4540-B450-1BD7E273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861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0FDD0-26EB-478D-8D7A-13C3001C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86106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signals = author match · institution match · topic relevance · network proximity · full-text evidence · citation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3E0E2-EE6A-4124-8CD6-0226BE7C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CD01-6A1E-4C20-95FE-741FE96F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754A5-9DBF-483C-BB26-AA9A0B3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800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rPr>
              <a:t>AC attribution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4A705-C91C-4C88-AD0F-B807E6F3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800350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AC ≈ acknowledgement + funding + AC member + AC program + retrieval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D5DF-7BF5-4658-AA2D-63143971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52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21FCC-3055-4E81-A145-83804374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52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366C3-61BA-4B22-8B76-50936CF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5350"/>
            <a:ext cx="2800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rPr>
              <a:t>SDL relevance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B7B59-4C61-4E37-9CB5-06C7991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2800350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SDL ≈ architecture signal + retrieval signal + SDL topic / keyword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7E27E-7BA4-469D-A5DD-9CF14395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977A1-D213-4FE0-A617-70CA69E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1A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294B6-3271-418D-ABEF-9CEEE5A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00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861A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7861A"/>
                </a:solidFill>
                <a:latin typeface="JetBrains Mono"/>
                <a:ea typeface="JetBrains Mono"/>
                <a:cs typeface="JetBrains Mono"/>
              </a:rPr>
              <a:t>Review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47A7C-35B9-4A98-8454-651713EC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800350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High evidence promotes CORE / RELATED. Weak or conflicting evidence goes to review.</a:t>
            </a:r>
          </a:p>
        </p:txBody>
      </p:sp>
    </p:spTree>
    <p:extLst>
      <p:ext uri="{BB962C8B-B14F-4D97-AF65-F5344CB8AC3E}">
        <p14:creationId xmlns:p14="http://schemas.microsoft.com/office/powerpoint/2010/main" val="14863790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CD41C-3BF9-42D7-AC7B-2D3553F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01F54-F91F-49B9-BC82-CA795C3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4 · Paper page: score, reasons, 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B9CA2-816B-4A41-8E2E-103BE21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Every classified paper has a detail page explaining why it was selected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928AF-9785-4D29-A0E7-C2E9075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This is what makes the classification reviewable and traceable.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D852A-099E-4B68-B502-791E4F46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2DF47-75E0-4DF7-A22B-0DB9BA1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C4C87-8647-41CB-A042-5EA898FD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5720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2A0C8-61F9-4BBD-A9E4-CF09F0B9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Evidence drawer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FD441-AD1A-4A77-9865-CB4DAF4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1562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F8A70">
              <a:alpha val="9412"/>
            </a:srgbClr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843B4-3AD4-4B61-86AC-D77D968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333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label +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4CF21-67D8-41B9-B721-A9FE4B8E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990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6FED">
              <a:alpha val="9412"/>
            </a:srgbClr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32A70-C10A-46F7-AEDC-C7BBFAD8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762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score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79F7F-A5CB-4EAA-A779-198F2639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1333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7861A">
              <a:alpha val="9412"/>
            </a:srgbClr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6ED87-6AF1-4D40-A68E-31F8057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67050"/>
            <a:ext cx="11049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861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861A"/>
                </a:solidFill>
                <a:latin typeface="Aptos"/>
                <a:ea typeface="Aptos"/>
                <a:cs typeface="Aptos"/>
              </a:rPr>
              <a:t>human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4A387-4BC7-4548-8DE1-03645FA6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18C18-FA31-4680-B05D-0091F1F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33718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Author / institution / topic / full-text / network / citation scores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BA204-73F8-4AE6-BA33-1DEBBE53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4B7FB-2B31-4435-9ED0-A9010AEA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33718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Matched AC people, institutions, topics, and evidence snippets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FA361-694E-4327-B0B1-C9103E5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E44DA-B4A4-4EAB-9130-CB39373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33718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843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Graph signals: second-degree collaborator paths, AC core 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3256D-52E2-4E03-A82F-DABCE379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95728-CFC3-4D90-87D4-826A18E9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33718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96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Reviewer can confirm or correct the label with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1A585-CE99-48EE-AFAD-5E6D4D4B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40957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ED0F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E9FC3-3442-4C31-AF56-E6BE8877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D86A1-2EE9-4711-B928-5CC7A821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9012B-F4BE-4226-9F37-7768C7F0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28956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system can answer: why is this paper AC-related?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E22A6-BD49-44A3-B8FA-B73B17C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1642E-4F35-4F56-AC0F-849F7FD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28956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Each label has auditability: score + reasons + source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97EEB-22FF-4013-85D2-66D750C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92EA8-21EC-47F0-A67F-BF079BDC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7650"/>
            <a:ext cx="28956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Human-confirmed labels become locked review knowledge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32BFE-EA97-4BEF-9768-FC8BCA45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7010A-8311-483A-8E80-3244748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28956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This creates the paper-level foundation for the later graph and Q&amp;A layer</a:t>
            </a:r>
          </a:p>
        </p:txBody>
      </p:sp>
    </p:spTree>
    <p:extLst>
      <p:ext uri="{BB962C8B-B14F-4D97-AF65-F5344CB8AC3E}">
        <p14:creationId xmlns:p14="http://schemas.microsoft.com/office/powerpoint/2010/main" val="10082859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40E97-CFAE-4347-A0C9-4B2662B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6D20A-69C4-40E7-AB48-F4AA16B9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5 · Wiki + entity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3CD36-964E-4B8F-80EA-FA3FCDB2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Each AC paper becomes a page in the knowledge-base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BC4B5-703C-42E7-9626-788F387F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The current system has the first step: digesting papers into structured, reusable knowledge.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152C7-E520-4291-95FD-631EAA37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ABD4-C44C-4EBE-811A-C4C0AA50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061ED-50CA-454F-AEEB-DE0E3616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F3B1C-709C-4F1A-B406-4AA97CFF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C7429-0B90-4251-B246-4679961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title, abstract, metadata, full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19E17-E4DD-4E33-80F7-DD47D2E7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C17C-9775-4C48-93B5-531F61F7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A62E3-952E-4439-B169-DF78D84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Wiki page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4E44B-17E9-440B-9DD7-FC2F337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0707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identity, provenance, SDL evidence, AC evidence, 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79E1B-DB11-4FC8-B27B-E49BA98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72324-0EDF-4BE4-B519-805168E3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612D4-342D-48D5-8F64-757F023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Entities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D2E56-F65F-4198-BC49-6B5A81D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005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people, institutions, topics, methods, funders, citations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FBF3F-AF45-4043-BF5B-553E18B0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AFD38-FCE3-493E-9513-F0DA16D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F8A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55A1C-CA1A-4416-9AC1-295A22D1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00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Knowledge 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A3A70-FF55-47F7-BB13-EBE6463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099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841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nodes + edges used by retrieval and network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67CCE-CEAD-4A11-96AF-75D6AA6D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E1716-AFFB-4175-8E29-D21A2097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88403-C7C5-4FE9-BF26-14D059AD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Future Q&amp;A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CB3C9-F1E3-4ECE-B898-63F59F1C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11620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LLM answers over the digested AC corpus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C1511-05C4-44A0-AA70-C9AFA93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33900"/>
            <a:ext cx="8001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BBD8C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630EA-3430-48FD-98E1-ABA9D369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76775"/>
            <a:ext cx="7658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652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digested paper = markdown/wiki sections + extracted entities + traceable evidence pointers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E3D5D-F186-4E05-8672-4EF7D90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78105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Talk track: today the system builds paper-level pages and entity structure; the next layer is a richer graph-backed Q&amp;A experience.</a:t>
            </a:r>
          </a:p>
        </p:txBody>
      </p:sp>
    </p:spTree>
    <p:extLst>
      <p:ext uri="{BB962C8B-B14F-4D97-AF65-F5344CB8AC3E}">
        <p14:creationId xmlns:p14="http://schemas.microsoft.com/office/powerpoint/2010/main" val="2780446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1C72C-29A5-4AD6-9398-3FBF21CA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213A-D8BD-4286-B9A1-72699F3A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6 · Consumer 1: Agentic Graph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48888-1827-4DA7-B1A0-46DD8679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Once the corpus is digested, users can ask questions over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7253F-E1C6-401F-9D04-99688F08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This page is the Q&amp;A/search entry point: an ask box retrieves text evidence, graph context, and SQL facts from the AC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268C7-0BB2-426C-AF72-49E81937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B9D28-6F5C-46B7-918F-8A156315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6F1EE-05E0-43ED-B17A-D039718D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191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F08FC-1DFB-4E96-957C-FC1CE74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2381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Ask box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F974E-4537-4C29-A471-825814A6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AC97F-70B9-40C6-8B97-8F48CE7B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30861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85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AC papers use Bayesian optimization?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94135-4EF0-410D-8C2B-4F711780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333FF-6B08-49FC-A4E5-63349EE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30861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What automation platforms appear in self-driving lab papers?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E397B-E7FD-4163-8A06-020FC7A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5EEB1-7A81-48B9-930D-FC88915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30861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papers mention funding acknowledgements?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B8DD6-C448-45E7-861A-12071BB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C4970-1CAC-4E83-BD02-2C3F11CD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30861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papers connect NLP, automation, and materials discovery?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E3A8B-2EC2-46B7-BB63-D5F8080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4191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BBD8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01C62-58EF-4019-AE76-FB92425D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381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Returned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F2705-C804-44CB-80D6-9063F5AA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41AB0-B85B-4ECD-9C53-3DA841D3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2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Answer synthesized from retrieved source chunks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ECA51-5B5A-43EC-A767-79296DA6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069F6-D038-438F-B709-25408E5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Source papers and evidence snippets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42EFC-D6AA-477F-820F-1CEBE8F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A6B97-A3F4-4D97-82A6-D3E2C835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BM25 / cosine / graph score bars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37070-CCC8-46C7-B350-77DBA6EF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0D4BF-B47F-4BFF-A0E5-836B1571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NL-to-SQL plan: intent, SQL, structured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C9965-6DAB-43AB-84B5-0D48035C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0C23E-F888-41BE-A531-4B3B84A4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5770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28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Graph path context: coauthor route or AC core citation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95894-8815-4189-A486-FB5A9A1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1C550-B462-43FB-8D1B-2090B37F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30861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6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Proposition hits: uses_method, funded_by, cites, topic</a:t>
            </a:r>
          </a:p>
        </p:txBody>
      </p:sp>
    </p:spTree>
    <p:extLst>
      <p:ext uri="{BB962C8B-B14F-4D97-AF65-F5344CB8AC3E}">
        <p14:creationId xmlns:p14="http://schemas.microsoft.com/office/powerpoint/2010/main" val="6195338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48C30-7F9F-4915-8F43-CB334E4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CB133-B8F0-491C-BD43-F47F4FB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7 · Retrieval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DDC88-2ECF-42AD-A4C0-3AE903C0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new layer adds NL-to-SQL without removing the original retrieval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AE3F3-37DE-4FD2-8193-2F88D332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This is the LLM retrieval highlight: free-form questions can hit passages, graph paths, propositions, and database 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48E6E-235F-44ED-9E3D-E598A4B4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3E5AA-B19C-45DF-969E-DFC9F84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43C9A-9FAC-492B-8659-2BD3172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933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2F6FED">
                <a:alpha val="33333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CE64F-DE7B-4297-9046-3A972D63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8915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rPr>
              <a:t>QUERY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9E8D4-1E43-4474-8500-C9A51C38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89154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query → chunks + graph paths + propositions + SQL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F1ADE-421A-4CC7-8897-F5704F7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7F2B0-544E-406E-88E1-C266FA9B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89154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The system can answer from passages, structured graph context, extracted claims, and exact database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A13E6-C54F-4050-9BD6-E7E4F58B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45148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2F6FED">
                <a:alpha val="33333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40F38-16DF-4DCE-8389-A03D24B5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9EDA5-3E76-485C-80FD-00B0386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0957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RRF(d) = 1/(60 + rankBM25)</a:t>
            </a:r>
          </a:p>
          <a:p xmlns:a="http://schemas.openxmlformats.org/drawingml/2006/main">
            <a:pPr algn="l">
              <a:def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       + 1/(60 + rankcosine)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A94B2-BB3E-43AA-BDDC-2CE86DE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0704F-5ED4-4641-B537-68BDC538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40957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BM25 handles exact terms; cosine handles semantic match.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652BB-A82B-4438-98C6-5BF9B97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4286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1F8A70">
                <a:alpha val="33333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AEFD4-EC63-4DE1-8A82-B8038F88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38671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rPr>
              <a:t>GRAPH 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ED19A-BA81-41DC-9D72-1B3D35B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38671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final = text_score × (1 + 0.3·Gnorm)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D338C-071B-4CE9-8DD4-74FC265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68917-71C1-4DC6-951B-30AAD21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38671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Graph score gently promotes papers central to AC relationships.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25D9B-FBC1-4974-8B11-B49C797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33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D9468F">
                <a:alpha val="33333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E21DC-07D6-4A4A-8E65-C6FA0C8A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8915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468F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D9468F"/>
                </a:solidFill>
                <a:latin typeface="JetBrains Mono"/>
                <a:ea typeface="JetBrains Mono"/>
                <a:cs typeface="JetBrains Mono"/>
              </a:rPr>
              <a:t>NL-TO-SQL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A1DEB-49DB-4737-8C80-DA3A419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89154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natural language → constrained intent → read-only SQL → structured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EAD71-4A3E-417C-A37B-705A8972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891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7B856-6BB5-4CF7-9891-77A603AF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89154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Adds exact counts, lists, top authors, institutions, and review queue rows without replacing retrieval.</a:t>
            </a:r>
          </a:p>
        </p:txBody>
      </p:sp>
    </p:spTree>
    <p:extLst>
      <p:ext uri="{BB962C8B-B14F-4D97-AF65-F5344CB8AC3E}">
        <p14:creationId xmlns:p14="http://schemas.microsoft.com/office/powerpoint/2010/main" val="17539073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99600-8228-438F-BDDA-A2779199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BD555-4412-4122-B403-D61186E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8 · Consumer 2: Multi-Graph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49BD8-D768-472B-946A-943B9BB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graph page lets users explore the entities extracted from papers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4ACEE-A370-4CE3-AEE3-087021C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Each node is an entity; each edge is a relationship chosen by the user.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3ADD8-1E05-4C01-AC2D-00035047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2B758-3AA5-41E0-82B5-A888972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B3DDB-BCF8-47FF-A874-C8A6C30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2F6FED">
                <a:alpha val="33333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AEC79-14B9-43DD-825D-06415F47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343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2F6FED"/>
                </a:solidFill>
                <a:latin typeface="JetBrains Mono"/>
                <a:ea typeface="JetBrains Mono"/>
                <a:cs typeface="JetBrains Mono"/>
              </a:rPr>
              <a:t>NODE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5DB83-E2F1-4EC4-9A3B-722C674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343400" cy="590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V = authors ∪ institutions ∪ papers</a:t>
            </a:r>
          </a:p>
          <a:p xmlns:a="http://schemas.openxmlformats.org/drawingml/2006/main">
            <a:pPr algn="l">
              <a:def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    ∪ topics ∪ methods ∪ funders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4444E-0772-4F49-9C47-8D4086A7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66565-8943-4EBE-8F32-3EA3631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4343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Nodes are entities extracted from paper pages and wiki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FF4B3-EC0A-455A-9D18-60EFD3C6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762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9525">
            <a:solidFill>
              <a:srgbClr val="1F8A70">
                <a:alpha val="33333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789B4-4D59-4EDA-A140-EDE4C21A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343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1F8A70"/>
                </a:solidFill>
                <a:latin typeface="JetBrains Mono"/>
                <a:ea typeface="JetBrains Mono"/>
                <a:cs typeface="JetBrains Mono"/>
              </a:rPr>
              <a:t>EDGE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ED0DF-D01D-4FA9-A802-C5009FBE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343400" cy="590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E = authored ∪ coauthored ∪ cites</a:t>
            </a:r>
          </a:p>
          <a:p xmlns:a="http://schemas.openxmlformats.org/drawingml/2006/main">
            <a:pPr algn="l">
              <a:def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EEF5F3"/>
                </a:solidFill>
                <a:latin typeface="JetBrains Mono"/>
                <a:ea typeface="JetBrains Mono"/>
                <a:cs typeface="JetBrains Mono"/>
              </a:rPr>
              <a:t>    ∪ topic ∪ method ∪ funding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C20A9-F792-498B-A2FF-E3002FEA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5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92B68-7DCA-4BC1-A3DD-CDDE0E3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343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B5C3C7"/>
                </a:solidFill>
                <a:latin typeface="JetBrains Mono"/>
                <a:ea typeface="JetBrains Mono"/>
                <a:cs typeface="JetBrains Mono"/>
              </a:rPr>
              <a:t>Edges are selected relationships; users choose which graph to compose.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A267A-EAF4-47A5-9DA1-4FED114E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BBD8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75F0F-8621-4C52-9E93-0B4A004F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16954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Co-author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F72B0-E8E8-4912-99CA-5476168D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17335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929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author nodes + coauthored edges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A81A5-71BA-4007-A7F0-EC96EA4A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76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ED0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97157-365E-4432-9998-C6C47CCC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7250"/>
            <a:ext cx="16954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Citation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2EBD1-2C82-499F-A0A1-E72843F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53000"/>
            <a:ext cx="17335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paper / AC core nodes + cites_ac_core edges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C8B75-9081-4201-A998-00196A13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BBD8C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766D3-A7F7-40B7-AC4D-8B847783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6954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Topic 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E8683-C5A1-430D-A318-06DEB1F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17335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paper / topic nodes + belongs_to_topic edges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C0E1A1-04AB-49E3-82DB-F35B8BD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ED0F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E9B17-12EA-4514-8F76-02424A55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16954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Method/funder 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FF38E-999E-4E4F-B2C6-2D763D1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53000"/>
            <a:ext cx="17335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paper / method / funder nodes + propositions</a:t>
            </a:r>
          </a:p>
        </p:txBody>
      </p:sp>
    </p:spTree>
    <p:extLst>
      <p:ext uri="{BB962C8B-B14F-4D97-AF65-F5344CB8AC3E}">
        <p14:creationId xmlns:p14="http://schemas.microsoft.com/office/powerpoint/2010/main" val="17776202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A29FD-0DE0-42F3-8E60-739507A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FD7D1-4672-4261-8753-28E2DE3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9 · Why Multi-Graph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5CA8C-E9D1-433D-874E-55B8E9E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It helps AC ask relationship questions that a table cannot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BC13E-6F86-44DA-8D03-8DF00B6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The value is selective graph composition: choose which entities and relationships matter for the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2529A-D4A4-4E2F-BF3B-8115B13D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138E7-ADF3-4534-BB4B-ED6E492D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5B6F6-7A6F-44F3-81A9-CE80A7E5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858EC-ECD2-4A7B-9A1A-B25587A0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Question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756A2-EDA8-43AA-8F5D-371B7091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07812-1172-4544-9705-B78778EE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2228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topics connect to which institutions?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E8AFF-4A27-468B-92EB-9FC0E221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40AA2-4002-495D-BB07-0E34D1C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2228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9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papers cite AC core work?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FDB9A-4BD0-4CF0-A49B-AE2123F3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D2DF-E7CD-457D-A9F6-53361888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81450"/>
            <a:ext cx="2228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methods appear across multiple AC-related papers?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873EA-581B-48A5-BF7E-D67A9B96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CF126-E4A4-41DA-B9A4-8C93A1EA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22288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Which funders or programs are visible in evidence?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3815A-D692-4002-9F62-06733C0C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ED0F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4DB95-F74D-4651-9792-580C3DE2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Interaction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24D61-4424-42A1-A480-D0A563DE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A558C-5409-4B40-AE60-1B67A759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22288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Toggle node types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193DE-9180-410B-A1E8-EEBB3A3F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E11B1-FB48-403B-8AF4-5D21FA3B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22288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Toggle edge types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CF9AC-8776-490D-A469-F56BFA7C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058BA-7079-443D-A8F4-EC4A561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90950"/>
            <a:ext cx="22288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Use TimeSlider by year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07E69-9EC8-4708-A4B4-B2A702F9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1858E-49F0-4B65-B0BC-1C53F331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52900"/>
            <a:ext cx="22288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61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Click a node to focus ego 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11F31-5A4F-445A-93A9-CB39F27E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0AEC2-6F23-4986-B24F-88C5456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14850"/>
            <a:ext cx="22288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Group by institution, topic, country, era, label, community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C790C-9957-4309-A12E-6E62DDC3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E8D6A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4102A-91E1-4E18-93CD-8FF9C71B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861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7861A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CB381-840B-4735-BAF6-FBB31F21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1714500" cy="1143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A visual map of how AC-attributed papers connect people, places, topics, methods, funding, and citation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5340494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F2B80C-DB8F-47FF-AB4F-80429237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6416C-F228-4031-A14B-191DBD0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10 · Consumer 3: Co-author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B62DC-3CE5-4964-A1FD-9DA12AA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co-author page helps decide who AC should pay attention 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0CF47-C24C-4DCC-B5D1-FAE4113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It moves from visualization to prioritization: which people are important under a chosen lens?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C8025-D891-4ACA-A3FB-99EE2752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7CCC2-9CE3-4C10-88CD-E63B304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68BDD-325B-416D-8EC6-FE14E339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286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A309D-93EF-4DAE-90C6-82BB8BE9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7A93B-F7B2-4D89-949B-0D3AC45B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3F62C-0852-4257-8889-5E7EC5A5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30861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05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For a given topic or AC-relevant corpus, identify external collaborators or bridge authors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CBF3E-FAB8-477F-83AC-D8E76E07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1DB40-0C96-47CA-B50D-4B4DADA7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30861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Switch between author network and institution heatmap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5F1A2-A1CD-4110-9900-30150E2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82763-995E-4BF1-A2FB-174B916B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30861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036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Click a person to see papers, collaborators, and importance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4B43D-604E-4D33-9151-F6080318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4286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BBD8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350B3-DBE1-4F6D-85C2-3E478FD8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476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Six dimensions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49804-11C9-4CC6-94C2-03019A98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2954E-6DB7-403D-8F66-3FB5C79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6098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AC proximity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3392B-5F4C-44B0-9FC0-C1F4B78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6AB6C-69C5-482F-B62C-4CFD01D2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6098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Relationship strength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DD56E-EB62-4442-81BE-6D1362C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B12FA-B53C-43FC-A586-59415AA3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26098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Excess centrality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E9344-3082-47D8-8CF2-B652C519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4775E-8575-422F-B201-41A2FD5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26098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Cross-SDL diversity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CAE4F-F072-47FA-8712-054E618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AF86F-BC5A-4B81-AED0-3A25848E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26098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Citation affinity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E7565-EE5C-4B82-BA3A-B2125777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308A9-7555-4D61-ACB7-D0E197D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2609850" cy="238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Recency</a:t>
            </a:r>
          </a:p>
        </p:txBody>
      </p:sp>
    </p:spTree>
    <p:extLst>
      <p:ext uri="{BB962C8B-B14F-4D97-AF65-F5344CB8AC3E}">
        <p14:creationId xmlns:p14="http://schemas.microsoft.com/office/powerpoint/2010/main" val="99190427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EFBA2-86D5-4186-B824-2BDEC534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0C7D6-BF6D-4EAB-A190-42FCD6DE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11 · Co-author importance formula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1C4DD-5019-47DA-8CE7-E57A999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importance score is adjustable, but normalized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6BB77-CC43-488B-A984-92BA12B4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If AC disagrees with the default lens, the page can change the weights and recompute.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15837-E0C2-41A4-9A88-DFC69DE1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5B652-34BD-4BFF-BC29-1B72CE0D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565A7-816C-4F44-A4F3-F4E8886D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810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7FF8D-CD4D-4E50-B585-95E32CD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6475"/>
            <a:ext cx="74676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importance(person) = Σ wi · dimensioni(person)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DD2D7-2267-4F7C-8305-3A7CAFE9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667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BBD8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549AD-8319-4C72-AF40-E1C57FC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90875"/>
            <a:ext cx="23241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Σ wi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9B2B2-DF2E-4904-B543-690CFF09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6F73D-DA7B-4719-96AA-1B161778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AC attribution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1D91A-9DCE-42D5-8E55-83986D1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409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674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closer to AC and attributable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1B3D6-D222-4552-AE2F-D551257E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D898A-E2A3-4ECC-A22B-0228BFA9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Bridge builders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C7B24-C790-489C-8079-C9313E5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19650"/>
            <a:ext cx="1409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5565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connect AC-adjacent communities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68E1-36A3-4C5F-85CC-AF2245B5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8150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E3468-1445-45FE-9386-DF220240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52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Institution hubs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21A1D-1FC4-434A-99D9-58A2545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19650"/>
            <a:ext cx="1409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durable institution-spanning collaboration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349EE-58CE-4D18-A124-9AEA07BB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8150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C8D36-D3F3-4D5A-AC9D-5986165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757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Emerging connectors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5D6A1-B308-442D-8EEB-0BF13CF5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19650"/>
            <a:ext cx="1409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recent activity + early bridge potential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42755-4C85-495F-8175-A10586FC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1500"/>
            <a:ext cx="1676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16034-FAA2-415F-A7AF-1C6502C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52950"/>
            <a:ext cx="1428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Topic diffusion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2B94C-E734-456D-ADFB-91175D61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1409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methods moving across SDL contexts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B6389-0E6E-4D93-AE0A-23BB269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81915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Talk track: this is not a fixed black-box ranking. The lens can be adjusted depending on whether AC cares about attribution, bridges, emerging people, or topic diffusion.</a:t>
            </a:r>
          </a:p>
        </p:txBody>
      </p:sp>
    </p:spTree>
    <p:extLst>
      <p:ext uri="{BB962C8B-B14F-4D97-AF65-F5344CB8AC3E}">
        <p14:creationId xmlns:p14="http://schemas.microsoft.com/office/powerpoint/2010/main" val="3111633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D4668-EDAB-4537-9830-D29DA39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70269-8CB1-4A99-A98E-36A2F583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12 · AC members / People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B66D5-958F-437F-9B36-AD1AADA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people view turns AC members into a structured periodic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40E3D-2C02-490C-89A6-B88D0F45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This gives a simple entry point into the member-centric view of the knowledge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CD242-E011-4621-BFB4-10019E2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4F95F-DA74-4DB4-B171-5398F2A8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57E6D-B458-4205-A98A-2B753522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286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31029-D89B-4F7C-9807-0B19930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857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Periodic table of 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BBB3A-5421-4822-AE1F-1DFDD2C0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1DDF8-2592-48D9-97AD-AAB8913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31813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Each AC member is an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0B3BB-1267-4BBE-BD99-5C584C42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C62B9-2FF2-4351-8524-AA46DDBD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31813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Symbol = two letters from surname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BB0DD-4891-4D55-975B-E3BA0C90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67C0-86F1-466E-97E6-62986C3A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31813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02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Atomic number = number of attributed papers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59842-B155-4E55-876E-92B9DA9E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A693F-7A41-4FE1-8C0D-7AC606D1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31813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3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Color = top research topic / SDL category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C1B3E-8AA8-443D-8A0F-778A6CE6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FA2FE-F6F6-4CE9-B4A4-FADE3BEB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31813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04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Click a person to see papers and focus the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CB2C5-B960-478A-8086-D81437B2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4286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ED0F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B4665-D8FF-4945-9950-5ABAFD3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Next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1E796-5DA1-49C9-90CE-8904F248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A2D08-AB32-42E5-ACBA-4C364384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29908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Member-specific paper 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A7B9C-C243-4753-B70B-F60220D6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8644A-145C-4239-A5EF-448D2E4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19500"/>
            <a:ext cx="29908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Personal collaboration graph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06DBB-0893-4DDD-B812-32179E65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FD6BF-3C70-4389-B632-9C6E9774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29908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Topic / method / institution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73127-373C-4516-8D03-D062A8C0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00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A5A50-265E-40A9-B382-66C4F3F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29908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27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Long-term view of how AC influence radiates through the global research network</a:t>
            </a:r>
          </a:p>
        </p:txBody>
      </p:sp>
    </p:spTree>
    <p:extLst>
      <p:ext uri="{BB962C8B-B14F-4D97-AF65-F5344CB8AC3E}">
        <p14:creationId xmlns:p14="http://schemas.microsoft.com/office/powerpoint/2010/main" val="1261099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2B6D45-3BA7-47DE-9FD9-4EB5F69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577EE-1F6F-4CCA-BA05-483FD4CB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13 · What to align with 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DED4F-080C-49C6-B880-0918BD1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demo should end with decisions, not just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10ABD-1013-45E5-BAB6-633178C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These choices determine how the system should behave over repeated update cycles.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E9478-5BAF-4628-9B3D-130C846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581B8-968E-41D2-91AF-C665FE8C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B6177-6176-46D1-9236-CF2E61F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047C4-055C-472F-B572-1C15DBB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86106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Label policy: what exactly counts as AC, SDL-field, adjacent, uncertain, and exclude?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891B5-9CCC-4B7E-A3D3-B549FF00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2F752-7A8D-447E-B875-D16693B0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24150"/>
            <a:ext cx="86106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Evidence standard: when can a paper automatically enter the AC knowledge base?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9CFCE-95F9-41C0-8DA6-7064BBF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EED72-20EB-49EA-B4A3-33125E7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52800"/>
            <a:ext cx="86106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Review policy: who reviews high-priority non-gold / uncertain papers, and how often?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1B984-2BAA-43DC-BE69-CD9C826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5B981-05D4-435C-96C9-A96E3E81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86106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52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Graph policy: which relationships matter most for AC: coauthor, citation, topic, method, funding?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629D4-8DFA-4347-881E-2AD88977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9CF42-C158-4AD4-87B7-49A43C15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86106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People policy: which importance lens should guide outreach or collaboration analysis?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B09D1-EE87-411C-8750-FDF860A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B6AC1-988C-4235-9BC3-DA9A5C28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86106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Reporting policy: which metrics can be used in leadership or funder-facing claims?</a:t>
            </a:r>
          </a:p>
        </p:txBody>
      </p:sp>
    </p:spTree>
    <p:extLst>
      <p:ext uri="{BB962C8B-B14F-4D97-AF65-F5344CB8AC3E}">
        <p14:creationId xmlns:p14="http://schemas.microsoft.com/office/powerpoint/2010/main" val="1505071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28DF0-DD87-423C-A548-D4AF61F0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E4A19-D35A-40B2-9A29-0B506144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14 · Proposed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CED99-15D1-4815-B7BA-1CC3F059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010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Run the workflow on a real broad batch and calibrate with AC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DBC7F-4480-4EF7-B7E5-A652694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The current platform is ready to support the first operating-cycle discussion.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E7FDD-2B61-43F5-B80E-2C25239A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83AE7-EA7C-428C-8E06-245F547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8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8D"/>
                </a:solidFill>
                <a:latin typeface="Aptos"/>
                <a:ea typeface="Aptos"/>
                <a:cs typeface="Aptos"/>
              </a:rPr>
              <a:t>AC paper attribution system ·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89BD-32C3-4192-89DE-8EBEACDB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AC6CE-C33F-459F-A51F-71729DE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3429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27D1E-53D6-443D-8C95-AA9D39F7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Run broad ingest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0F335-87CC-498F-8D48-FC45F97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21907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Use a 2,000-3,000 paper search result and let the system classify + build evidence pages.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6710F-88CA-4636-9D2C-FE3486A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28916-3BFA-42C5-8229-FBBDFF5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429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49748-8210-49F8-A2A6-221D4042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60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Review border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941AA-D685-44F2-ACA6-824C8737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21907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1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Use evidence drawer, Wiki, Agentic RAG, and Multi-Graph to inspect uncertain or high-value papers.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0ADC3-1767-4EFB-B860-230A9E7D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65C4-B834-4E4C-A610-64BDA4D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34290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861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861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5F1F9-5AC7-4259-A050-452943E1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190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8386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Tune operating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5929A-0255-4EB7-B50F-FFA9D512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21907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1"/>
                </a:solidFill>
                <a:latin typeface="Aptos"/>
                <a:ea typeface="Aptos"/>
                <a:cs typeface="Aptos"/>
              </a:rPr>
              <a:t>Adjust thresholds, review rules, graph lenses, and people-importance profiles.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F9BFD-E577-4C8B-AA59-3061AA18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9700"/>
            <a:ext cx="84582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rmAutofit fontScale="7371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42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424D"/>
                </a:solidFill>
                <a:latin typeface="Aptos"/>
                <a:ea typeface="Aptos"/>
                <a:cs typeface="Aptos"/>
              </a:rPr>
              <a:t>Target outcome: a defensible, repeatable AC literature attribution workflow that becomes smarter as the database grows.</a:t>
            </a:r>
          </a:p>
        </p:txBody>
      </p:sp>
    </p:spTree>
    <p:extLst>
      <p:ext uri="{BB962C8B-B14F-4D97-AF65-F5344CB8AC3E}">
        <p14:creationId xmlns:p14="http://schemas.microsoft.com/office/powerpoint/2010/main" val="678195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2026-06-05T14:23:31.2760000Z</dcterms:created>
  <dcterms:modified xsi:type="dcterms:W3CDTF">2026-06-05T14:23:31.2760000Z</dcterms:modified>
</coreProperties>
</file>