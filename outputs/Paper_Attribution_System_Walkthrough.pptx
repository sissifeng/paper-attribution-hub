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aa20d25e94bff" /><Relationship Type="http://schemas.openxmlformats.org/officeDocument/2006/relationships/extended-properties" Target="/docProps/app.xml" Id="R4f0369c3bce8430d" /><Relationship Type="http://schemas.openxmlformats.org/officeDocument/2006/relationships/officeDocument" Target="/ppt/presentation.xml" Id="Rd4d1a0ced69045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93c66a52f4238"/>
  </p:sldMasterIdLst>
  <p:notesMasterIdLst>
    <p:notesMasterId xmlns:r="http://schemas.openxmlformats.org/officeDocument/2006/relationships" r:id="Rf5f5b2e033c743b3"/>
  </p:notesMasterIdLst>
  <p:sldIdLst>
    <p:sldId xmlns:r="http://schemas.openxmlformats.org/officeDocument/2006/relationships" id="256" r:id="R2ea3d745a95d4e8a"/>
    <p:sldId xmlns:r="http://schemas.openxmlformats.org/officeDocument/2006/relationships" id="257" r:id="R3b47a98ba0674467"/>
    <p:sldId xmlns:r="http://schemas.openxmlformats.org/officeDocument/2006/relationships" id="258" r:id="R6b107f200a744609"/>
    <p:sldId xmlns:r="http://schemas.openxmlformats.org/officeDocument/2006/relationships" id="259" r:id="Reb702f2553e042ef"/>
    <p:sldId xmlns:r="http://schemas.openxmlformats.org/officeDocument/2006/relationships" id="260" r:id="Rd8cdbef843cf426a"/>
    <p:sldId xmlns:r="http://schemas.openxmlformats.org/officeDocument/2006/relationships" id="261" r:id="Refa4df0d30b149fc"/>
    <p:sldId xmlns:r="http://schemas.openxmlformats.org/officeDocument/2006/relationships" id="262" r:id="R73157ac0274f4cbe"/>
    <p:sldId xmlns:r="http://schemas.openxmlformats.org/officeDocument/2006/relationships" id="263" r:id="R862b767d09984d5d"/>
    <p:sldId xmlns:r="http://schemas.openxmlformats.org/officeDocument/2006/relationships" id="264" r:id="R0a0b462581154d93"/>
    <p:sldId xmlns:r="http://schemas.openxmlformats.org/officeDocument/2006/relationships" id="265" r:id="R519cf9ebf5b24681"/>
    <p:sldId xmlns:r="http://schemas.openxmlformats.org/officeDocument/2006/relationships" id="266" r:id="Ra2ec89634d6e4eec"/>
    <p:sldId xmlns:r="http://schemas.openxmlformats.org/officeDocument/2006/relationships" id="267" r:id="Rf6d460887aca47af"/>
    <p:sldId xmlns:r="http://schemas.openxmlformats.org/officeDocument/2006/relationships" id="268" r:id="R14d4a5cc55064536"/>
    <p:sldId xmlns:r="http://schemas.openxmlformats.org/officeDocument/2006/relationships" id="269" r:id="Rabafdf7b9c824878"/>
    <p:sldId xmlns:r="http://schemas.openxmlformats.org/officeDocument/2006/relationships" id="270" r:id="R3e6aefcd93c249dc"/>
    <p:sldId xmlns:r="http://schemas.openxmlformats.org/officeDocument/2006/relationships" id="271" r:id="R76c516fdd3a9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ee36544e940ea" /><Relationship Type="http://schemas.openxmlformats.org/officeDocument/2006/relationships/slideMaster" Target="/ppt/slideMasters/slideMaster1.xml" Id="Ra7893c66a52f4238" /><Relationship Type="http://schemas.openxmlformats.org/officeDocument/2006/relationships/notesMaster" Target="/ppt/notesMasters/notesMaster1.xml" Id="Rf5f5b2e033c743b3" /><Relationship Type="http://schemas.openxmlformats.org/officeDocument/2006/relationships/presProps" Target="/ppt/presProps.xml" Id="R805b63d644964092" /><Relationship Type="http://schemas.openxmlformats.org/officeDocument/2006/relationships/tableStyles" Target="/ppt/tableStyles.xml" Id="Rd8a97159f18b4af1" /><Relationship Type="http://schemas.openxmlformats.org/officeDocument/2006/relationships/slide" Target="/ppt/slides/slide1.xml" Id="R2ea3d745a95d4e8a" /><Relationship Type="http://schemas.openxmlformats.org/officeDocument/2006/relationships/slide" Target="/ppt/slides/slide2.xml" Id="R3b47a98ba0674467" /><Relationship Type="http://schemas.openxmlformats.org/officeDocument/2006/relationships/slide" Target="/ppt/slides/slide3.xml" Id="R6b107f200a744609" /><Relationship Type="http://schemas.openxmlformats.org/officeDocument/2006/relationships/slide" Target="/ppt/slides/slide4.xml" Id="Reb702f2553e042ef" /><Relationship Type="http://schemas.openxmlformats.org/officeDocument/2006/relationships/slide" Target="/ppt/slides/slide5.xml" Id="Rd8cdbef843cf426a" /><Relationship Type="http://schemas.openxmlformats.org/officeDocument/2006/relationships/slide" Target="/ppt/slides/slide6.xml" Id="Refa4df0d30b149fc" /><Relationship Type="http://schemas.openxmlformats.org/officeDocument/2006/relationships/slide" Target="/ppt/slides/slide7.xml" Id="R73157ac0274f4cbe" /><Relationship Type="http://schemas.openxmlformats.org/officeDocument/2006/relationships/slide" Target="/ppt/slides/slide8.xml" Id="R862b767d09984d5d" /><Relationship Type="http://schemas.openxmlformats.org/officeDocument/2006/relationships/slide" Target="/ppt/slides/slide9.xml" Id="R0a0b462581154d93" /><Relationship Type="http://schemas.openxmlformats.org/officeDocument/2006/relationships/slide" Target="/ppt/slides/slide10.xml" Id="R519cf9ebf5b24681" /><Relationship Type="http://schemas.openxmlformats.org/officeDocument/2006/relationships/slide" Target="/ppt/slides/slide11.xml" Id="Ra2ec89634d6e4eec" /><Relationship Type="http://schemas.openxmlformats.org/officeDocument/2006/relationships/slide" Target="/ppt/slides/slide12.xml" Id="Rf6d460887aca47af" /><Relationship Type="http://schemas.openxmlformats.org/officeDocument/2006/relationships/slide" Target="/ppt/slides/slide13.xml" Id="R14d4a5cc55064536" /><Relationship Type="http://schemas.openxmlformats.org/officeDocument/2006/relationships/slide" Target="/ppt/slides/slide14.xml" Id="Rabafdf7b9c824878" /><Relationship Type="http://schemas.openxmlformats.org/officeDocument/2006/relationships/slide" Target="/ppt/slides/slide15.xml" Id="R3e6aefcd93c249dc" /><Relationship Type="http://schemas.openxmlformats.org/officeDocument/2006/relationships/slide" Target="/ppt/slides/slide16.xml" Id="R76c516fdd3a9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886add0e2f49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0a8399fc264333" /><Relationship Type="http://schemas.openxmlformats.org/officeDocument/2006/relationships/notesMaster" Target="/ppt/notesMasters/notesMaster1.xml" Id="R93e1ee22540145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08af00974d4d16" /><Relationship Type="http://schemas.openxmlformats.org/officeDocument/2006/relationships/notesMaster" Target="/ppt/notesMasters/notesMaster1.xml" Id="R0283e594680142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1c75c2f2a84258" /><Relationship Type="http://schemas.openxmlformats.org/officeDocument/2006/relationships/notesMaster" Target="/ppt/notesMasters/notesMaster1.xml" Id="R9a8c75b11a5a4f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23d4b9c6744c5" /><Relationship Type="http://schemas.openxmlformats.org/officeDocument/2006/relationships/notesMaster" Target="/ppt/notesMasters/notesMaster1.xml" Id="R6f7f9ae983774f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eebae36c47421d" /><Relationship Type="http://schemas.openxmlformats.org/officeDocument/2006/relationships/notesMaster" Target="/ppt/notesMasters/notesMaster1.xml" Id="Re6e0ecf6db8844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05161e21346f9" /><Relationship Type="http://schemas.openxmlformats.org/officeDocument/2006/relationships/notesMaster" Target="/ppt/notesMasters/notesMaster1.xml" Id="R567f7437eadb4e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3e77184eda4411" /><Relationship Type="http://schemas.openxmlformats.org/officeDocument/2006/relationships/notesMaster" Target="/ppt/notesMasters/notesMaster1.xml" Id="R7b202f293a664b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64f651273480b" /><Relationship Type="http://schemas.openxmlformats.org/officeDocument/2006/relationships/notesMaster" Target="/ppt/notesMasters/notesMaster1.xml" Id="R94d01627945e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6cd93571b8465b" /><Relationship Type="http://schemas.openxmlformats.org/officeDocument/2006/relationships/notesMaster" Target="/ppt/notesMasters/notesMaster1.xml" Id="R85e3c7a0a7d944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6e88fbee274c3f" /><Relationship Type="http://schemas.openxmlformats.org/officeDocument/2006/relationships/notesMaster" Target="/ppt/notesMasters/notesMaster1.xml" Id="R74fc3cdbf62e4b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caf20081f84dc5" /><Relationship Type="http://schemas.openxmlformats.org/officeDocument/2006/relationships/notesMaster" Target="/ppt/notesMasters/notesMaster1.xml" Id="R08deb082c31845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b551b9ca1f4458" /><Relationship Type="http://schemas.openxmlformats.org/officeDocument/2006/relationships/notesMaster" Target="/ppt/notesMasters/notesMaster1.xml" Id="R1951ec8d79754c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4ea267b19842ac" /><Relationship Type="http://schemas.openxmlformats.org/officeDocument/2006/relationships/notesMaster" Target="/ppt/notesMasters/notesMaster1.xml" Id="R45c37373623d4f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db214bf1fe4c53" /><Relationship Type="http://schemas.openxmlformats.org/officeDocument/2006/relationships/notesMaster" Target="/ppt/notesMasters/notesMaster1.xml" Id="R61259b8d2e504a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12fbc8ab5644d9" /><Relationship Type="http://schemas.openxmlformats.org/officeDocument/2006/relationships/notesMaster" Target="/ppt/notesMasters/notesMaster1.xml" Id="R5aea88d3bf9442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794ce91f4644cb" /><Relationship Type="http://schemas.openxmlformats.org/officeDocument/2006/relationships/notesMaster" Target="/ppt/notesMasters/notesMaster1.xml" Id="R7794dfd3c78e43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this is a data-quality and evidence system, not a generic paper manager.</a:t>
            </a:r>
          </a:p>
          <a:p xmlns:a="http://schemas.openxmlformats.org/drawingml/2006/main">
            <a:r>
              <a:t>The walkthrough follows the same path as the data — from ingestion, through classification, into reusable cross-SDL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Generated visual: built-in OpenAI image generation; prompt recorded in 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optimizes for traceability before sophistication.</a:t>
            </a:r>
          </a:p>
          <a:p xmlns:a="http://schemas.openxmlformats.org/drawingml/2006/main">
            <a:r>
              <a:t>That constraint is what later allows classified papers to become safe inputs to knowledge generation instead of detached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Local design record: 0708.md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and emphasize that each stage produces a stored, inspectable asset.</a:t>
            </a:r>
          </a:p>
          <a:p xmlns:a="http://schemas.openxmlformats.org/drawingml/2006/main">
            <a:r>
              <a:t>The LLM boundary is architectural: facts originate in the database, extracted chunks, propositions, graph, and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Local sources: backend/app/services/fulltext_service.py; backend/app/services/chunking_service.py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accuracy is bounded by identity and provenance quality.</a:t>
            </a:r>
          </a:p>
          <a:p xmlns:a="http://schemas.openxmlformats.org/drawingml/2006/main">
            <a:r>
              <a:t>A resolved author or institution is not just metadata cleanup — it changes the evidence available to the rule engine and the attribution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Local sources: backend/app/services/author_matching_service.py; backend/app/services/fulltext_service.py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conceptual slide: the classifier is a hybrid evidence system, not one opaque model.</a:t>
            </a:r>
          </a:p>
          <a:p xmlns:a="http://schemas.openxmlformats.org/drawingml/2006/main">
            <a:r>
              <a:t>Graph proximity and citation evidence are shown as one family because both originate from graph structure, although they enter the confidence blend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backend/app/services/relevance_classifier.py</a:t>
            </a:r>
          </a:p>
          <a:p xmlns:a="http://schemas.openxmlformats.org/drawingml/2006/main">
            <a:r>
              <a:t>- Local source: backend/app/services/graph_service.py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topic scoring is deliberately conservative: exact scientific phrases are protected against substring errors and negation.</a:t>
            </a:r>
          </a:p>
          <a:p xmlns:a="http://schemas.openxmlformats.org/drawingml/2006/main">
            <a:r>
              <a:t>The optional embedding component is blended after lexical safeguards, with lambda defaulting to 0.4.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backend/app/services/topic_classifier.py</a:t>
            </a:r>
          </a:p>
          <a:p xmlns:a="http://schemas.openxmlformats.org/drawingml/2006/main">
            <a:r>
              <a:t>- Local source: backend/app/config.py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scoring function is section-aware and type-capped.</a:t>
            </a:r>
          </a:p>
          <a:p xmlns:a="http://schemas.openxmlformats.org/drawingml/2006/main">
            <a:r>
              <a:t>A funding acknowledgement is stronger than a single method phrase, but repeated occurrences are capped so the score remains evidence-diverse.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backend/app/services/evidence_extractor.py</a:t>
            </a:r>
          </a:p>
          <a:p xmlns:a="http://schemas.openxmlformats.org/drawingml/2006/main">
            <a:r>
              <a:t>- Local source: backend/app/services/relevance_classifier.py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confidence blend is useful for ranking and review prioritization, but it is not the final semantic decision.</a:t>
            </a:r>
          </a:p>
          <a:p xmlns:a="http://schemas.openxmlformats.org/drawingml/2006/main">
            <a:r>
              <a:t>The rule tree creates necessary conditions for CORE, RELATED, ADJACENT, UNCERTAIN, and EXCLUDE.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backend/app/services/relevance_classifier.py</a:t>
            </a:r>
          </a:p>
          <a:p xmlns:a="http://schemas.openxmlformats.org/drawingml/2006/main">
            <a:r>
              <a:t>- Local source: backend/app/config.py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dual-axis model prevents a common bibliometric error: conflating field relevance with organizational attribution.</a:t>
            </a:r>
          </a:p>
          <a:p xmlns:a="http://schemas.openxmlformats.org/drawingml/2006/main">
            <a:r>
              <a:t>In the current implementation, verified AC gold evidence gates AC-facing labels, while strong SDL evidence can still produce SDL_FIELD_RELEVANT.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backend/app/services/scopus_classifier.py</a:t>
            </a:r>
          </a:p>
          <a:p xmlns:a="http://schemas.openxmlformats.org/drawingml/2006/main">
            <a:r>
              <a:t>- Local source: backend/app/services/relevance_classifier.py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graph signal is not a GNN.</a:t>
            </a:r>
          </a:p>
          <a:p xmlns:a="http://schemas.openxmlformats.org/drawingml/2006/main">
            <a:r>
              <a:t>It uses personalized PageRank seeded on AC evidence, an Evans–Chen excess-centrality boost, and a bounded citation score. Second-degree paths are saved for auditability.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backend/app/services/graph_service.py</a:t>
            </a:r>
          </a:p>
          <a:p xmlns:a="http://schemas.openxmlformats.org/drawingml/2006/main">
            <a:r>
              <a:t>- Local source: backend/app/services/graph_feature_baseline.py</a:t>
            </a:r>
          </a:p>
          <a:p xmlns:a="http://schemas.openxmlformats.org/drawingml/2006/main">
            <a:r>
              <a:t>- Local source: backend/docs/gnn_graph_ml_development_plan.md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AET is the system's auditability layer: it represents why a paper received a label and points back to the exact evidence.</a:t>
            </a:r>
          </a:p>
          <a:p xmlns:a="http://schemas.openxmlformats.org/drawingml/2006/main">
            <a:r>
              <a:t>This is also the bridge to reusable knowledge because the same evidence paths can feed provenance-aware extraction rather than a context-free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backend/app/services/attribution_evidence_scoring.py</a:t>
            </a:r>
          </a:p>
          <a:p xmlns:a="http://schemas.openxmlformats.org/drawingml/2006/main">
            <a:r>
              <a:t>- Local source: backend/app/services/attribution_evidence_tree.py</a:t>
            </a:r>
          </a:p>
          <a:p xmlns:a="http://schemas.openxmlformats.org/drawingml/2006/main">
            <a:r>
              <a:t>- Local design record: 0708.md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right place to discuss Claude credits: use them to fund bounded adjudication agents, evidence explanations, and review acceleration.</a:t>
            </a:r>
          </a:p>
          <a:p xmlns:a="http://schemas.openxmlformats.org/drawingml/2006/main">
            <a:r>
              <a:t>Do not replace the deterministic classifier or the human-confirmed lock with an LLM. The learned classifier is also optional and only overrides on a high-confidence, high-margin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backend/app/services/llm_judge.py</a:t>
            </a:r>
          </a:p>
          <a:p xmlns:a="http://schemas.openxmlformats.org/drawingml/2006/main">
            <a:r>
              <a:t>- Local source: backend/app/services/learned_classifier.py</a:t>
            </a:r>
          </a:p>
          <a:p xmlns:a="http://schemas.openxmlformats.org/drawingml/2006/main">
            <a:r>
              <a:t>- Local source: backend/app/api/reviews.py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presenting a single accuracy number as the full quality story.</a:t>
            </a:r>
          </a:p>
          <a:p xmlns:a="http://schemas.openxmlformats.org/drawingml/2006/main">
            <a:r>
              <a:t>A bibliometric dataset can have reasonable label F1 and still be operationally unsafe if identities are wrong, evidence paths are weak, or humans frequently correct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backend/app/services/evaluation_service.py</a:t>
            </a:r>
          </a:p>
          <a:p xmlns:a="http://schemas.openxmlformats.org/drawingml/2006/main">
            <a:r>
              <a:t>- Local source: backend/app/services/graph_feature_baseline.py</a:t>
            </a:r>
          </a:p>
          <a:p xmlns:a="http://schemas.openxmlformats.org/drawingml/2006/main">
            <a:r>
              <a:t>- Local source: backend/docs/gnn_graph_ml_development_plan.md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Transferable Knowledge Unit captures a method core, assumptions, lessons, and domain bindings while preserving sources.</a:t>
            </a:r>
          </a:p>
          <a:p xmlns:a="http://schemas.openxmlformats.org/drawingml/2006/main">
            <a:r>
              <a:t>The deterministic transfer designer and evolutionary search then match TKU combinations to a different SDL target, balancing match strength, novelty, transferability, evidence, and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backend/app/services/tku_extractor.py</a:t>
            </a:r>
          </a:p>
          <a:p xmlns:a="http://schemas.openxmlformats.org/drawingml/2006/main">
            <a:r>
              <a:t>- Local source: backend/app/services/transfer_designer.py</a:t>
            </a:r>
          </a:p>
          <a:p xmlns:a="http://schemas.openxmlformats.org/drawingml/2006/main">
            <a:r>
              <a:t>- Local source: backend/app/services/evolutionary_transfer_service.py</a:t>
            </a:r>
          </a:p>
          <a:p xmlns:a="http://schemas.openxmlformats.org/drawingml/2006/main">
            <a:r>
              <a:t>- Local source: backend/app/services/kb_service.py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roadmap is capability-gated, not date-gated.</a:t>
            </a:r>
          </a:p>
          <a:p xmlns:a="http://schemas.openxmlformats.org/drawingml/2006/main">
            <a:r>
              <a:t>The key sequencing choice is to validate the dataset and AET first, then use Claude and graph learning as bounded experiments, and only then scale cross-SDL transfer and knowledge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backend/docs/development_progress.md</a:t>
            </a:r>
          </a:p>
          <a:p xmlns:a="http://schemas.openxmlformats.org/drawingml/2006/main">
            <a:r>
              <a:t>- Local source: backend/docs/gnn_graph_ml_development_plan.md</a:t>
            </a:r>
          </a:p>
          <a:p xmlns:a="http://schemas.openxmlformats.org/drawingml/2006/main">
            <a:r>
              <a:t>- Local sources: backend/app/services/attribution_evidence_tree.py; backend/app/services/evolutionary_transfer_service.py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system principle: the bibliometric dataset is the first layer of a knowledge infrastructure, not an end-state spreadsheet.</a:t>
            </a:r>
          </a:p>
          <a:p xmlns:a="http://schemas.openxmlformats.org/drawingml/2006/main">
            <a:r>
              <a:t>Use the three questions to move the meeting from architecture review into concrete scope, governance, and Claude-credit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backend/docs/technical_overview.md</a:t>
            </a:r>
          </a:p>
          <a:p xmlns:a="http://schemas.openxmlformats.org/drawingml/2006/main">
            <a:r>
              <a:t>- Local sources: backend/app/services/attribution_evidence_tree.py; backend/app/services/tku_extractor.py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97ec25221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6283e273584a6b" /><Relationship Type="http://schemas.openxmlformats.org/officeDocument/2006/relationships/slideLayout" Target="/ppt/slideLayouts/slideLayout1.xml" Id="R711086894454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086894454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88da8fda14cac" /><Relationship Type="http://schemas.openxmlformats.org/officeDocument/2006/relationships/image" Target="/ppt/media/image.png" Id="Rfc1c2729f9a6432c" /><Relationship Type="http://schemas.openxmlformats.org/officeDocument/2006/relationships/notesSlide" Target="/ppt/notesSlides/notesSlide1.xml" Id="R7f0feb810b3648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a641294b84f58" /><Relationship Type="http://schemas.openxmlformats.org/officeDocument/2006/relationships/notesSlide" Target="/ppt/notesSlides/notesSlide2.xml" Id="R08327e84e8ca46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52d167c0843e5" /><Relationship Type="http://schemas.openxmlformats.org/officeDocument/2006/relationships/notesSlide" Target="/ppt/notesSlides/notesSlide3.xml" Id="R4d0d2ae9a62449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018d7e09f4efb" /><Relationship Type="http://schemas.openxmlformats.org/officeDocument/2006/relationships/notesSlide" Target="/ppt/notesSlides/notesSlide4.xml" Id="R9db0220955db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01407b48c47b1" /><Relationship Type="http://schemas.openxmlformats.org/officeDocument/2006/relationships/notesSlide" Target="/ppt/notesSlides/notesSlide5.xml" Id="Rc0926c70919840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71bb622e94755" /><Relationship Type="http://schemas.openxmlformats.org/officeDocument/2006/relationships/notesSlide" Target="/ppt/notesSlides/notesSlide6.xml" Id="R167eb97af8c047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00cc216d14b49" /><Relationship Type="http://schemas.openxmlformats.org/officeDocument/2006/relationships/notesSlide" Target="/ppt/notesSlides/notesSlide7.xml" Id="R0957d88c2e1b4d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ce0ab20b34b4b" /><Relationship Type="http://schemas.openxmlformats.org/officeDocument/2006/relationships/notesSlide" Target="/ppt/notesSlides/notesSlide8.xml" Id="R8104735041494b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f6e85a4194499" /><Relationship Type="http://schemas.openxmlformats.org/officeDocument/2006/relationships/notesSlide" Target="/ppt/notesSlides/notesSlide9.xml" Id="R35dbf6e0f64d4e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0777e5d464ad7" /><Relationship Type="http://schemas.openxmlformats.org/officeDocument/2006/relationships/notesSlide" Target="/ppt/notesSlides/notesSlide10.xml" Id="Rff5a1695131049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a671d2054447f" /><Relationship Type="http://schemas.openxmlformats.org/officeDocument/2006/relationships/notesSlide" Target="/ppt/notesSlides/notesSlide11.xml" Id="R00e9f158093a44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04a3bed9944d3" /><Relationship Type="http://schemas.openxmlformats.org/officeDocument/2006/relationships/notesSlide" Target="/ppt/notesSlides/notesSlide12.xml" Id="Ra68032ab51704a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28d9b541a4db3" /><Relationship Type="http://schemas.openxmlformats.org/officeDocument/2006/relationships/notesSlide" Target="/ppt/notesSlides/notesSlide13.xml" Id="R4cb4720f266743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6a2a635284a41" /><Relationship Type="http://schemas.openxmlformats.org/officeDocument/2006/relationships/notesSlide" Target="/ppt/notesSlides/notesSlide14.xml" Id="R047f7d647aee4a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59619e1344943" /><Relationship Type="http://schemas.openxmlformats.org/officeDocument/2006/relationships/notesSlide" Target="/ppt/notesSlides/notesSlide15.xml" Id="R32bf80d4ce2044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8a7e5c85f40ae" /><Relationship Type="http://schemas.openxmlformats.org/officeDocument/2006/relationships/notesSlide" Target="/ppt/notesSlides/notesSlide16.xml" Id="R6a885e78bc0f4f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c2729f9a643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E650D-7DB9-4B7C-9B72-1CBD72F6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7212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542F9-04F5-44B2-8EE5-2A117C14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866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B407E-ED65-4836-A0A1-5C01DC40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SYSTEM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84427-710F-4E3C-96FD-F6DD4B20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From Bibliometric Data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3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to Transferable Scientific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3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31D8F-E0FB-40D6-A64C-D0770433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An evidence-grounded paper attribution system for cross-SDL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427FD-5E16-4C01-B97F-0E00B114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B61BC-1FE0-43FF-B9E3-C8C72B1B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Classification · Attribution · Review · Knowledge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A138-D47B-4B21-BBB8-8DB03E4F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UNIVERSITY OF TORONTO · 2026</a:t>
            </a:r>
          </a:p>
        </p:txBody>
      </p:sp>
    </p:spTree>
    <p:extLst>
      <p:ext uri="{BB962C8B-B14F-4D97-AF65-F5344CB8AC3E}">
        <p14:creationId xmlns:p14="http://schemas.microsoft.com/office/powerpoint/2010/main" val="1535884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17A5C-B2C2-45B6-9C5D-E4DF0E73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THIS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D9075-400D-4856-805B-8B008744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design principle: every label must remain reusable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D5C39-AE51-441A-B5F4-82A7F13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bibliometric dataset becomes useful when each paper can be traced from raw evidence to downstream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0B902-D682-413C-8F34-18257665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F223E-5A67-4BCD-B523-8A02B448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272E3-C77A-49CD-9B0C-40B1AC2F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514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0F544-7BAE-4B49-B293-BE885810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5AF6E-659A-4C18-9DD9-BB14C78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NORMALIZED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E6596-D9A6-41D6-A549-D0100611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BA47D-AFB7-4698-9A7C-B3427CB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13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One canonical paper, author, institution, and source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03B7D-5392-49A7-A6FA-ECCD7D01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514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A52CC-99A0-4166-903F-CAA28032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7F949-3E5A-4529-8B0B-CE25E26F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CLASSIFIED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CABB5-8825-42F3-B3DA-CF490B2D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38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BD09C-6896-4557-A266-06340300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13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label with explicit evidence signals and necessary conditions.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31AD6-8AFE-4A97-8089-1A76A076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514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D2A12-FB2F-4516-A154-9277A14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57865-0E87-4EA6-A688-86E33C20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ATTRIBUTED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A258B-D69D-48A2-B768-4B357736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4CB80-09B9-4335-A4F0-DD76714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13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defensible relationship to AC, SDL practice, or adjacent fields.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06695-283D-4464-ADCD-EC2DA003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514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EE2EA-C506-4122-A51D-3A5CE403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A955C-AE4A-4910-A18B-C254DDEF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18C60-EEEE-4374-9DCC-14748F6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38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6882E-41D8-4D3C-8432-6184E1E4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213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The exact snippets, paths, rules, and human decisions remain inspectable.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B0A8E-B7DC-40E5-8B7E-196EA9BC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Not a generic paper manager. Not a chatbot that invents facts. A controlled transformation from sources to decisions.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193E6-43DA-423D-B886-E19D21E7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08ABA-E834-48F5-8BCB-DEB474D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EBBCA-A0FC-4551-900D-54F3AAD7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261838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D7BF01-CA67-47A5-81BD-24932CF8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8F398-69CB-4557-A95A-816707B3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system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93630-7911-412F-9D24-79BA7ECB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Six controlled transformations turn heterogeneous publication data into reviewable knowledge assets.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227A6-8F64-413B-AA0E-D85E1418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2A02E-A83F-42E1-9635-EC778CDF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2F553-E18F-4D64-A0C4-7D58A1D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432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9000E-7A7B-4BBE-8386-06561697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6F91C-7079-4F09-85E6-391E5A05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DACC4-EBE9-4E14-9744-0DA0847F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4CD04-70E5-4B32-85C8-E21CD6AA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432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B4AA8-40EF-47DA-9CF6-7EA3C956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14575"/>
            <a:ext cx="1466850" cy="21907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3E40D-C668-4341-AD9A-7012E286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40ABD-C035-4C5A-BF5D-0D0529F2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194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2CD9D-6C40-4EB3-A992-6A80F8F7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24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3C856-D51A-49EC-B005-721AB41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OpenAlex · Scopus · Crossref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Semantic Scholar · internal CSV/YAML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CBD23-5939-4091-8892-B6DDA943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14575"/>
            <a:ext cx="1466850" cy="21907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81C62-4932-4172-B61B-D578B933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64F29-0088-4902-AD9B-310ACE6C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194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CANONICAL CORPUS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F21F6-B5CB-4752-A6D0-6473C934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324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7AC2D-F3DB-43C6-B568-F0CEAB6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43300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Deduplicate papers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resolve authors + institutions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72B98-3493-4442-AD1C-0CB408C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14575"/>
            <a:ext cx="1466850" cy="21907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33DD1-3DEA-44DB-9875-3714B29B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945214-BA74-4498-ADF6-DEBBB2F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194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8F260-9FA6-4F6E-BF77-2F418ADF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24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A8FD8-5674-46F4-BE5B-4E6E4434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43300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Full text → chunks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entities · propositions · 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DEB93-65A6-416A-B82F-D9582160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14575"/>
            <a:ext cx="1466850" cy="21907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E0C4A4-4E15-4EF8-9CE7-AF01EA7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CDB06-9807-41C0-B694-6B2DAC4D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194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720A8-0CF4-43DE-B843-9A1FE11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24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64C669-ACDB-4060-AE8B-DF25FA61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43300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Rules + scores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CORE → EXCLUDE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047BF-037B-4B9B-AC25-6EE3EF7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14575"/>
            <a:ext cx="1466850" cy="21907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E4F2CB-D160-44CD-A14C-DA6E5737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196A8F-9AC9-45DC-86D7-269F9CF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194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D7FDC-6228-4DB6-A7D0-3ACB8F9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B5FEE3-D50B-42C1-A31A-1FD25CE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43300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Corrections · locks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feedback · audit trail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4DC2A6-2808-4131-AB51-B992FFCD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14575"/>
            <a:ext cx="1466850" cy="21907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869C4B-E510-4E58-9A7A-95B483A7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F54901-33CE-422C-A8F7-34F7929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194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9A077D-36BF-48A7-94FD-88314EB3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24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1D93CB-4F0E-4603-8E48-3ABB3545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543300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Analytics · TKUs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cross-SDL transfer designs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DB2B01-059E-40C8-86D4-448A558C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594B1C-1F95-40D7-82F3-57B45D3E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HARD BOUNDARY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7AAE2B-FF00-4713-BD12-8E21A90F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LLMs may interpret approved evidence. They may not invent papers, graph edges, measurements, citations, or numerical claims.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75131E-9567-42FD-A219-F2869568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280692-9E57-4464-9F84-27FEB205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47E4AC-4A69-462D-A1D6-01E2D9B9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757087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0928BA-1955-4399-968D-544DE69A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35917-18BA-4331-9B01-BE1A40ED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Evidence starts before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83830-20DB-49DE-9894-AF60411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Identity resolution and full-text provenance determine how trustworthy every later algorithm can be.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2D3B9-98A0-467E-B19B-CF910A0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09696-327D-4D79-B003-C8C4E25B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C2D52-8D95-451C-B0D3-79E0191D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97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HETEROGENEOUS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7E0D2-235A-444B-800C-14F28134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97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NORMALIZATION 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3E0C0-E00E-4C34-BF4A-01D1C206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9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CANONICAL EVIDENCE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0E8C0-7FF8-41F9-BCFE-FEF79550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5282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686DD-5BBA-4D36-B54E-73FD19EA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5282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DEFFF-1AAD-4A1B-8E65-EF0C82EE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4290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8DC2B-4B6C-47C4-9C4A-428B19B8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71077-3A12-4C06-BA29-1693008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146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DOI · title · abstract · year · 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6E7C6-733F-4D0D-880E-5FB8E13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68D77-7859-4554-A133-F40841F1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8512E-F94F-4375-9B11-C86DE132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289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authors · ORCID · affiliations · aliases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CB2C1-434F-412C-B491-60222B4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18E62-145D-4E91-9D9C-209E9AD6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FULL 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011EA-C23D-4091-ACF7-5A9F3EC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PDF/HTML → parsed text with provenance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E3E4B-8FF2-4E5E-AEC2-9F766EF5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97C30-1D9A-4699-88FB-C20AA9C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29826-BC53-4DFE-955C-A4F58E1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5772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 members · partners · taxonomy · gold papers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18FEB-E20E-4A64-9484-0C2DE12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34290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15059-40BF-4199-9EDC-E6DF8123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50498-BA16-4568-9C61-3012978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Deduplicate papers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F3B960-A417-4152-BE7D-E90987D8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479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C7D5D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5DF"/>
                </a:solidFill>
                <a:latin typeface="Arial"/>
                <a:ea typeface="Arial"/>
                <a:cs typeface="Arial"/>
              </a:rPr>
              <a:t>DOI, normalized title, source reconciliation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8D1503-92D4-442D-9260-4F2110B6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26D643-C567-465E-B69C-E9783627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48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Resolve people + institutions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B0FA0-835B-4FDA-96C0-D82C8BC2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62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C7D5D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5DF"/>
                </a:solidFill>
                <a:latin typeface="Arial"/>
                <a:ea typeface="Arial"/>
                <a:cs typeface="Arial"/>
              </a:rPr>
              <a:t>exact, aliases, initials, contextual fuzzy match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12D55-0045-42A6-B38E-E15AEC6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435B1-C778-44D8-AE12-5CC5CA2D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0A33D9-6063-4687-A3C1-3CA189F2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767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C7D5D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5DF"/>
                </a:solidFill>
                <a:latin typeface="Arial"/>
                <a:ea typeface="Arial"/>
                <a:cs typeface="Arial"/>
              </a:rPr>
              <a:t>sections, chunks, entities, propositions, citations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7DFD4D-4163-45CB-818E-4F0A5951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36957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B43E0E-C69A-41A0-A1FF-1E298E97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4EF04-D32C-4779-87D9-9347069E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Stable identity + source provenance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A21088-2186-4B8F-9792-00883F5F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D7B76-DA57-4E9B-B2F1-0EA3942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0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4E04B1-4884-4937-A27F-D817C906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09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9F3D95-4955-41EE-8DE1-5AEDE7BD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194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linked authors and institutional identities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2A921D-B2B0-489C-9F5A-B45A8DF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81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7217EE-6B0A-4051-A924-48BE37D9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790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AB73BA-1BB9-4E17-BD29-3BBF1A3D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004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topic and SDL evidence candidates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589098-0D69-4834-9E77-1235685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62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A76631-9047-43B7-9805-AAE25406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71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9AAB68-DCD3-4D2A-8F47-BACC39A6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source-addressable text chunks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6C77FB-AD6F-4FD9-ABA7-A58B370E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43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FDCC69-2617-4DE9-B6F0-81B59F9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52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49E435-C59D-4F92-8CDD-9A4E045A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624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citations, entities, propositions, graph edges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955C4A-E63E-40BE-82B6-839DB29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24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B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ECB0EE-8DEA-482C-895C-8DD568D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933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C86636-C1D9-40DF-97C5-554DDFA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434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review state and decision history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09539B-91AB-4678-AFFE-4C61D16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C1939C-8842-4EB3-AC25-6FA17D5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3FC92E-9B2C-4D44-A63F-5E143E60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448569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88781B-B841-44A5-A985-17F6119B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CLASSIFICATION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B8484-629F-4F93-8DA6-C79732F9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Classification is a hybrid evidence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7C0F8-1303-4C07-B16C-8E206598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production decision combines deterministic evidence families; no single model is allowed to define relevance.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D1A70-183C-4534-B84F-D66B40BB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2754-76CA-4913-B7BD-6209CE1E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58DD6-CC7E-48AE-80EF-A34F069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EA02F-1A18-4761-A963-E82D56DB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609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0A828-1ED0-4594-8D68-561C3BA1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0EF15-0372-4A3F-A271-C8E6893A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4610F-D3DB-40A3-AF16-209EA92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exact · alias · initials · contextual fuzzy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E287D-2D2B-47CF-B841-A5E26CB9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A09BA-6D6E-4A6A-90B0-6A225E84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609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680E6-C829-4BB5-946A-F4DE3408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3C6FE-F2AC-4EC9-9A80-E6C0ECC2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76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8CD98-82A1-4F7A-B6FB-3B39D126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partner aliases · affiliation normalization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C8B99-C9B9-46D9-A7B0-8E756B90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945AF-2F5F-4A01-B002-D39162E2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609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B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0CA3B-7177-4567-9A6C-BD1CBEDA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3935D-F99E-42FE-BA41-FCF35A39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53512-ABB8-4346-8805-84741B0E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242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taxonomy phrases · negation · density · embedding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FDF9F-BCA1-4762-AC99-66876F94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31328-4297-4E7C-88F3-E1E73A2F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09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86873-577D-46F4-8C7B-4D326B82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7AB16-2815-46BB-89AC-BF8FD12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FULL 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92C70-313B-4A3A-988F-A994544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funding · acknowledgements · methods · captions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1A213-262C-454C-906B-1749658B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72A61-4414-4546-A909-71C3652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609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F76B1-CA04-4C70-93F1-009EA2BE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 / Q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106E9-4AE7-4B57-BC29-E2F86C34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9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185E2-EA9E-42EA-8DA1-B0FA1512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196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author proximity · excess centrality · citations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649164-8477-40DF-ADC5-E8AE9B66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439EDF-4DA6-42CD-BB74-F6F030EA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38775"/>
            <a:ext cx="609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C32D5-9453-4C69-B231-7B51CC4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60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4D417-E826-4BD6-BE65-7E2D3BBF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67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ENTITIES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E3591-295D-429A-A036-097A108D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673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methods · instruments/software · materials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CD99C3-9125-42CD-87F2-4B102A19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695700" cy="37338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40EF1-68D9-4137-8DC9-2DE0E1C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DECISION LOGIC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248E13-3B4A-452D-8A7D-BC0DD058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Signals answer different questions.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8FC476-4375-4F1A-B234-F8BE0704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B0C37A-E082-4246-A60A-3563AA8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00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A1B99B-EEFE-48B0-AC72-BBE2622F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004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Who is involved?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BDAB28-7DEA-4134-9016-CAB51976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624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C03D36-B2C3-4D7C-A95B-A10F328B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Where is the work anchored?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26A90D-0085-4EC1-B7FD-828C0B36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BF0D6E-567E-48B5-8674-32C502AB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What scientific problem is addressed?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C285A0-7E28-4DF9-B746-2BB60274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863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C175B0-66AF-4A80-B529-B60AFE2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863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How is the work performed?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122EC5-89E0-45AF-9B32-A11B048F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482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D24960-C88D-411F-B378-D60A3EA5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482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How close is it to known AC research?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7B8D5F-E754-419C-B736-9D259F45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Result: a label plus inspectable evidence — not a probability alone.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FA568E-020C-4F10-8915-9B849778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9E9724-FDC3-4D4A-9A9B-E0EF9A11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FAB2A7-8FC6-4B1E-A530-B2B6B61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74800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71DDBD-B836-4226-9866-0ADC9077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ALGORITHM 1 · TOPIC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BC4B4-1BBD-43DD-8F86-6D7C69F2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Lexical precision first, embeddings second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5CF93-7237-4077-BE85-887F593B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topic scorer protects scientific meaning with phrase boundaries, negation checks, blacklists, and density before optional semantic similarity.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A3889-E160-4FD3-AB66-1170BA71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9EE6A-3DDF-4AC3-82EE-B2708BD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050AE-6D47-4055-9E0E-4FCBCF56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F540F-4239-420B-8052-49F5981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2D5BD-2369-4779-AC50-9ACD843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AAC63-4588-4B7E-84DB-09D18B56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81D0D-0D61-47CC-A676-0C44347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8C777-37B8-411B-A5D7-14BF5AE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E4BD1-3B33-4483-8F84-F5880311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title + abstract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B65D0-D859-4B19-84C8-ADDEE921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574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775D1-1F69-4731-B920-94A9F0B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4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PHRASES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7A510-806F-4505-AE8D-E12AB217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token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D4196-C484-4352-B3CC-CB03C5B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ED31C-0302-4ED3-AF8E-BDC7ABE1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GUARDS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1C439-870A-4366-B800-DFB99EB2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negation + blacklist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EF6D6-38D1-4BFA-A12A-11888006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74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9BEE9-99A4-4408-B2F8-40505F32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AD6D8-B99F-4D92-A9C5-8415BB6B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distinct topic hits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6ED51-7A65-4108-981D-8BA97685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A3FAF-5A36-48E3-A462-3D2CE35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A9DD7-8747-44AA-A4CD-E0A386F9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embedding cosine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9D049-B089-4DD1-9B1B-80E7C96F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695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EC6E4-0C2A-43E5-8AFE-ADC30819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KEYWORD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B4A8E-6F80-4664-BF4D-AEDB2684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24125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 = min( Σ kept phrase weights / 2 , 1 )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F93E5-157D-4CF9-B971-9C70D9BF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52800"/>
            <a:ext cx="3695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33069-3376-47C8-9360-F494DDD4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OPTIONAL SEMANTIC BLEND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06A9C6-8CAC-436D-BC39-E441E08D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2375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 = (1 − λ)K + λ · cosine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DF9A6-0A9A-473F-86C1-0C585126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7200900" cy="1628775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89E0A-5E95-4E67-81FD-691241C0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SCIENTIFIC SAFEGUARDS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CAF7CC-3A2F-4F80-BDDB-79A59B5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NEGATION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566AE-3D9D-49F0-954A-01B1819C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291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“not a closed loop” does not become positive SDL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AAB01-CC6B-49BA-9FA6-85DB53A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291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BLACKLIST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6BD2E9-7AF2-41B8-9130-619E6A9F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291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high-risk generic phrases can veto a false positive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6E97C-C289-4CE2-9DAA-5252A827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3A373A-C4D7-4D20-9BCB-D2A2A7FB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339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≥2 distinct topic groups adds a small corroboration boost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BFAEF0-45F6-4ABC-92A9-B73C3EE6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33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ADJACENT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AE4378-D80F-4567-9191-AAAEDBDA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339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adjacent-only evidence is damped and capped below 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7E8D65-EAEC-46BC-9EF1-FA2BD21A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3695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BCC2FB-6A25-43FA-B420-35A9044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λ = 0.4 by default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3CD27C-EDFC-4448-AA56-C86918E5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911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Embeddings enrich a guarded lexical score; they do not replace it.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91870B-3311-4642-9BA2-704DBA57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AA937F-0F8C-47B8-AE85-082B14E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7328E1-7064-42D3-845B-E3017231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6962360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57FC2F-884C-4762-B263-26E2FFCF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ALGORITHM 2 · FULL-TEXT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24DC4-D0BE-49B4-AE41-2CFC08D4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Section-aware, weighted, and capped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1814B-942C-4A33-ABDC-A618E37B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Evidence is extracted from semantically different regions of the paper, then aggregated without allowing one repeated phrase to dominate.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A9C5A-3EE0-4B05-92EA-3F62C7B6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4052F-2068-4DA0-ABE6-EAD076E0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F725-EB4A-44EC-AEAD-BED3C91C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99C41-43EA-4C36-8733-75F39AD6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478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TYPICAL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A4131-7460-4D2D-9855-A170B0D4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WEIGHT PER HIT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FDAD7-7EFD-4C47-89C7-97A7055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478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TYPE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6A68A-94DA-4ADC-9A65-33ED99F7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11277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B5EF1-7A20-4633-96F7-D16EAE1F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EC7DB-173A-4ECF-83F1-A37AD910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Funding acknowledgement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9E89D-0F69-48BE-B898-774CB3CF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765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Acknowledgements / funding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4637F-D2D6-4AE2-8841-0337253B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43160-4DB8-4DA8-A5AE-92F66B76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669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CABE0-90B3-4701-B89F-ED18CFE2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11277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E3A78-5ECE-4210-B87E-4EE27C1F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F0403-051B-4AD9-8487-4E38522A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Partner institution acknowledgement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9358B-E235-4F7D-A36E-04C6108B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19425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Acknowledgements / affiliations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A5325-43C1-476E-81D2-5E37BF46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+0.30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69B47-AE4E-48D9-8B79-DBA5CCDC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0.60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D9BDD-ACA5-4F5B-9795-6A2A02CA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42982-482A-404D-8073-3A87A40A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B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FD3F1-0DC7-4147-94DD-C5993FC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SDL methodology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9E744-329B-4693-B4C3-AD57DA3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Methods / experimental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2088A-9630-4C67-896C-BFF151C7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50B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0B38A"/>
                </a:solidFill>
                <a:latin typeface="Arial"/>
                <a:ea typeface="Arial"/>
                <a:cs typeface="Arial"/>
              </a:rPr>
              <a:t>+0.20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E12D0-0960-4BE8-A272-502FB7BE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528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0.70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3E870-C50C-4E6F-89AE-CBA66790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1277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684E2-2FE1-4478-80F2-B043EE68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F37D5-5260-41D3-BE1F-60A80F76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SDL figure caption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11E86-1CBA-4262-A538-663620F9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Figures / captions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87399-35C3-46C1-92DF-C3B8BA8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E6A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A34A"/>
                </a:solidFill>
                <a:latin typeface="Arial"/>
                <a:ea typeface="Arial"/>
                <a:cs typeface="Arial"/>
              </a:rPr>
              <a:t>+0.20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D8A65C-8D8D-43BC-866E-E9DB7DC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95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77CD2B-C84F-437C-B5D8-BA672D0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11277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0D4F97-2568-40A0-B8C4-6A8D3160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E9EB5A-3261-474B-ACF6-39B4F8A6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Disqualifying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8962D9-CA3D-4A0C-B8C1-4C300D58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482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Any source-addressable section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E9B584-2378-4C23-9F63-E72E4A40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D85C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5C5C"/>
                </a:solidFill>
                <a:latin typeface="Arial"/>
                <a:ea typeface="Arial"/>
                <a:cs typeface="Arial"/>
              </a:rPr>
              <a:t>−0.40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09721-5BE5-4223-BFED-F373CE50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386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penalty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30CB23-C645-4DFB-9707-163B582D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7334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BC3297-217F-4465-8D7D-67294461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FULL-TEXT EVIDENCE SCORE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EB147C-A923-4549-837E-7C2B14C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 = clamp( Σ type-capped evidence weights / 1.5 , 0 , 1 )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3B9E1-D0CB-461B-8E1B-9FEDA11B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369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66594A-31A0-4D07-81C1-9C0754F7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02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caps matter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D4CB2B-7ACD-4D54-98CF-E9DEBCA0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769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Repeated boilerplate cannot overwhelm independent evidence families.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48BFDE-91FD-4A67-ADFF-FAF4A384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A7AF99-B460-479B-8551-DFD1441F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9A7C2D-BA19-49C4-BA93-534B31E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643909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2F5E6D-FE12-458A-B37A-657A1717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ALGORITHM 3 · LABEL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29DD6-F4E1-4799-9110-FF032A0D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Confidence ranks cases; necessary conditions assign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382C9-AF0D-4653-B5E8-5DABBBDE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weighted blend summarizes evidence strength, while a rule tree protects semantic meaning and high-value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2FAAE-96B3-40B0-B829-A3382835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FCC07-F7FE-4C6C-B66C-28500314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98457-896E-4C66-8811-EC94CB78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067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FAF8C-138C-45E9-B05E-E40EB8D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668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WHEN FULL TEXT IS 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EF7C9-B396-4BCF-8DBC-EC490CD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668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 = .35A + .15I + .25T + .20F + .10N + .10Q + .05E − .15D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DA5C4-A374-4873-9DC1-FF0E54B2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7067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F7353-D1CF-4C42-A02A-9CF7D0F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68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METADATA-ONLY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A0FA6-700A-4C67-A9D5-9C8CC71C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668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 = .40A + .20I + .30T + .10N + .10Q + .05E − .15D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3BFF8-0294-4C31-AA92-579BA3AA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author · I institution · T topic · F full text · N network · Q citations · E entities · D disqualifiers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ACD6C-556D-4107-92B0-DB83036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8EE51-0921-4FA7-A6AD-7905748F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52825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B5F06-BBE2-42AA-9CC8-E7DDDDCA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542E5-4D3B-463D-80D3-033D444A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43475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BFF30-4A66-40A3-AFED-3E786BE6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52650"/>
            <a:ext cx="36957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F8847-0A15-4D31-81F5-BF957F1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52650"/>
            <a:ext cx="76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4EB36-8A13-4658-8FA0-22DBBBEF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574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20085-FCBC-4348-BE35-1E9D96F6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28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 or direct AC identity + core SDL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22A00-FDE3-4EAA-9AC3-7855C61F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47975"/>
            <a:ext cx="36957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A42E6-548F-40CE-8AEE-0537D27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47975"/>
            <a:ext cx="76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8A2C7-86C2-4A95-B85C-AE50A69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RELATED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0CE36-6B25-4D87-9CC1-B0F625BA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241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Strong identity, funding, or AC-core citation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40ECF-BBAD-438C-8FB8-98D1BDF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36957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71816-5EFF-424A-906F-D16F86A0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76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B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88B45-FBC2-46E2-8EC4-839F52D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48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>
                <a:solidFill>
                  <a:srgbClr val="50B3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B38A"/>
                </a:solidFill>
                <a:latin typeface="Arial"/>
                <a:ea typeface="Arial"/>
                <a:cs typeface="Arial"/>
              </a:rPr>
              <a:t>ADJACENT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90CC1-94BD-4C2F-B139-FF1D7C8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Strong topic, full text, second-degree, or entity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FACE8-EBA4-4A2C-8FB5-8D6724C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38625"/>
            <a:ext cx="36957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40980-801F-4EA4-B88D-C46B4FA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38625"/>
            <a:ext cx="76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D8CC-7DF1-4349-877A-0FE1AD27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>
                <a:solidFill>
                  <a:srgbClr val="E6A3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A34A"/>
                </a:solidFill>
                <a:latin typeface="Arial"/>
                <a:ea typeface="Arial"/>
                <a:cs typeface="Arial"/>
              </a:rPr>
              <a:t>UNCERTAIN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57383C-976C-4F56-80D4-6B09687F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148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Partial evidence inside the review band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23309-A344-4061-B6BD-C1DDD3E3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36957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A731A2-DC55-46C3-A29F-989CAF7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76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CF535B-CA0B-4F52-8CFB-2076B174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387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EXCLUDE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68226-8921-4D99-A927-15F2DEA6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0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No necessary condition survives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6B4922-95E1-4E38-A4B8-D5BE6500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7067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3B1FA9-D6F0-48A3-8541-8F1DBD0D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Professional takeaway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AE3FA3-050C-4478-BCE1-A661880C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high confidence score cannot bypass the evidence required for a high-value label.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C2E28F-412F-4836-865D-5E0FB804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22B44D-BA72-4E42-88A4-31B489A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BBD2A4-3BCD-4F1B-BCD0-24F29A4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204020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FB0BEE-D1EE-4D2C-8CE9-76EF022B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ALGORITHM 4 · SCOPUS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FB996-2488-415A-942B-CD45DE56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Scopus uses two independent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6A902-6EB2-437A-A042-37B4B4EB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paper can be scientifically relevant to SDLs without being directly attributable to the Acceleration Consortium.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9D493-75B7-4DE2-A241-9A7AE3C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8ED94-4D9A-4503-A4C9-24E3298D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1F476-2F0E-4AA5-A9FC-136A0EA2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4292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79D27-6A76-4D7D-9351-B30E2D62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AC ATTRIBUTION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5D8BA-7DBA-413F-B42E-D349C017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 = .35 acknowledgement + .30 funding + .20 member + .10 high-relevance + .05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6C7F4-4A4D-48DE-A65B-902E4559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4292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E0BCC-608A-4FCB-986B-0E2C565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SDL RELEVANCE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7AE92-1A3F-4AB1-BB54-7B3AA23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SDL = .45 architecture + .30 retrieval + .25 keyword /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23A8E-9589-4A87-BBEB-01DC9BEB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42925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51B64-F07B-4E08-8D52-6921826C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ARCHITECTURE COMPLETENESS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646E3-BAE0-47AD-BD62-7FC4CE32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AI decision-making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D0C6D-1ABE-4A29-B244-CC8BCD6D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8863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C95B9-BAF4-44BA-B7E5-9DAFFE9B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863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49C95-F851-4090-A617-EA2728C9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863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4DAE4-C9CF-4004-9818-28967FE9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86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closed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5167E-9FC3-4F52-AF4A-4D5ED0F7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architecture = completed dimensions /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60447-4740-4286-B827-9323B2A8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4914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D28D3-2B55-47EC-B86C-E4E19A2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2457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4E5D3-2A5D-42D5-9524-154D274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2457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5F17C-C876-48C8-B346-578E640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2457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E74C8-0F06-4550-9242-FD218E5E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0025"/>
            <a:ext cx="24574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CB3D8-B69E-46BD-B9E3-94036FC3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4EAC7-2338-4274-909D-F25F0B3B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1E3E5-C0BF-4F85-95A5-30E3EC2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812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 AC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 SDL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B8141-C14B-4155-B28D-4C908BA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50B3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B38A"/>
                </a:solidFill>
                <a:latin typeface="Arial"/>
                <a:ea typeface="Arial"/>
                <a:cs typeface="Arial"/>
              </a:rPr>
              <a:t>CORE or RELATED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A33AB-6C5D-4FF7-B8CB-3154E53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812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LOW AC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 SDL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2493A-1B30-452E-9082-C55BFF13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95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SDL FIELD RELEVANT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A097D-89DF-46C9-94D1-13991642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481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 AC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LOW SDL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BF01E2-200A-4098-99BE-2A0A45E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62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RELATED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147CB6-8756-4BDC-9E55-363F58E7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481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LOW AC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LOW SDL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D50BB-D9EB-4495-8A06-6F06161E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244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E6A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A34A"/>
                </a:solidFill>
                <a:latin typeface="Arial"/>
                <a:ea typeface="Arial"/>
                <a:cs typeface="Arial"/>
              </a:rPr>
              <a:t>ADJACENT / UNCERTAIN / EXCLUDE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2531BC-ACF7-46AE-ACE4-74713C1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10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 ATTRIBUTION 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BA52B0-F2D7-43CE-96C7-6A58F1BE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859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↑ SDL RELEVANCE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414DC9-9EC6-497A-8C2A-03DDBC5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FE50FF-0498-47D6-8B18-70A5B10D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11EF62-EC42-4D9A-8773-A81F166D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212135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CAD940-DAF6-40B9-A7F8-0B9A1FE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ALGORITHM 5 · GRAPH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20726-7AC6-44A7-AA19-197425C4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Graph structure extends attribution without a production GNN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FCF21-26BC-44C5-A03C-7C90FF76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current graph signal is deterministic: personalized PageRank, excess centrality, citation proximity, and stored second-degree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35FD6-56EE-4906-B8D9-067D57EC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D1948-EB12-4CE4-BA82-9CC61777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4F23F-57BF-46A8-99ED-AB2529B9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908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31DA1-24A5-4E32-8310-BA0BC4EC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7175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7DD7F-5BF9-4AF5-8431-3602949F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717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ACF33-3BF4-4278-A6F9-8F71C17C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1000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E1159-13AE-48C3-86D9-08D0D50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E3A2C-8D56-4FBF-92BC-F6FF3879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6F3C9-8F90-4F7C-B204-0CCF58BD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99FF4-AACA-434B-9E2C-33F860FE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42143-3877-4C7F-A6D9-A4A93CDD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DC1DD-BDB0-40DC-9658-4A66520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97C70-FBAD-43FA-8BB4-48E62B25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12573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223F3-A3B7-4335-9002-0DB378DC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3225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 CORE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C7505-3F4C-4CE4-AD6D-73486544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952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5159A-F9F7-405D-BE5C-6F8365E4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622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751C5-88DF-4C39-81CF-2189DBCF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90900"/>
            <a:ext cx="952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817F8-055D-478E-8147-67E8FA9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004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D6FB3-A9B2-4DF4-9038-50008BA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52650"/>
            <a:ext cx="952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04DD7-69A8-4BA8-A955-118624D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CO-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30CEF-794A-4213-BCE1-7EBB2E0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90900"/>
            <a:ext cx="952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7630A-4AC4-4CEB-A7F7-BD5ACD5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CO-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EEA2C2-E8E1-4771-B558-350116F4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33675"/>
            <a:ext cx="12573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B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0D9D7-31E0-4238-8F8C-9AAFDEA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43225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EC8CF-B921-4E69-90A3-C5994084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Personalized flow from known AC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69004-BBD9-4AAD-9171-281BA069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second-degree paths are retained for inspection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EAB326-A424-4987-9B1A-25B8E100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417195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E6294-4311-4158-8E7A-EB6EBFF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3790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AUTHOR NETWORK 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E436F4-4046-4CDE-BA04-6F4A08E3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05075"/>
            <a:ext cx="3790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N(p) = maxₐ PPRAC(a) × [ 1 + .25·max(0, cnorm(a) − 1) 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7B733-7332-44A8-A68C-3996AE12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4171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100F8-D7C9-4CF7-B71B-1A09DAB0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00450"/>
            <a:ext cx="3790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CITATION SCORE · CAC = UNIQUE AC-CORE CITATIONS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CDF79E-33AB-4F73-88E7-0348B671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57625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Q(p) = min( 1 , 0.5 × |CAC(p)| 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6E759C-4D4A-42F8-ABF4-3719165F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38675"/>
            <a:ext cx="4171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BF948F-A5C9-4375-A52A-22B6D59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101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PRODUCTION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45477F-8239-4049-BDC8-9F529623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149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α = 0.85 · weighted normalized coauthor graph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2CDA75-F40D-4FD1-A867-4B3A98B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197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GNN work remains an offline baseline / future experiment.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4D8633-DB23-4213-89B8-701C713F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3B7E4F-B4B5-4A02-B310-30F34EED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0FFBE9-8D0A-4AD9-A7E8-4A3C9E2C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4381382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A502A9-A487-45D9-A93B-A3109B8D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ALGORITHM 6 · ATTRIBUTION EVIDENCE TREE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E42B-D3AD-4D62-B79E-467AD9D2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AET makes each decision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CB96-08A3-4D00-B15C-4F7FC267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Instead of one opaque score, the system can expose positive and negative evidence paths back to source-addressable chunks.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15030-43A9-41E0-A29F-F2BBCB3A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449BB-A128-4711-85C6-9D5CBFFA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DAB3D-00DE-4200-A25D-B0C3A70F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1467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4670-CA42-4255-96A2-C625B955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BA508-C10A-4E36-BB47-B52D7CF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81D07-5C36-4A0B-9BB7-98B7E3E1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576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5C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39745-FC54-4729-86A5-6A6F88AD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717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7F08C-0786-4F2A-98F6-C81C7743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716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3F410-5699-470B-AB71-1F51B831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716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C6E9F-E741-4321-9918-DDE9952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384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C0739-FC93-4020-880A-697D230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576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5C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FB086-321D-47D4-B490-62DE3CC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053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1BB3A-3F4A-4AFD-85F7-57B21337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276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46C5E-439E-40EA-A3B8-DBE5A1B0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8464A-DAB4-4874-9BF4-77A12099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7525"/>
            <a:ext cx="93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label +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1758A-D7D7-4C0A-9DAE-BADB22B9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66900"/>
            <a:ext cx="1238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37237-4C99-474B-95E0-AC1E84A1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288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POSITIVE PATHS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4B1D2-BB2E-4C71-AA91-5289B57C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89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support attribution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4A8D9-2466-4DBE-9E2F-1E02E461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52800"/>
            <a:ext cx="1238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D85C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CB089-336B-4162-BF2C-11F7543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147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D85C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5C5C"/>
                </a:solidFill>
                <a:latin typeface="Arial"/>
                <a:ea typeface="Arial"/>
                <a:cs typeface="Arial"/>
              </a:rPr>
              <a:t>NEGATIVE PATHS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DB4C1-5C22-470B-A2E2-2F66E33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89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contradictions / exclusions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4179F-B79B-4496-B8BF-9A4F11B9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43050"/>
            <a:ext cx="1257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E1E15-A132-4992-B9D8-5A909C7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FUNDING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87CF3-255C-42D5-8E73-DBA30558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+0.35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E34BFF-5383-4DCA-84AB-BD044E7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1257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2249DA-EE26-4265-8971-8F232501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SDL METHOD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AC1463-C967-40E8-8F0E-14BD1259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+0.30 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A36A1-4D0D-4F13-AF17-9208A438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1257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4D4287-FA5E-488D-9766-31D4AD7D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NEGATION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855E5B-4FF8-4E98-AE5E-7C784E9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bounded penalty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36F37E-BFA8-439D-AC68-A06CE6E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1257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1F5093-3720-421E-AA64-138F6D4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767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SOURCE CHUNK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5D042F-7E8C-44B8-BACE-7BBF0FDF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section + text span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36583A-2616-4826-BA98-45EC8C02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695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7114B-39EA-4D23-9744-FB5E94AF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EVIDENCE-TREE SCORE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5A2F15-FBA0-4F98-ADFC-FE26D12E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331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S(AET) = clamp( Σ positive path weights − Σ negative path weights , 0 , 1 )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D43743-2E9A-42BC-8CF6-1B5D766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19475"/>
            <a:ext cx="36957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80E5A8-1E7F-4144-862A-0C701DB0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99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REPRESENTATIVE PATH WEIGHTS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021CDC-624D-4E82-9F9E-EF3F77E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Funding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CC76F2-88A2-4671-933D-3765864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943350"/>
            <a:ext cx="1200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+0.35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3F8D95-28E7-43FA-A5D4-0210C469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957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Partner affiliation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456A52-4979-47D3-AC03-62B9152B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19575"/>
            <a:ext cx="1200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+0.30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B4B4E2-F90E-4EAC-B593-2E26871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Core SDL methodology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3F8A80-234F-41CC-9F73-F8C06522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95800"/>
            <a:ext cx="1200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354280-CF62-4D10-8792-125C77FC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7202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 author identity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66FB67-2946-419B-9754-B0E1649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772025"/>
            <a:ext cx="1200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+0.25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C5B817-3C28-460A-BB4B-DBC4F2CB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Negative 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939ABA-56DF-4580-B8BE-06D300A7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48250"/>
            <a:ext cx="1200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1050" b="1">
                <a:solidFill>
                  <a:srgbClr val="D85C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5C5C"/>
                </a:solidFill>
                <a:latin typeface="Arial"/>
                <a:ea typeface="Arial"/>
                <a:cs typeface="Arial"/>
              </a:rPr>
              <a:t>capped at 0.25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735CB4-503A-48F2-962D-1874019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decision can be challenged at the path level — not only at the final label.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069835-3D87-458D-9D81-16FA3CE9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E15354-A30A-439A-BB7C-3BC4513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49D8C5-C855-4AC5-94AF-B6797CE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752148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6E9136-ED2F-44B0-900D-FB4A1824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1CCB9-9AFA-48AE-97E1-01C38CB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Human review controls model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10CC0-9962-4275-9CC6-4C2FD6CB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Optional models can prioritize uncertain cases and explain evidence, but they remain bounded by deterministic data and human-confirmed locks.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4C610-6868-45CD-9B1C-3E59F1A5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1C6B7-8974-4922-828E-EAFB78D6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16BE7-91DD-422F-86C1-E3E232B2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5A694-6F5A-4D93-8F83-DB7DFF15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B6D79-2AF6-4B93-8C2F-A70F9565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527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0">
                <a:solidFill>
                  <a:srgbClr val="EAF3F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EAF3F8"/>
                </a:solidFill>
                <a:latin typeface="Arial"/>
                <a:ea typeface="Arial"/>
                <a:cs typeface="Arial"/>
              </a:rPr>
              <a:t>Hard lock · reviewer rationale · audit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1457E-A2C2-4E85-B46F-B279D9CD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19325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AAF10-102C-42D6-8089-831D3D67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26137-820A-46DC-89CC-7283AF1F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0350"/>
            <a:ext cx="590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D6E6D-F0CE-4669-BCFF-68CBCB75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765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B6D45-A7DA-4D9D-89F7-975DD676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14675"/>
            <a:ext cx="461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0">
                <a:solidFill>
                  <a:srgbClr val="EAF3F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EAF3F8"/>
                </a:solidFill>
                <a:latin typeface="Arial"/>
                <a:ea typeface="Arial"/>
                <a:cs typeface="Arial"/>
              </a:rPr>
              <a:t>Accept · correct · abstain · feed 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C4DF2-5B03-4618-992F-9A217498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43225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0D65E-0FEE-420E-999B-2A702305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71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A018D-951B-47CA-AD09-E56FD27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523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6BA2A-4ECA-41F2-9162-E82E7A4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OPTIONAL CLAUDE JUDGE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DA2C9-26D1-42D6-9D56-EBDC31AD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38575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Uncertain cases only · evidence-bound · default 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D1F4C-19C5-4B49-9C44-59E9207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D1A01-9B1F-4A06-9FE1-C2183862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5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ASSIST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9CA52-A5AF-40E9-AF8C-AA72220A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48150"/>
            <a:ext cx="457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8DCD0-A810-420C-B63A-3E9D2169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2435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OPTIONAL LEARNED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CB27B-3C22-4B18-980A-4775FD4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624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 engineered features · high-margin override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2CF4E-C8D0-45B2-BC7F-1054CE2E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91025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0AE4E-E7BD-40DB-8560-003D7593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19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ASSIST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B904D-8E8E-4EC7-BCD7-864446BE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720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0F5A0-F0CF-4A50-AA91-024CF02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482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DETERMINISTIC CLASSIFIER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383744-AE3B-4230-8639-7A27ECC2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8637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Rules + evidence scores + graph paths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A25E9-F4AA-461A-A2FE-68C00CFA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14925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7A574-EF95-4CC3-8136-C657A905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38923-C826-4A12-8F40-059A38FF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41148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315A98-8307-49A7-B76A-527CDFE7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14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SAFE ROLE FOR CLAUDE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D78F6F-376C-4CE8-B11F-ABE5957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574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Fund adjudication,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truth generation.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1B8052-0556-48AC-B5D9-34255540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6712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63EC27-189F-414D-92D3-5199DBFF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F0C94A-CE02-40F4-BA32-A32D6AC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33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47E730-DB5D-47D9-BC37-52CF24C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summarize retrieved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F52A24-87BD-4CE0-A1F0-09D18C2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9355E1-0878-4BE8-A82F-EBBD2492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2957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214CBB-D9ED-4F03-BC2F-4D78C05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judge only an uncertainty queue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855094-75DA-4966-A2F7-7C1483D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337F78-CB27-4A5A-B26A-6211F3AC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57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73A0B4-02C3-48D7-8D92-94A2159F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draft reviewer rationale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A9798F-1C0D-4728-A6E5-CD81F23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10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878089-67C6-4E80-8BE8-5F94C97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196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966964-3388-4743-9644-257FF9B8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generate citations only from approved sources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3DE3AA-898B-401B-848D-08F19032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41148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692B4D-5675-488D-9CA7-451CC8FF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43575"/>
            <a:ext cx="3733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D85C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5C5C"/>
                </a:solidFill>
                <a:latin typeface="Arial"/>
                <a:ea typeface="Arial"/>
                <a:cs typeface="Arial"/>
              </a:rPr>
              <a:t>Never invent papers, edges, numbers, results, or citations.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C22001-DB88-4AB7-B569-20A3EE7D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D604B7-A35B-4A41-991F-8CE78924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0ED344-54B9-4E86-A812-0189809E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20488891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9C5DCA-D3ED-49E7-A358-D73E511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7A26E-CDBC-457B-89A0-CD7A599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Measure reliability at the decision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06C82-A98D-4E85-8D33-C0D95BE2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trustworthy bibliometric dataset is evaluated across identity quality, label quality, evidence quality, and operational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31BEB-679D-46EB-8842-142DEDAD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1E725-D35B-4762-859E-163A235C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87697-4C3C-48FC-BE4A-9468F375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514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F3475-E8B0-4E61-BDE1-FF8B466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D9884-94B5-4FB7-A837-7C8E9F28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DATASET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EAC65-81D3-4A87-856D-B4F48298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133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Duplicate rate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identity-resolution precision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full-text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3FB1B-B087-41FA-9821-17F17B77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2514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D43CF-D78C-44F7-ADAA-4B92475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E2ADD-8226-4047-B642-4C5CBD3A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4F558-8C1A-4CBA-B976-9B55908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2133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per-label precision / recall / F1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macro-F1 + confusion matrix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CORE / RELATED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A612D-689E-428F-AF94-F4ED004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514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AB96A-F302-45DC-8F1B-A26A9E9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B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237E2-9A77-41E5-8BD8-9397713D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50B3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B38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7C2A8-14D6-4A65-BC87-E4D848C1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2133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path precision@k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source-chunk coverage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negative-evidence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62B56-81C9-4A73-A5C2-8E24BA1F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514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C930C-CE17-41F7-AA95-5F16412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1F354-62F3-49A1-9564-40C12B13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E6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A34A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8EF64-C795-4A31-B5ED-E2688CB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133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abstention rate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human correction rate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cost + latency per adjudication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77856-3B8E-48E5-B673-31F75B6E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429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92F81-CF7D-4FE7-B930-56ED42D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RELEASE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949ED-4F7A-4EE5-BED7-795BF74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Labels, evidence paths, and review behavior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must pass together.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30695-D108-433E-B34D-47DE907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29175"/>
            <a:ext cx="3581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60ACE-0804-4B4B-BD57-13C08170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10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GNN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EB7F4-4851-4191-B396-92609B46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0542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Offline structural baseline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AFB34A-6525-40E7-8731-67C7B60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29275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No deployed PyG / DGL training or inference path.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CBA2B-757F-4F23-8CBD-38A565BE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6D657-4005-437E-ABCA-55A87DAB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B6B2B-1267-4F78-9A25-3CAA437B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226924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5D18BC-3CBC-471E-A93E-AAED2254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KNOWLEDGE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AFE42-FF17-4B5C-839A-87E0B1DE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Classification is the front door to cross-SDL knowledge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1E84-9B02-4632-811D-F8975621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Once evidence is source-addressable, the system can extract transferable methods without detaching them from provenance.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22D9C-C919-407E-9D9E-4F30DD9B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853AE-B344-42FF-8317-5D4C6C0D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11F0D-E371-46F2-BA5C-04556893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33725"/>
            <a:ext cx="3714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FD676-7985-43E7-91C3-DF7949E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3714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AB0B0-31A8-43F2-A863-E9B7FD23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33725"/>
            <a:ext cx="3714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E5418-4F44-4702-A2F3-D832D4F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33725"/>
            <a:ext cx="3714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B9540-A077-4E54-868A-B4070C13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3714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D2583-5E48-4971-BD56-BA2FE85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133725"/>
            <a:ext cx="3714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5A079-6EB5-4F75-B9F1-D72E0342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238250" cy="14382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B0185-A022-413F-B87D-E000F5BD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C612F-90F2-4A6C-8A3A-070F11AF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78285-6458-4D00-B53F-269D878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classified + reviewed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E5B4B-079D-4BF9-A3A6-E606666C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76500"/>
            <a:ext cx="1238250" cy="14382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46981-4BBE-48A8-A8C8-EB6D0509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28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73AA8-59F0-432E-925F-D3841153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527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941CA-57AF-49C3-99B0-4F0E450C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390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paths + chunks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B2D70-CF67-4DE7-A4E3-72E3DD97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238250" cy="14382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D6A5E-45B0-4FCA-9325-B572C513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59086-FF0D-4044-A0BA-49175B3C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5823A-2792-4A1A-8B17-4DE13A95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entities + propositions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B9BC1-D9EE-46B9-8430-4016F519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76500"/>
            <a:ext cx="1238250" cy="14382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7FC8D9-8734-4ACF-9E63-CEEB1C7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28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0C553-7F29-43AD-BE87-D46E6DD1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527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TKU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D646F-D6BD-4D6D-A991-F81D692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90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method core + assumptions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298AC-9637-4018-8F50-16D5F5C4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238250" cy="14382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F8580-3AE1-4C7D-9F83-27EEEEFA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28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49F26-7C50-485E-947D-BAB8B22F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TARGET MATCH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534255-6B03-4C8D-84D1-CE92EB4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90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exclude same domain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6EBFAC-21DE-465F-A241-23CD5D7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76500"/>
            <a:ext cx="1238250" cy="14382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391CA-5DCA-4E8B-9B48-3B24AC0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28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5C96F-0562-4B45-917D-A07E6136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527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56A8B-D1CD-452F-BF25-31C22516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90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plan + risks + citations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8A26D-15DB-458B-85CF-96EDED12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76500"/>
            <a:ext cx="1238250" cy="14382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52937D-E06E-4DA2-8F71-B7C4D8A8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28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2D2359-CD50-4952-88E6-BA32C61D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33C945-7AF3-42BC-81B8-16A3DA6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90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0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reviewed card / vault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C462DB-BA19-44AA-8B6E-2C119EE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7467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228409-66B1-4372-B9EF-E6C75030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708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EVOLUTIONARY TRANSFER CANDIDATE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421465-29FB-467B-A983-3070133D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708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= match strength + novelty + transferability + evidence − risk penalty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595DA0-574E-426E-ACE4-77806273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3581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A87302-4403-482B-A14D-062B0C6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NON-NEGOTIABLE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B160F3-980C-4759-A677-AE941AD2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Every generated claim carries a source tag such as [src:paper_id].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325D83-8492-4722-897E-D5A78EC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same domain is excluded during transfer matching; human review precedes knowledge acceptance.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B13415-5668-4F29-B645-C22AD545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E88149-7451-4C67-9E59-416C7B7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B7730E-76AF-4B6F-8DC8-64082795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1124738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10F504-1AE5-4B89-B2D0-8889983E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A0EB0-CC86-4DF4-8F41-0B4421CB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phased path from dataset to knowledge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C4A6C-EE98-4B50-A71A-AE827303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Each phase adds capability only after the preceding evidence and governance boundary is measurable.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86DEB-3809-45E7-94BF-4F879AE2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42DA4-C466-4A2E-AC8A-C4AB18FD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975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E8E9B-C05D-4472-8FAF-9424DFA6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97295-CB7C-41E5-9A4C-D289DDB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790C1-2690-42F5-9BA2-711F7A79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00A3B-0CF7-4A62-930D-04F87A1C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FC3AE-B161-44AD-A550-C2A058E2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C7A6F-3452-4B9C-AD89-989CA46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19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D3FC1-EE2D-4F57-A8EF-2CC4C9B5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TRUSTED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7E4D2-0323-4DD6-AE75-5A556B9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identity resolution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full-text provenance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rule + AET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4FDA8-ADFE-4A98-B8D7-D9D70C1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32022-F6BE-4984-9863-2EDC013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481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CD56D-D1B0-4974-86CB-572A1D62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909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20880-B8B5-44F6-A0F7-18A6361F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433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2E104-AFDF-41BC-B6DD-D3A13BC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719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D4019-466E-448D-9787-5373E91B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291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ASSISTED ADJUDICATION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C36C5-7C7F-40B4-801C-EFEDEB0D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14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uncertainty queues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Claude cost / latency study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offline GNN experiments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1BD85-7ED5-4AA2-A6DB-C54F6934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B38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4A34E-FC8C-40D3-809B-EB3C1897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A8491-B3DC-40E5-8815-79CA51CC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383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50B3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0B38A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BAAD3-C6B4-447C-BB0E-BDC4878B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907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580FE-0A63-4885-B5DE-6D2DAF5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50B3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B38A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35DA1-5EDB-4911-AF9F-9209EF0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CROSS-SDL TRANSFER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7000A-D369-4A65-A5A7-2117B747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TKU quality review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target-aware matching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transfer evidence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F240C-932E-4C32-A75F-CC01AE8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F2361-DD9A-4416-B6DE-B60D84F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481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D48244-9132-4221-A36D-DCB165A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909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PHASE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F54C3-6352-480E-B0BF-045A1564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9433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71B086-D4B9-4907-A505-7B7AE182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9719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F49E7-2362-4347-A8E5-AFBE74E4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291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GENERATION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E4E537-D3D8-43DD-8199-24A404B8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14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reviewed knowledge cards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self-searchable vault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closed feedback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5CD519-67AF-4C73-A27A-4911DFAA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1127760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E8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6A1FB-E25C-4F1C-8FAC-82D214B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Decision rule: no new model receives production authority until its evidence quality, disagreement behavior, and review burden are measured.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E22CCB-B4C3-4B6F-A9AE-2BF66A0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3F0398-78D7-4072-8EB7-1711BCF4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50" b="1">
                <a:solidFill>
                  <a:srgbClr val="8A92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29E"/>
                </a:solidFill>
                <a:latin typeface="Arial"/>
                <a:ea typeface="Arial"/>
                <a:cs typeface="Arial"/>
              </a:rPr>
              <a:t>PAPER ATTRIBUTION SYSTEM · WALKTHROUGH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DD2A3D-D8D1-4803-8015-2DAE8D0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572250"/>
            <a:ext cx="3114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→ ATTRIBUTION → TRANSFER</a:t>
            </a:r>
          </a:p>
        </p:txBody>
      </p:sp>
    </p:spTree>
    <p:extLst>
      <p:ext uri="{BB962C8B-B14F-4D97-AF65-F5344CB8AC3E}">
        <p14:creationId xmlns:p14="http://schemas.microsoft.com/office/powerpoint/2010/main" val="3376971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07799-527C-4654-8709-750A9B0A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9B7E-A1B9-402C-B00B-8413E9C1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CLOSING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062D1-71BD-47DE-9A77-22F1018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dataset so every label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become reusable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629EE-A7E9-4C96-BB63-AC74ACB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The system is strongest when classification, evidence, review, and transfer are treated as one provenance-preserving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43E98-C856-45DE-B672-41C51D07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400425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2D42"/>
          </a:solidFill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70778-CD2F-4630-8E2B-CBBCDC58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39E1A-ADB4-4773-85EB-73116B0C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93278-8DE5-4D8A-8FB7-A337B1F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Which bibliometric sources and gold sets define the first trusted release?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C2E2A-8C0A-4260-83D2-496CCB48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14800"/>
            <a:ext cx="3400425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2D42"/>
          </a:solidFill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C3AD2-9072-44B9-AF50-BA328205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95775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81E01-C025-4D90-9453-057EFF7A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29150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8A196-9922-4F8A-94FD-3B6A0AF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0006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Which labels and uncertainty bands require human confirmation?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EBCD9-9B85-47EA-A645-617C108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3400425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49F5A-916D-41B5-B571-BC78DA4E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95775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80464-DD91-408A-A5B2-6D6150A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A37AE-CFDB-457A-979B-D1D799E8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5E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5EE"/>
                </a:solidFill>
                <a:latin typeface="Arial"/>
                <a:ea typeface="Arial"/>
                <a:cs typeface="Arial"/>
              </a:rPr>
              <a:t>Where should Claude credits accelerate adjudication without expanding authority?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CBE2E-E5B6-4FD8-9B55-67BB7E85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6E708-6F67-4D27-AD80-280045F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PAPER ATTRIBUTION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857FA-0F99-4895-953B-3E509C9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343650"/>
            <a:ext cx="3819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· DISCUSSION · NEXT DECISIONS</a:t>
            </a:r>
          </a:p>
        </p:txBody>
      </p:sp>
    </p:spTree>
    <p:extLst>
      <p:ext uri="{BB962C8B-B14F-4D97-AF65-F5344CB8AC3E}">
        <p14:creationId xmlns:p14="http://schemas.microsoft.com/office/powerpoint/2010/main" val="232515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2026-07-28T18:35:28.2130000Z</dcterms:created>
  <dcterms:modified xsi:type="dcterms:W3CDTF">2026-07-28T18:35:28.2130000Z</dcterms:modified>
</coreProperties>
</file>