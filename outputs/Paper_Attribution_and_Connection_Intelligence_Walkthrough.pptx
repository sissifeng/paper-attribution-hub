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824d2fe0f4472" /><Relationship Type="http://schemas.openxmlformats.org/officeDocument/2006/relationships/extended-properties" Target="/docProps/app.xml" Id="Rd59b63a1893641c1" /><Relationship Type="http://schemas.openxmlformats.org/officeDocument/2006/relationships/officeDocument" Target="/ppt/presentation.xml" Id="Rcbaf6390e8e2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afc40723b4de9"/>
  </p:sldMasterIdLst>
  <p:notesMasterIdLst>
    <p:notesMasterId xmlns:r="http://schemas.openxmlformats.org/officeDocument/2006/relationships" r:id="Rca15142a3b8649ff"/>
  </p:notesMasterIdLst>
  <p:sldIdLst>
    <p:sldId xmlns:r="http://schemas.openxmlformats.org/officeDocument/2006/relationships" id="256" r:id="R6b84ac518e9144ff"/>
    <p:sldId xmlns:r="http://schemas.openxmlformats.org/officeDocument/2006/relationships" id="257" r:id="Rd1746e34af5645dd"/>
    <p:sldId xmlns:r="http://schemas.openxmlformats.org/officeDocument/2006/relationships" id="258" r:id="R60a408405139492e"/>
    <p:sldId xmlns:r="http://schemas.openxmlformats.org/officeDocument/2006/relationships" id="259" r:id="R18a4cd50c5924b81"/>
    <p:sldId xmlns:r="http://schemas.openxmlformats.org/officeDocument/2006/relationships" id="260" r:id="R9d947c98aa7546c8"/>
    <p:sldId xmlns:r="http://schemas.openxmlformats.org/officeDocument/2006/relationships" id="261" r:id="R1f710a2249ed45b5"/>
    <p:sldId xmlns:r="http://schemas.openxmlformats.org/officeDocument/2006/relationships" id="262" r:id="R571ed4cbc9a64e8f"/>
    <p:sldId xmlns:r="http://schemas.openxmlformats.org/officeDocument/2006/relationships" id="263" r:id="Rd3ca16bff7294473"/>
    <p:sldId xmlns:r="http://schemas.openxmlformats.org/officeDocument/2006/relationships" id="264" r:id="R575f9609fd044d6e"/>
    <p:sldId xmlns:r="http://schemas.openxmlformats.org/officeDocument/2006/relationships" id="265" r:id="Rbc367e7910b648eb"/>
    <p:sldId xmlns:r="http://schemas.openxmlformats.org/officeDocument/2006/relationships" id="266" r:id="Rb303dc234788434f"/>
    <p:sldId xmlns:r="http://schemas.openxmlformats.org/officeDocument/2006/relationships" id="267" r:id="R467b3d3d05bc46fb"/>
    <p:sldId xmlns:r="http://schemas.openxmlformats.org/officeDocument/2006/relationships" id="268" r:id="Rb5b3db90637f4506"/>
    <p:sldId xmlns:r="http://schemas.openxmlformats.org/officeDocument/2006/relationships" id="269" r:id="R31f8ae2b3ab744e5"/>
    <p:sldId xmlns:r="http://schemas.openxmlformats.org/officeDocument/2006/relationships" id="270" r:id="Rdb93432c45694be1"/>
    <p:sldId xmlns:r="http://schemas.openxmlformats.org/officeDocument/2006/relationships" id="271" r:id="R907f42a673f74c2d"/>
    <p:sldId xmlns:r="http://schemas.openxmlformats.org/officeDocument/2006/relationships" id="272" r:id="R2a36d0d36d52406f"/>
    <p:sldId xmlns:r="http://schemas.openxmlformats.org/officeDocument/2006/relationships" id="273" r:id="Rf3fbecd0be614b9b"/>
    <p:sldId xmlns:r="http://schemas.openxmlformats.org/officeDocument/2006/relationships" id="274" r:id="R20566eed059143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4e0908e2594a00" /><Relationship Type="http://schemas.openxmlformats.org/officeDocument/2006/relationships/slideMaster" Target="/ppt/slideMasters/slideMaster1.xml" Id="Re53afc40723b4de9" /><Relationship Type="http://schemas.openxmlformats.org/officeDocument/2006/relationships/notesMaster" Target="/ppt/notesMasters/notesMaster1.xml" Id="Rca15142a3b8649ff" /><Relationship Type="http://schemas.openxmlformats.org/officeDocument/2006/relationships/presProps" Target="/ppt/presProps.xml" Id="Rbd6d88b561814ff0" /><Relationship Type="http://schemas.openxmlformats.org/officeDocument/2006/relationships/tableStyles" Target="/ppt/tableStyles.xml" Id="Ra547d0f9d8bb4bca" /><Relationship Type="http://schemas.openxmlformats.org/officeDocument/2006/relationships/slide" Target="/ppt/slides/slide1.xml" Id="R6b84ac518e9144ff" /><Relationship Type="http://schemas.openxmlformats.org/officeDocument/2006/relationships/slide" Target="/ppt/slides/slide2.xml" Id="Rd1746e34af5645dd" /><Relationship Type="http://schemas.openxmlformats.org/officeDocument/2006/relationships/slide" Target="/ppt/slides/slide3.xml" Id="R60a408405139492e" /><Relationship Type="http://schemas.openxmlformats.org/officeDocument/2006/relationships/slide" Target="/ppt/slides/slide4.xml" Id="R18a4cd50c5924b81" /><Relationship Type="http://schemas.openxmlformats.org/officeDocument/2006/relationships/slide" Target="/ppt/slides/slide5.xml" Id="R9d947c98aa7546c8" /><Relationship Type="http://schemas.openxmlformats.org/officeDocument/2006/relationships/slide" Target="/ppt/slides/slide6.xml" Id="R1f710a2249ed45b5" /><Relationship Type="http://schemas.openxmlformats.org/officeDocument/2006/relationships/slide" Target="/ppt/slides/slide7.xml" Id="R571ed4cbc9a64e8f" /><Relationship Type="http://schemas.openxmlformats.org/officeDocument/2006/relationships/slide" Target="/ppt/slides/slide8.xml" Id="Rd3ca16bff7294473" /><Relationship Type="http://schemas.openxmlformats.org/officeDocument/2006/relationships/slide" Target="/ppt/slides/slide9.xml" Id="R575f9609fd044d6e" /><Relationship Type="http://schemas.openxmlformats.org/officeDocument/2006/relationships/slide" Target="/ppt/slides/slide10.xml" Id="Rbc367e7910b648eb" /><Relationship Type="http://schemas.openxmlformats.org/officeDocument/2006/relationships/slide" Target="/ppt/slides/slide11.xml" Id="Rb303dc234788434f" /><Relationship Type="http://schemas.openxmlformats.org/officeDocument/2006/relationships/slide" Target="/ppt/slides/slide12.xml" Id="R467b3d3d05bc46fb" /><Relationship Type="http://schemas.openxmlformats.org/officeDocument/2006/relationships/slide" Target="/ppt/slides/slide13.xml" Id="Rb5b3db90637f4506" /><Relationship Type="http://schemas.openxmlformats.org/officeDocument/2006/relationships/slide" Target="/ppt/slides/slide14.xml" Id="R31f8ae2b3ab744e5" /><Relationship Type="http://schemas.openxmlformats.org/officeDocument/2006/relationships/slide" Target="/ppt/slides/slide15.xml" Id="Rdb93432c45694be1" /><Relationship Type="http://schemas.openxmlformats.org/officeDocument/2006/relationships/slide" Target="/ppt/slides/slide16.xml" Id="R907f42a673f74c2d" /><Relationship Type="http://schemas.openxmlformats.org/officeDocument/2006/relationships/slide" Target="/ppt/slides/slide17.xml" Id="R2a36d0d36d52406f" /><Relationship Type="http://schemas.openxmlformats.org/officeDocument/2006/relationships/slide" Target="/ppt/slides/slide18.xml" Id="Rf3fbecd0be614b9b" /><Relationship Type="http://schemas.openxmlformats.org/officeDocument/2006/relationships/slide" Target="/ppt/slides/slide19.xml" Id="R20566eed0591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70bdb7ed645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80c93b01234b77" /><Relationship Type="http://schemas.openxmlformats.org/officeDocument/2006/relationships/notesMaster" Target="/ppt/notesMasters/notesMaster1.xml" Id="R2cfedef56822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18326b43194f35" /><Relationship Type="http://schemas.openxmlformats.org/officeDocument/2006/relationships/notesMaster" Target="/ppt/notesMasters/notesMaster1.xml" Id="R06dd4d90681e4b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5aa392b8e44504" /><Relationship Type="http://schemas.openxmlformats.org/officeDocument/2006/relationships/notesMaster" Target="/ppt/notesMasters/notesMaster1.xml" Id="Ra894ebd6d0854f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1e513e35b547cd" /><Relationship Type="http://schemas.openxmlformats.org/officeDocument/2006/relationships/notesMaster" Target="/ppt/notesMasters/notesMaster1.xml" Id="R49903171f74e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407b2dfc964ec0" /><Relationship Type="http://schemas.openxmlformats.org/officeDocument/2006/relationships/notesMaster" Target="/ppt/notesMasters/notesMaster1.xml" Id="R265b9544454e43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1fddd13af45d5" /><Relationship Type="http://schemas.openxmlformats.org/officeDocument/2006/relationships/notesMaster" Target="/ppt/notesMasters/notesMaster1.xml" Id="Rd289901e301f4c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e8b202671e4fda" /><Relationship Type="http://schemas.openxmlformats.org/officeDocument/2006/relationships/notesMaster" Target="/ppt/notesMasters/notesMaster1.xml" Id="R642ac8ea1ac6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4b58606c434161" /><Relationship Type="http://schemas.openxmlformats.org/officeDocument/2006/relationships/notesMaster" Target="/ppt/notesMasters/notesMaster1.xml" Id="R38b7c27b64a04a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d54f8aa3d74cf0" /><Relationship Type="http://schemas.openxmlformats.org/officeDocument/2006/relationships/notesMaster" Target="/ppt/notesMasters/notesMaster1.xml" Id="R2f433c7b1f724d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4d0e8536e0461a" /><Relationship Type="http://schemas.openxmlformats.org/officeDocument/2006/relationships/notesMaster" Target="/ppt/notesMasters/notesMaster1.xml" Id="R10fb4891b1d847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3eef51773a4060" /><Relationship Type="http://schemas.openxmlformats.org/officeDocument/2006/relationships/notesMaster" Target="/ppt/notesMasters/notesMaster1.xml" Id="R69c071a864cb4a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b683174d244ad6" /><Relationship Type="http://schemas.openxmlformats.org/officeDocument/2006/relationships/notesMaster" Target="/ppt/notesMasters/notesMaster1.xml" Id="Rf3751ac0500e4f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2337f8d553466d" /><Relationship Type="http://schemas.openxmlformats.org/officeDocument/2006/relationships/notesMaster" Target="/ppt/notesMasters/notesMaster1.xml" Id="R00e28cf3e44b42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317682bdbe47d2" /><Relationship Type="http://schemas.openxmlformats.org/officeDocument/2006/relationships/notesMaster" Target="/ppt/notesMasters/notesMaster1.xml" Id="Rf3503750aefd41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8bb50354184369" /><Relationship Type="http://schemas.openxmlformats.org/officeDocument/2006/relationships/notesMaster" Target="/ppt/notesMasters/notesMaster1.xml" Id="R0dd06e8df1cf47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3d492f2cda4285" /><Relationship Type="http://schemas.openxmlformats.org/officeDocument/2006/relationships/notesMaster" Target="/ppt/notesMasters/notesMaster1.xml" Id="Rb6a47096ba9948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fff9a1c6bd431f" /><Relationship Type="http://schemas.openxmlformats.org/officeDocument/2006/relationships/notesMaster" Target="/ppt/notesMasters/notesMaster1.xml" Id="Rc64ade8348194e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2f69189b9344fc" /><Relationship Type="http://schemas.openxmlformats.org/officeDocument/2006/relationships/notesMaster" Target="/ppt/notesMasters/notesMaster1.xml" Id="R46a4f619dbba43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54168d0f2449ce" /><Relationship Type="http://schemas.openxmlformats.org/officeDocument/2006/relationships/notesMaster" Target="/ppt/notesMasters/notesMaster1.xml" Id="R79333b8017bb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correcting the scope: the system is not primarily a classifier.</a:t>
            </a:r>
          </a:p>
          <a:p xmlns:a="http://schemas.openxmlformats.org/drawingml/2006/main">
            <a:r>
              <a:t>It attributes papers to AC with evidence, turns many paper-level decisions into a relationship map, and then prepares that map for retrieval and cross-SDL knowledge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source: frontend/src/main.tsx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narrows and organizes the corpus. Attribution records why; connection intelligence aggregates those records; knowledge reuse consumes the evidence without detaching it from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source: backend/app/services/attribution_evidence_tree.py</a:t>
            </a:r>
          </a:p>
          <a:p xmlns:a="http://schemas.openxmlformats.org/drawingml/2006/main">
            <a:r>
              <a:t>- Local sources: backend/app/services/tku_extractor.py; backend/app/services/transfer_designer.py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attribution record is a bundle of resolved relationships, not a single label.</a:t>
            </a:r>
          </a:p>
          <a:p xmlns:a="http://schemas.openxmlformats.org/drawingml/2006/main">
            <a:r>
              <a:t>The five families correspond directly to fields and evidence displayed in the paper review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frontend/src/components/EvidencePanel.tsx</a:t>
            </a:r>
          </a:p>
          <a:p xmlns:a="http://schemas.openxmlformats.org/drawingml/2006/main">
            <a:r>
              <a:t>- Local source: backend/app/schemas.py</a:t>
            </a:r>
          </a:p>
          <a:p xmlns:a="http://schemas.openxmlformats.org/drawingml/2006/main">
            <a:r>
              <a:t>- Local source: backend/app/api/graph_explain.py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clearest answer to 'what is paper attribution?'</a:t>
            </a:r>
          </a:p>
          <a:p xmlns:a="http://schemas.openxmlformats.org/drawingml/2006/main">
            <a:r>
              <a:t>The label is one field among several; the relationship evidence and human review make the record reusable for analytics and future knowledge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backend/app/schemas.py</a:t>
            </a:r>
          </a:p>
          <a:p xmlns:a="http://schemas.openxmlformats.org/drawingml/2006/main">
            <a:r>
              <a:t>- Local source: frontend/src/components/EvidencePanel.tsx</a:t>
            </a:r>
          </a:p>
          <a:p xmlns:a="http://schemas.openxmlformats.org/drawingml/2006/main">
            <a:r>
              <a:t>- Local source: backend/app/api/papers.py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section brief in the meeting. Classification is a subroutine that proposes a relevance class.</a:t>
            </a:r>
          </a:p>
          <a:p xmlns:a="http://schemas.openxmlformats.org/drawingml/2006/main">
            <a:r>
              <a:t>The important design choice is that high-value labels require specific evidence, not just a large weighted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backend/app/services/relevance_classifier.py</a:t>
            </a:r>
          </a:p>
          <a:p xmlns:a="http://schemas.openxmlformats.org/drawingml/2006/main">
            <a:r>
              <a:t>- Local source: backend/app/config.py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AET is the attribution product: it stores positive and negative evidence as paths that can be reviewed independently.</a:t>
            </a:r>
          </a:p>
          <a:p xmlns:a="http://schemas.openxmlformats.org/drawingml/2006/main">
            <a:r>
              <a:t>The weights shown are representative values from the current scoring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backend/app/services/attribution_evidence_scoring.py</a:t>
            </a:r>
          </a:p>
          <a:p xmlns:a="http://schemas.openxmlformats.org/drawingml/2006/main">
            <a:r>
              <a:t>- Local source: backend/app/services/attribution_evidence_tree.py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graph-explanation endpoint assembles an explanation from stored signals; no LLM is needed.</a:t>
            </a:r>
          </a:p>
          <a:p xmlns:a="http://schemas.openxmlformats.org/drawingml/2006/main">
            <a:r>
              <a:t>This supports a reviewer who wants to know exactly how an indirect connection was inferred.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backend/app/api/graph_explain.py</a:t>
            </a:r>
          </a:p>
          <a:p xmlns:a="http://schemas.openxmlformats.org/drawingml/2006/main">
            <a:r>
              <a:t>- Local source: backend/app/services/graph_service.py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normalization example explains why the system does not rank relationships by joint-paper count alone.</a:t>
            </a:r>
          </a:p>
          <a:p xmlns:a="http://schemas.openxmlformats.org/drawingml/2006/main">
            <a:r>
              <a:t>PPR, excess centrality, and cross-SDL diversity add complementary notions of proximity and bridging.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backend/app/services/network_service.py</a:t>
            </a:r>
          </a:p>
          <a:p xmlns:a="http://schemas.openxmlformats.org/drawingml/2006/main">
            <a:r>
              <a:t>- Local source: backend/app/services/graph_service.py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network is not tied to one universal importance score.</a:t>
            </a:r>
          </a:p>
          <a:p xmlns:a="http://schemas.openxmlformats.org/drawingml/2006/main">
            <a:r>
              <a:t>A profile is an explicit research question expressed as weights over normalized dimensions. The user can inspect and override the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backend/app/services/node_importance_service.py</a:t>
            </a:r>
          </a:p>
          <a:p xmlns:a="http://schemas.openxmlformats.org/drawingml/2006/main">
            <a:r>
              <a:t>- Local source: frontend/src/pages/CoauthorNetworkPage.tsx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to move from algorithm to product behavior.</a:t>
            </a:r>
          </a:p>
          <a:p xmlns:a="http://schemas.openxmlformats.org/drawingml/2006/main">
            <a:r>
              <a:t>The same coauthor graph supports different AC questions because the profile weights and component contributions remain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interface: frontend/src/pages/CoauthorNetworkPage.tsx</a:t>
            </a:r>
          </a:p>
          <a:p xmlns:a="http://schemas.openxmlformats.org/drawingml/2006/main">
            <a:r>
              <a:t>- Local API: backend/app/api/networks.py</a:t>
            </a:r>
          </a:p>
          <a:p xmlns:a="http://schemas.openxmlformats.org/drawingml/2006/main">
            <a:r>
              <a:t>- Screenshot: local frontend with VITE_USE_MOCK=true; values illustrative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Sankey aggregates paper × institution × topic × label combinations.</a:t>
            </a:r>
          </a:p>
          <a:p xmlns:a="http://schemas.openxmlformats.org/drawingml/2006/main">
            <a:r>
              <a:t>The institution network separately retains joint-paper IDs and normalized edge strength, while the hub score tracks degree, betweenness, partner reach, and international reach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backend/app/services/analytics_service.py</a:t>
            </a:r>
          </a:p>
          <a:p xmlns:a="http://schemas.openxmlformats.org/drawingml/2006/main">
            <a:r>
              <a:t>- Local source: backend/app/api/analytics.py</a:t>
            </a:r>
          </a:p>
          <a:p xmlns:a="http://schemas.openxmlformats.org/drawingml/2006/main">
            <a:r>
              <a:t>- Local interface: frontend/src/pages/SankeyPage.tsx</a:t>
            </a:r>
          </a:p>
          <a:p xmlns:a="http://schemas.openxmlformats.org/drawingml/2006/main">
            <a:r>
              <a:t>- Screenshot: local frontend with VITE_USE_MOCK=true; values illustrative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complete connection view: it lets AC move between people, organizations, papers, topics, methods, funding, and AC-core anchors.</a:t>
            </a:r>
          </a:p>
          <a:p xmlns:a="http://schemas.openxmlformats.org/drawingml/2006/main">
            <a:r>
              <a:t>The backend materializes selected node and edge providers, supports ego graphs by center and hop limit, then assigns stable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backend/app/services/multi_graph/service.py</a:t>
            </a:r>
          </a:p>
          <a:p xmlns:a="http://schemas.openxmlformats.org/drawingml/2006/main">
            <a:r>
              <a:t>- Local source: backend/app/services/multi_graph/providers.py</a:t>
            </a:r>
          </a:p>
          <a:p xmlns:a="http://schemas.openxmlformats.org/drawingml/2006/main">
            <a:r>
              <a:t>- Local interface: frontend/src/pages/MultiGraphPage.tsx</a:t>
            </a:r>
          </a:p>
          <a:p xmlns:a="http://schemas.openxmlformats.org/drawingml/2006/main">
            <a:r>
              <a:t>- Screenshot: local frontend with VITE_USE_MOCK=true; values illustrative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converts paper-level attribution into program-level monitoring.</a:t>
            </a:r>
          </a:p>
          <a:p xmlns:a="http://schemas.openxmlformats.org/drawingml/2006/main">
            <a:r>
              <a:t>The analytics service explicitly derives chart data from SQL and Python aggregation; optional LLM reporting can only rewrite supplied metrics and source links.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backend/app/services/analytics_service.py</a:t>
            </a:r>
          </a:p>
          <a:p xmlns:a="http://schemas.openxmlformats.org/drawingml/2006/main">
            <a:r>
              <a:t>- Local source: backend/app/services/drift_service.py</a:t>
            </a:r>
          </a:p>
          <a:p xmlns:a="http://schemas.openxmlformats.org/drawingml/2006/main">
            <a:r>
              <a:t>- Local source: backend/app/services/reporting_service.py</a:t>
            </a:r>
          </a:p>
          <a:p xmlns:a="http://schemas.openxmlformats.org/drawingml/2006/main">
            <a:r>
              <a:t>- Local interface: frontend/src/pages/ImpactPage.tsx</a:t>
            </a:r>
          </a:p>
          <a:p xmlns:a="http://schemas.openxmlformats.org/drawingml/2006/main">
            <a:r>
              <a:t>- Screenshot: local frontend with VITE_USE_MOCK=true; values illustrative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summary for a non-developer audience.</a:t>
            </a:r>
          </a:p>
          <a:p xmlns:a="http://schemas.openxmlformats.org/drawingml/2006/main">
            <a:r>
              <a:t>Each question maps to a current endpoint or interface rather than a speculative future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sources: backend/app/api/papers.py; backend/app/api/networks.py; backend/app/api/analytics.py</a:t>
            </a:r>
          </a:p>
          <a:p xmlns:a="http://schemas.openxmlformats.org/drawingml/2006/main">
            <a:r>
              <a:t>- Local source: backend/app/services/reporting_service.py</a:t>
            </a:r>
          </a:p>
          <a:p xmlns:a="http://schemas.openxmlformats.org/drawingml/2006/main">
            <a:r>
              <a:t>- Local source: backend/app/services/missed_papers_service.py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is downstream of attribution: graph importance and graph paths enrich text retrieval, while source chunks and propositions preserve evidence.</a:t>
            </a:r>
          </a:p>
          <a:p xmlns:a="http://schemas.openxmlformats.org/drawingml/2006/main">
            <a:r>
              <a:t>The graph boost is bounded so centrality cannot replace textual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backend/app/services/retrieval_service.py</a:t>
            </a:r>
          </a:p>
          <a:p xmlns:a="http://schemas.openxmlformats.org/drawingml/2006/main">
            <a:r>
              <a:t>- Local source: backend/app/api/retrieval.py</a:t>
            </a:r>
          </a:p>
          <a:p xmlns:a="http://schemas.openxmlformats.org/drawingml/2006/main">
            <a:r>
              <a:t>- Local interface: frontend/src/pages/RetrievalPage.tsx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Claude credits are most useful for bounded adjudication and reporting assistance.</a:t>
            </a:r>
          </a:p>
          <a:p xmlns:a="http://schemas.openxmlformats.org/drawingml/2006/main">
            <a:r>
              <a:t>They should fund review acceleration, not move scientific or attribution authority away from the database, evidence paths, and human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backend/app/services/llm_judge.py</a:t>
            </a:r>
          </a:p>
          <a:p xmlns:a="http://schemas.openxmlformats.org/drawingml/2006/main">
            <a:r>
              <a:t>- Local source: backend/app/api/reviews.py</a:t>
            </a:r>
          </a:p>
          <a:p xmlns:a="http://schemas.openxmlformats.org/drawingml/2006/main">
            <a:r>
              <a:t>- Local source: backend/app/services/reporting_service.py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knowledge pipeline depends on attribution: TKUs and transfer proposals should inherit source-grounded evidence, not start from detached summaries.</a:t>
            </a:r>
          </a:p>
          <a:p xmlns:a="http://schemas.openxmlformats.org/drawingml/2006/main">
            <a:r>
              <a:t>The evolutionary search score shown is the current deterministic candidate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backend/app/services/tku_extractor.py</a:t>
            </a:r>
          </a:p>
          <a:p xmlns:a="http://schemas.openxmlformats.org/drawingml/2006/main">
            <a:r>
              <a:t>- Local source: backend/app/services/transfer_designer.py</a:t>
            </a:r>
          </a:p>
          <a:p xmlns:a="http://schemas.openxmlformats.org/drawingml/2006/main">
            <a:r>
              <a:t>- Local source: backend/app/services/evolutionary_transfer_service.py</a:t>
            </a:r>
          </a:p>
          <a:p xmlns:a="http://schemas.openxmlformats.org/drawingml/2006/main">
            <a:r>
              <a:t>- Local source: backend/app/services/kb_service.py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the architecture from being overstated.</a:t>
            </a:r>
          </a:p>
          <a:p xmlns:a="http://schemas.openxmlformats.org/drawingml/2006/main">
            <a:r>
              <a:t>The current system already has substantial attribution and connection functionality; the optional model layers and future GNN work remain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backend/docs/development_progress.md</a:t>
            </a:r>
          </a:p>
          <a:p xmlns:a="http://schemas.openxmlformats.org/drawingml/2006/main">
            <a:r>
              <a:t>- Local source: backend/docs/gnn_graph_ml_development_plan.md</a:t>
            </a:r>
          </a:p>
          <a:p xmlns:a="http://schemas.openxmlformats.org/drawingml/2006/main">
            <a:r>
              <a:t>- Local source: backend/app/services/graph_feature_baseline.py</a:t>
            </a:r>
          </a:p>
          <a:p xmlns:a="http://schemas.openxmlformats.org/drawingml/2006/main">
            <a:r>
              <a:t>- Local source: backend/app/services/learned_classifier.py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decisions, not a generic summary.</a:t>
            </a:r>
          </a:p>
          <a:p xmlns:a="http://schemas.openxmlformats.org/drawingml/2006/main">
            <a:r>
              <a:t>The central point is that a shared bibliometric program needs a shared attribution policy and shared relationship definitions, not only a common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sources: backend/app/services/attribution_evidence_tree.py; backend/app/services/node_importance_service.py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ec96e0e1d4b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2676eb7694d22" /><Relationship Type="http://schemas.openxmlformats.org/officeDocument/2006/relationships/slideLayout" Target="/ppt/slideLayouts/slideLayout1.xml" Id="Ra708e7f1df59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8e7f1df59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125d75e9946a7" /><Relationship Type="http://schemas.openxmlformats.org/officeDocument/2006/relationships/notesSlide" Target="/ppt/notesSlides/notesSlide1.xml" Id="R122f4067f39644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3f177dcd94934" /><Relationship Type="http://schemas.openxmlformats.org/officeDocument/2006/relationships/notesSlide" Target="/ppt/notesSlides/notesSlide2.xml" Id="R00a01e1d63bf47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86d4f1f8c456e" /><Relationship Type="http://schemas.openxmlformats.org/officeDocument/2006/relationships/notesSlide" Target="/ppt/notesSlides/notesSlide3.xml" Id="R28404588d8414d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a13536eff4aa3" /><Relationship Type="http://schemas.openxmlformats.org/officeDocument/2006/relationships/notesSlide" Target="/ppt/notesSlides/notesSlide4.xml" Id="R5d9fcdf48c414c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eac327a084932" /><Relationship Type="http://schemas.openxmlformats.org/officeDocument/2006/relationships/notesSlide" Target="/ppt/notesSlides/notesSlide5.xml" Id="Rc7ea8ad98dc54b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3fd8afed244ab" /><Relationship Type="http://schemas.openxmlformats.org/officeDocument/2006/relationships/notesSlide" Target="/ppt/notesSlides/notesSlide6.xml" Id="Rae917d880ce249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f986201a44c0b" /><Relationship Type="http://schemas.openxmlformats.org/officeDocument/2006/relationships/notesSlide" Target="/ppt/notesSlides/notesSlide7.xml" Id="R2192e8d3613342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b803044dc4b33" /><Relationship Type="http://schemas.openxmlformats.org/officeDocument/2006/relationships/notesSlide" Target="/ppt/notesSlides/notesSlide8.xml" Id="R7bbe79acdc3049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fe668f8184618" /><Relationship Type="http://schemas.openxmlformats.org/officeDocument/2006/relationships/notesSlide" Target="/ppt/notesSlides/notesSlide9.xml" Id="R0eb03bdcc9ea4e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0138572ff4bb1" /><Relationship Type="http://schemas.openxmlformats.org/officeDocument/2006/relationships/image" Target="/ppt/media/image.png" Id="R05cfabc05ece46f3" /><Relationship Type="http://schemas.openxmlformats.org/officeDocument/2006/relationships/notesSlide" Target="/ppt/notesSlides/notesSlide10.xml" Id="Rb1c9556d72b245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f95cb61b94be1" /><Relationship Type="http://schemas.openxmlformats.org/officeDocument/2006/relationships/image" Target="/ppt/media/image2.png" Id="R0e55a39547e24795" /><Relationship Type="http://schemas.openxmlformats.org/officeDocument/2006/relationships/notesSlide" Target="/ppt/notesSlides/notesSlide11.xml" Id="R862474b8fab147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6dc3a6c4d443c" /><Relationship Type="http://schemas.openxmlformats.org/officeDocument/2006/relationships/image" Target="/ppt/media/image3.png" Id="R67182743844e4763" /><Relationship Type="http://schemas.openxmlformats.org/officeDocument/2006/relationships/notesSlide" Target="/ppt/notesSlides/notesSlide12.xml" Id="R0d18799a3df842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b760e6654b2d" /><Relationship Type="http://schemas.openxmlformats.org/officeDocument/2006/relationships/image" Target="/ppt/media/image4.png" Id="R55c823fc04594383" /><Relationship Type="http://schemas.openxmlformats.org/officeDocument/2006/relationships/notesSlide" Target="/ppt/notesSlides/notesSlide13.xml" Id="Re03e8cf038ce40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6941c33a94703" /><Relationship Type="http://schemas.openxmlformats.org/officeDocument/2006/relationships/notesSlide" Target="/ppt/notesSlides/notesSlide14.xml" Id="Rc3d6efee81af44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c7530a95f4a53" /><Relationship Type="http://schemas.openxmlformats.org/officeDocument/2006/relationships/notesSlide" Target="/ppt/notesSlides/notesSlide15.xml" Id="Rf5d74dcc894b46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f90f8ba864fe4" /><Relationship Type="http://schemas.openxmlformats.org/officeDocument/2006/relationships/notesSlide" Target="/ppt/notesSlides/notesSlide16.xml" Id="Rdb83ccc863bd4c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22cb214c142a6" /><Relationship Type="http://schemas.openxmlformats.org/officeDocument/2006/relationships/notesSlide" Target="/ppt/notesSlides/notesSlide17.xml" Id="R9443deae84534b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d379cf3ce4b24" /><Relationship Type="http://schemas.openxmlformats.org/officeDocument/2006/relationships/notesSlide" Target="/ppt/notesSlides/notesSlide18.xml" Id="R2ddf5044fff247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69359943c44e9" /><Relationship Type="http://schemas.openxmlformats.org/officeDocument/2006/relationships/notesSlide" Target="/ppt/notesSlides/notesSlide19.xml" Id="Rafc0cb1267d2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4123E-496A-4351-8DE0-4E50F284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7C8AB-7AEC-47D5-BD50-BDAB939B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SYSTEM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6A3C-22FD-4FB5-A620-B2EB863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Paper Attribution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and Connection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EC473-7D20-426E-89E5-46A5E327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02B80-4684-4267-A278-96FF601B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How the AC bibliometric system explains papers, tracks relationships,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7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and prepares source-grounded knowledge for cross-SDL reuse.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9D6E2-E6CB-4955-8168-77BD3CF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2E295-7C01-4478-A745-37155EA6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ATTRIBUTION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21E35-6835-4BA2-9EE3-8294EC4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19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0D9E0-799F-417D-B397-31A6308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19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CONNECTIONS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90831-CB35-4A5A-884C-BA1A7ED3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19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13E6D-A4A4-46C6-B23E-99EB0B5B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4E4A4-B82C-487C-9886-31E0D6F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UNIVERSITY OF TORONTO · ACCELERATION CONSORTIUM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93789-BC14-496C-B9BE-BAF54FF3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386585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10942-720D-4FFC-BF47-39937F50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SYSTEM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DD93C-0285-4CBE-9AA2-E2431F68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F601D-7519-4FE7-A0EB-AEAC0307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Classification is the first decision, not 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17524-663A-451E-BA49-DE476F73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97A7E-67A3-4711-B1D7-E310E9A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43275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148AB-5246-460F-B4B1-6A1884D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43275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06F80-CFF6-4AB8-8F89-56B68585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E1745-293E-4828-BBBC-65DBD6D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9764A-90B1-4922-9533-A1146A2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5AB55-F594-4977-AD50-2CCCEE4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38A87-29AB-405C-88E3-3B94C1A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992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Which relevance class is plausible?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CBAEF-1653-4B89-BBF6-3CCD62F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03D40-F881-4F8E-8445-AEA9AF5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093A2-BC14-4AA4-92F6-76226C5D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PAPER ATTRIBUTION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965E2-691C-4D22-9A50-A686E3B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992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Which AC people, institutions, funding, citations, and graph paths support it?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94CE1-2597-49B2-A454-91B511A9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791BB-9569-4140-80C1-99C3E3F5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23609-CA5A-4BFE-97CB-6A31833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52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CONNECTION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B8FB6-C75A-4583-B58B-4EAF649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Which authors, institutions, topics, and methods are connected across the corpus?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7951F-9A3B-4399-81BF-41CAAD79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7C0DC-E2EA-4A5A-B807-0DCD4B43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9CF1C-E429-4942-8D62-612C6D17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52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KNOWLEDGE REUSE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F3E7F-1ED0-4593-8A88-148AFCE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Which source-grounded methods and lessons can transfer to another SDL?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B3D8C-194A-4493-AA35-13B608DB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B5E74-2876-4F16-91E8-EEB9AD3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DURABLE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7CC91-5D10-4747-BD94-5C631862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 provenance-preserving research graph in which every node, edge, label, and generated claim can be traced back to papers and source 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CE90E-0FF0-49DD-A5E8-9C5C0FE1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0084C-5EB7-4179-BF7B-F42C0EFF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ED232-6E18-4C11-9697-EDD28AA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382371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E2F4FC-3752-4CA4-A83E-59602EE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PAPER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FBC9F-B7BB-4CF9-8EAB-7E393B53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DEA2C-7202-4A11-9572-D73F4904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Paper attribution resolves five relationships around every paper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0948-0654-4694-B684-35B84DE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3F139-4C4F-4B9D-AABE-2EFD6CDD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8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5E660-115D-483E-B76D-9F76825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66700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8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8F7FC-38FB-4615-A70D-7B39ADF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266700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8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A22B6-735C-4177-976F-834B3ACF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66700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5D466-43C9-42CC-8276-54BEC13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66700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8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EC798-B0B9-4A33-9347-F644110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22479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24F8E-2B41-4BF8-87F6-695D2E3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2610F-FBD8-4843-9F0F-AB3518C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9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canonical identity + 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C497E-F05E-4F87-A23F-1767231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FB56E-45E5-4BC4-AFBB-317C7754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90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5BF58-2D8D-40B8-A062-1D92D4F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direct AC author · matched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9C742-AE2A-48AB-A07C-81759223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5E5D4-6F6C-488F-890D-1C0272D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INSTITUTIONS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9DEAF-FFF9-44AA-8F25-6F19448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partner / external affiliation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alias-resolved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89E89-EFBE-45F1-9E9B-96D10879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71BD1-941B-4F14-A5E2-ACE09FEA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79BA2-5978-4081-8C26-E920D6A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funding · acknowledgement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program or partner mention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9A604-75BA-4C57-AB3D-25470BE5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9AE29-0ED2-4D6F-A55F-625D74EF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SCIENTIFIC CONTENT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B1DFC-F614-43D1-8436-5C03A2DE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core / adjacent topics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methods · entities · propositions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39D15-EE0C-49BE-A547-420518E5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ACFFC-ABFE-4E6E-8D32-CE937B26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57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8F2B7-1798-44DE-89E8-7FE5ACAD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434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coauthor paths · AC-core citations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cited by corpus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BC295F-4154-40C3-AA26-B6C88739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Human review records the final decision and locks it against later automated overrides.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C325F0-1599-40FE-BC4B-54E72A47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C705D-E148-43EC-BAD4-FE3C2FC2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87C176-2578-4933-8B20-D50F906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329589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02E53E-3121-4C9C-A04E-3276160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PAPER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C6C7A-219C-49D8-B0EC-E6DD7D65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64910-FFDD-46B7-B169-2E415B43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What the system stores for one attributed paper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E651-BC8F-4882-A00D-D02CED69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DE2E2-98EF-48B8-94E7-336B1A97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00122-1989-4A58-B0C0-9EDA8201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F3FA8-5FC7-4B6F-882A-A39B0EBE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E4B4D-32FB-4C9C-825E-8C1EBA45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669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CONTAINS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39194-3527-48F8-B54A-495D506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907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EEBA3-CEF4-4DD1-BB44-C521A7E2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66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48361-0901-4D8D-BC9C-F3A826C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51065-902A-4E56-8296-9E2F2ABF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A269B-20FE-4430-BD9C-34E34347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BC3DE-F4D4-4377-9304-9E9DA2F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DOI, title, year, venue, source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87C75-2DB5-477A-989D-49D4440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0980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E345C-A2B5-4E7F-99F4-D3ACAA8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86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prevents duplicate or ambiguous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4E45B-08C0-40C9-BB16-21DAF9D7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F055E-5E3A-4790-ABDB-5733652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D751D-8C00-4644-939F-1F9B2DF8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6225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DD993-87EC-47E7-B494-4EBB1927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label, confidence, model version, reasons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1110C-D3BC-445F-B8BD-4B494D51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6225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126CB-C690-4AFC-8039-959A25F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supports filtering and review priority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E5887-B3B3-4ED7-A81B-3A11B2AF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31A40-0A67-409B-B61A-2E6A50DC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matched people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10418-BA43-4DDB-BDC4-2749232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F929F-518D-44A1-A3E3-0AE509D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909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person ID, name, match type: exact / alias / initials / fuzzy / AC publication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D7840-EB63-4065-B061-C4DAFCB2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5398E8-4221-4E30-AE7B-54390999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909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distinguishes identity evidence from topic similarity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36FE55-6CFF-4226-AC88-8CABD379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F3A5E-2FFB-4BD8-8B6F-16D5651E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matched institutions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BD2F7-9887-4666-A0FF-B9878F91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5187D8-9D8E-48D9-83A2-2AFB3396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canonical institution ID and partner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36717-7A81-4449-893E-1C310652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6715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E9694E-92BA-42C9-A28A-EF61B77B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433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supports partner and collaboration reporting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7BE5DC-35D1-4973-BC40-F11C3A62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0BFA88-79C1-4F8A-AA14-2155D14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scientific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02655B-A3CF-4A63-9F75-934F6149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960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0C163B-6448-40C9-86F3-698F6F5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958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topics, methods, entities, full-text evidence, chunk IDs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8A2EA0-A3AE-4559-8341-E748ACE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1960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F95D24-B6F4-4213-8625-AFB04F1C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95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keeps the scientific basis source-addressable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FDD92E-CD40-473A-955D-12C5B7EA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ADD4BD-5B16-49A7-9BA0-060163B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graph explanation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7ED8DE-EF70-473B-8F7B-7155A244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7205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B176C8-F973-430C-98AE-8600DAE4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direct AC authors, second-degree paths, AC-core citations, cited-by-corpus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BDB1AF-0098-4B7F-8548-7E563775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7205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1E4CE7-B822-45FC-AE82-6AE75B1E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makes indirect attribution inspectable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7CBCC4-46B4-4858-9FAC-47DFB4CE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BB4B5A-90B7-4C9C-AAEB-63EA6314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616E40-BA52-4F5B-9832-DB0174FE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24500"/>
            <a:ext cx="468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3B193C-ABDC-42FE-9698-717F714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007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human label, reviewer, notes, timestamp / lock state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C8F770-813D-4517-81E7-F399589C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24500"/>
            <a:ext cx="4133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71A184-545A-4545-93B4-E17B521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00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preserves accountable decision authority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D6279-FE3F-44C2-B712-234EAA59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519ADC-EEEC-4F93-891D-C632C2D0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420F95-BE4F-475D-9920-227720C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186819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9361BD-B6A9-48FE-9B2F-EC49163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CLASSIFICATION SUBROUTINE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ECD4A-B904-4BA8-B03B-71A3613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5D3C9-366F-4D7F-89C2-557EE420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Seven evidence signals feed label-specific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BEA0D-951C-4337-B046-17BFC34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ED9E-DAFC-4066-B3C0-10B7F4C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26C50-6FA5-498A-89A4-C5B768E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author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117DA-B6A6-4D8D-BADE-964891F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288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D669-8327-418A-A758-A261BB4E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E8E95-2E3F-4EC4-B96C-3689C78B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49F0D-B9C8-4B58-B737-645F3E67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288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B6137-EDF8-400D-A8BD-ABB4A6CA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D6DF0-08C0-4C00-89B0-00C1A7A8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0A79C-2B30-4FD5-BD59-A2E62606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288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64329-F924-4C6C-8B0F-B1461B43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266E2-CB98-41E6-B9BF-B791E34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full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DBC74-D7CC-4E4F-A17C-E6558B68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288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563D2-8830-4105-BEB0-BE68D98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82ADB-EF71-4ABB-AC74-648AF3F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26B4D-8617-48F4-B732-50A42C7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288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60D18-FE4B-409E-A31F-2446D474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F6422-F54F-4CC5-B53A-51566DA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citations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2335E-C26F-4E92-9CE5-8A5098F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288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284D7-78FE-4781-9BDA-CEF8533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383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2CC06-F857-40DD-85CF-489FD48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entities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E2CAC-5082-423E-A7B7-1143917D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7067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C8CA2-BAB2-4291-AABC-5FEB3FCC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 = .35A + .15I + .25T + .20F + .10N + .10Q + .05E − .15D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A384E-938A-4AEF-B9A9-A63C8E8D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D = disqualifying evidence count. Metadata-only mode redistributes weight toward A, I, and 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30B72F-6D2D-43F8-8ABD-88333878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600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49318-6718-4B98-96CB-32676AF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C8720-DB52-4692-B176-7583E5CD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887E8-0910-4876-BA1B-7A9AAF8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direct / gold AC evidence + core SDL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9AFB01-B3D4-42D8-8653-834DEFE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600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28237D-41C5-4602-9196-4A0AB4E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669EE-9E1D-4103-9A3A-8E33B8C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955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RELATED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8BD3DE-52BC-43A6-BBAA-E26D6DCF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7652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strong identity, funding, or AC-core citation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EA9EC-8FDB-45CD-9AA2-F2A70D97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600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CA021-D1E8-4319-A9B1-26E829AA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96E067-978E-44DA-810D-EB77DCF3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57A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57A63"/>
                </a:solidFill>
                <a:latin typeface="Arial"/>
                <a:ea typeface="Arial"/>
                <a:cs typeface="Arial"/>
              </a:rPr>
              <a:t>ADJACENT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A122CD-0EAC-4427-8E93-44ABC47C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strong scientific relevance without sufficient attribution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59800A-C6DB-4F24-9CCA-8D0380F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3600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3FA1AD-FEFC-4700-BEDE-FF84616F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115162-5169-4052-A69C-53BA7D4A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767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UNCERTAIN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D28630-564C-44CA-9700-D9CCC45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576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partial or conflicting evidence requiring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86F2B1-4961-45D7-91EE-888471CF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600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5213C7-E3DA-430E-885F-86E751A0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F048DF-9055-4CBA-9B01-529F18B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673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EXCLUDE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E26830-CA85-4424-8028-425EADD6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no necessary condition survives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A43C43-8E0D-4337-BBE9-37ECF32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7067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23225B-02E0-4E0E-A901-D4D9D1E2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28AA5A-4156-49F8-B45D-7AE819D8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655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Confidence ranks cases. Necessary conditions assign labels. A high score cannot bypass the evidence required for a high-value attribution.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5D9D16-DB8E-468A-BBE6-09B251F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592D07-21FC-474C-8A54-3166EA6D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D28F19-090B-4FEB-A913-A127D9A1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24072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086FF-4F05-45CA-9FCF-B7C166A5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PAPER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3ABEE-E9E5-4A1B-867A-A106CBD2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C333-5A93-43E3-B997-9253796B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Attribution is an evidence tree, not a flat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6658-69D4-41A8-ACC2-11637CA3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EECE3-F241-4B45-814B-F38FC2D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8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33BF7-A60F-44B7-8895-F97A55D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66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C5961-779E-4EB8-BB5E-D1BB0446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9B75B-E58A-4E0D-A3EF-2354A3D5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716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→ Author → AC 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14695-5DFC-4A6B-91F2-BEF5DE4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716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+0.25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754B1-ACEA-4B1F-9E51-71C3B88C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860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F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5FCE3-2BEB-48FF-B026-893CC46E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9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2B624-05D7-47E4-9A92-B41A09E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431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→ Affiliation → AC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7F7EB-6E50-48D4-87B5-7C76F0F4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43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+0.30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743FE-9365-419D-B477-10238FA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57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A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178A1-1E93-40B1-BFCF-9F8E3FE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EB13E-276D-4848-AA3A-599CF9BD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→ Funding → AC program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E5730-8093-4AC2-B410-EB6805E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146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557A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57A63"/>
                </a:solidFill>
                <a:latin typeface="Arial"/>
                <a:ea typeface="Arial"/>
                <a:cs typeface="Arial"/>
              </a:rPr>
              <a:t>+0.35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1979F-3D77-4E39-99DC-00CF11B0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290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F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E2E7F-F172-4D20-B5A8-293F9FDE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72134-B1DE-488D-9A70-9ACCEEFC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861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→ Coauthor → AC author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39FE1-B18B-45F4-AA7E-844F8202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+0.10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A4339-E649-46D3-AE59-8BA03FA2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F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24AD7-D702-4F22-8D0E-E431AF54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26552-0FE5-4375-BF4D-2A33C19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576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→ Citation → AC core paper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10B52-48E1-43C6-BE30-6373E73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576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+0.08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241A8-8132-445E-AA6E-3E53172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720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A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643D9-4E90-4D5C-B696-FE1B77DA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82AAF-D813-4E7F-A871-A52E22D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291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→ Methods → SDL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6692F-AB2D-4DD4-B6AC-95C469A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29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557A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57A63"/>
                </a:solidFill>
                <a:latin typeface="Arial"/>
                <a:ea typeface="Arial"/>
                <a:cs typeface="Arial"/>
              </a:rPr>
              <a:t>+0.30 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228DAE-119A-467F-AF86-BD53A01F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600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A52F3-8A42-4040-A8AA-B5B7C452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85975"/>
            <a:ext cx="318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S(AET) = clamp(Σ positive path weights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 Σ negative path weights, 0, 1)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0E294-F6C4-4D9B-BB23-355FB62C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EACH PATH RETAINS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D641D9-5EC6-44D0-8869-E48501AA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6D12A-9860-4D1C-B337-1FE3AA76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path ID and evidence 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20D69-2EE1-4493-92D4-62CF2700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31D361-A20C-40EF-8B59-1C373F4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polarity and weight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AFD308-5225-4179-A245-6B2E34B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538483-2B6A-4F5B-9199-F8363478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core vs supporting centrality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2680AE-5BE4-45F9-AF2C-B067D41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48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1EB50D-71FC-4AA3-9BE0-04FF8B5E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 section and chunk 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1B282E-23C6-4254-BA91-B313556A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45B70C-CC61-4B67-97AA-0F6C15FF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81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generation and review context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97E4F8-D816-4BB8-A442-E9A92232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48325"/>
            <a:ext cx="3600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18BBBE-46F9-41B0-A0F9-68B2B33A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721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4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A74D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4D43"/>
                </a:solidFill>
                <a:latin typeface="Arial"/>
                <a:ea typeface="Arial"/>
                <a:cs typeface="Arial"/>
              </a:rPr>
              <a:t>Negative evidence remains visible; it is not discarded after scoring.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944DDE-3886-4CCD-93C6-A356FBB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738EB0-F3E6-40AA-8FFA-C8757C39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F0455D-DEF6-40F1-9236-F92C841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67575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2D17F5-2E2B-4C6E-9B24-DA39A9D8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PAPER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36F6A-AC4B-4295-833D-708D809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F2B32-1E6D-4FFF-B57E-63463C9C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Every graph claim can be opened as a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4285F-E97E-4611-ADF9-20A91BB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1A2E4-91CD-4310-B3EE-C7D5FDB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DIRECT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11C6A-0743-4088-978C-149A58E6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Paper → AC author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5B306-0AC9-4AD4-931A-E6097D3F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The paper has a verified AC member among its authors.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5E851-5AA1-4AA9-935D-C280A664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4DBF8-4256-4E4F-A7FE-615E01BF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337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SECOND DEGREE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76BED-DEC8-49BB-95EC-1E6AA2A4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Paper → external author → AC author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ED5DA-6054-43D8-8D96-F39CF2E5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The path records the two authors, shared paper IDs, and a path strength.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B3298-38F1-4D6A-8BB1-27538C69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D6634-5608-42C5-869E-F9C57520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CITATION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51E7F-5072-40F9-8912-8A7C484D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Paper → cites → AC core paper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C9218-5C13-4A43-B57B-AC9F4F60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30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The cited AC-core title and DOI remain attached to the signal.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A7414-90FB-4DCB-938C-2CE4736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09750"/>
            <a:ext cx="4324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58DD0-4C7F-43BA-9DB6-C81FEC28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GRAPH EXPLANATION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CBB2C-9336-4B47-9575-0A4B0FBC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direct_ac_authors[]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67F12-3C0E-47C4-97FC-A79E89B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verified names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68FFB-42C2-49D1-AA92-F922CF4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second_degree_paths[]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7D596-D73D-4906-94F7-677DAA6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9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via author · AC author · shared papers · strength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AC223-4F26-485B-B1B0-D7946F4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citation_signals[]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06521-A4BF-4EB6-B95F-DB2AB97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AC-core paper · title · DOI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8B4D7-7219-439B-8794-B891002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cited_by_corpus[]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A8530-C5AC-4B99-A9F1-96230DAC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reverse corpus citations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E8C3A-1AAC-47BB-BC44-506284E8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957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2404C-A0B5-40DF-AEBA-AEF05D2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deterministic explanation 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2A2ED-53F4-4D5F-AE60-5BCB00A8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71975"/>
            <a:ext cx="4324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26829-B097-428F-9595-48A9DCD6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148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N(p) = maxₐ PPRAC(a) × [1 + .25·max(0, cnorm(a) − 1)]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4479E-FAF1-4BD3-A0FF-480E99E4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6732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8EDAF-4EBC-42F6-AA1D-47FF0BA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102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Q(p) = min(1, 0.5 × | unique AC-core citations |)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20CB2-0537-40C7-A7CC-49D84DA5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EC626-0C2A-4BD1-BB8C-AD70D5F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7CA135-D929-44CD-8FF6-A80D71A4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621778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2250A9-58D6-4646-AAF0-523E99B9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CONNECTION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5B835-0999-4D04-8D88-115C9366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3C66F-64B8-4971-AED2-127C1D4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34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Raw co-publication counts are normalized before they become relationship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9BD4A-DD57-4AE3-AE85-F90F24E0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CE905-C30A-4577-B382-DDBDEDA3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724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05E5F-9045-4C50-8C11-684F2C4A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630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R(u,v) = shared papers(u,v) / min(paper count(u), paper count(v))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CF165-62B7-472D-9406-BB98D59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672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This asks how much of the smaller publication portfolio is explained by the collaboration.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0E43F-CFE8-4776-9036-197DD3D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065F9-9057-4E78-B355-2545271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3F08F-2532-4631-AF96-C29AC92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4538-17B0-4B0D-809A-FC37EFE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5B583-72D0-4A33-8609-610CD3EC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85C79-A7B9-467A-BE26-D3DE59E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PAPERS (u,v)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5BE9C-8D7D-4CC2-BE4C-2C311E2B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EA83E-0E86-46DA-A01D-D1D00CDE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IMPRESSION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973BD-1A53-429B-88B1-B2509A03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3BEEC-80E2-4842-AAC0-CFB3CFC8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24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NORMALIZED 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D50C6-6A5B-48C8-90C1-995AFDB0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102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C85CF-CD7E-49F8-AA6B-D3929236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0B0C4-9BFD-4813-8A7B-DF6953C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87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3FFA9-2CAD-47D9-A24A-AB4959B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22EAA-B338-48BD-90DE-0032C45D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67150"/>
            <a:ext cx="135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57B32-9270-4770-B02B-0EB879BC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4 and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54056-5550-405F-A6ED-D892418A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6715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37FCF-C673-42DF-B900-AC08821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433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moderate tie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2AF7E-8045-4A97-8A2B-6A0C115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67150"/>
            <a:ext cx="158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70CA5-6271-467D-9D0E-EEC9F1B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E6D4D-FE33-415F-A889-14F6EB4C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102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959CA-F168-46CA-8A1C-3A07C441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A7ED5-60AA-4A88-B88F-788DB60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87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0B432-0EE3-4859-B6B8-50EE4D05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D072EB-A3FD-4A77-8D91-2B9C63CC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135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8A8A8-EA26-4CE8-AE8C-4A8FB7E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30 and 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E3635-A4C6-4D57-A4FA-24AC765E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9580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67724-A0EA-484B-9688-656B755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720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larger raw 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628F9-EF7F-4C54-9D31-B330D99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158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C25780-4724-4537-93E6-E5CFDEDE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7200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A0081-EC91-43A3-A0CF-64ECC86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8663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B8663B"/>
                </a:solidFill>
                <a:latin typeface="Georgia"/>
                <a:ea typeface="Georgia"/>
                <a:cs typeface="Georgia"/>
              </a:rPr>
              <a:t>Example A is the more concentrated relationship even though it has fewer shared papers.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97A4C1-4B33-4C51-B020-A4FA97B1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90700"/>
            <a:ext cx="400050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528C2C-EEC0-48E0-8E05-37688166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ADDITIONAL STRUCTURAL SIGNALS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E8A1C2-31F2-446A-8D2F-AA8EE1AA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66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PPR toward AC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4A829E-CFCE-4A23-AFDA-DA58D63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Proximity to AC-seeded authors through the weighted coauthor graph.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BC5C26-AA09-4071-8BEF-839CC26F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Evans–Chen excess centrality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042F6-F685-4F78-98F4-B3A37E7B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00475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Highlights authors whose collaborative reach is larger than degree alone would predict.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89EA16-2675-4E1B-B0B0-50E6BE8E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053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Bridge score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4EA44A-E1C2-4733-8FB5-1771CDC1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3870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557A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57A63"/>
                </a:solidFill>
                <a:latin typeface="Arial"/>
                <a:ea typeface="Arial"/>
                <a:cs typeface="Arial"/>
              </a:rPr>
              <a:t>B(a) = min[1, PPRAC(a) × max(cnorm(a),0) × SDL diversity(a)]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8C6361-8B0F-4AA1-B433-5E4F14BB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C7449A-AAAE-4612-90C1-DDE2870C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6D0D75-D7A8-486C-BE3A-772C4086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20103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EEF86C-4342-4EA1-A421-189F7979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CONNECTION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51CE4-EB5C-47A8-97BA-75BF8EA3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84722-1567-4760-AAB5-1122997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AC can rank the same network for different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3FD0C-B1B5-4F68-BAE1-CC684C02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0B860-5C21-4AD0-8CC4-B11FFDDD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69AE5-E6EC-46DF-B2AF-C2F3C119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1078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Iₚ(a) = Σₖ wₚ,ₖ × xₖ(a)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1C03F-C531-4E20-BBD1-997780B5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7177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F4A86-C442-4B58-98F7-3467F2F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1E732-418C-44D2-B8B3-B79A3273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71775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361D9-118B-42F8-AAAB-61191F3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47975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DCE19-9D53-407C-9F7A-597DB0D4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71775"/>
            <a:ext cx="501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9CB85-E436-4A1E-9E01-615F735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4797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NON-ZERO WEIGHTS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759A5-B6E6-485C-A1FB-D47F9872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2A11C-2E53-46A1-88E2-18093F1F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 attribution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546D1-1FC0-4F33-8EAA-188EE36C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A4779-CECE-4E50-9C80-B29639A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6707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Who is structurally closest to AC work?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1FC38-7881-4501-9B53-6FB333A3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01317-2E04-48B1-907D-F1757161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670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 proximity .55 · relationship .20 · citation .15 · recency 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4AA24-B3E5-45AE-9F7C-48E1623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2139A-8A34-4F5E-AF1D-3EDD619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Bridge builders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D78D3-AD96-47BC-8E3F-D9C457E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433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908DF-149D-488C-B012-12D5B72C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1952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Who connects AC-adjacent communities across SDL contexts?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2F6B2-B8B4-4563-9170-74E3E7F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4332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6E46E-2AE2-455A-9663-AB06D512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952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 proximity .35 · excess centrality .30 · SDL diversity .25 · relationship .10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FC3B5-AFC9-42F4-8B98-CD337CA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0B984-DFD1-41D1-A31F-514C6E1E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Institution hubs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A0BC5-7946-4919-A85E-DF86E92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957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4F251-586C-402E-ACCF-3AD4D42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7197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Who sustains institution-spanning collaboration?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175B1-1E5F-4948-87DA-A6815864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957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EEDFF-FB12-409D-80D8-83BDD0C0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relationship .30 · excess centrality .25 · SDL diversity .20 · AC proximity .15 · citation .10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6EDE2-5360-4089-8E89-5FF5696D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482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9A9C6-8C2F-4710-A366-F7710F5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Emerging connectors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C6CDFE-E49D-486B-98EB-202A4FF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482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A1523-A430-4863-A9F5-621A6A2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2442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Which newer authors show early bridge potential?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7E7B58-09D3-419C-B6A6-928326D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4822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895E2-391B-462B-A384-5F7EA54B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2442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recency .30 · excess centrality .25 · SDL diversity .20 · AC proximity .15 · relationship .10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1BB2D-D3DE-49A3-9723-A7B652AE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006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714ADF-90B6-4B3E-9B84-2E3264DF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Topic diffusion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3C2B5F-88F4-44D3-A1E5-48EA47A3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006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AA7817-E4E3-4E8E-8D68-BBB3ED3D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7687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Who helps methods and topics spread between SDL areas?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0DAD9C-10A4-43DA-AF24-A20CE99E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00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D45546-2438-41CB-9DF9-5C134F8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768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SDL diversity .35 · relationship .20 · excess centrality .20 · AC proximity .15 · recency .10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EB96AA-F7AA-42F8-B11F-D5CE3BD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The UI exposes both the profile weights and each dimension’s contribution; profile changes are therefore explainable rather than opaque.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44E480-6C0F-42BA-8EDB-FB1AF606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CD0748-9DBD-44EF-8268-8D1B8A9F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1CE9F2-A8F1-4CEA-83B8-9E499A0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170287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A1ECE-A571-4FD2-9F07-73405BC4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IMPLEMENTED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D9CD0-44C8-4E98-9B06-A991CD10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1614-1138-420F-B656-D22EC665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1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The coauthor view exposes bridge authors and the evidence behind each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3AEF-05A7-4865-B948-F340BAF0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02CBE-0D20-427C-8F82-3FFC3075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WHAT AC CAN 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DDF97-AE25-4C75-B647-0240413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Question-specific ranking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D9479-7F44-4A12-BBA1-D6EF42B6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Switch between AC attribution, bridge builders, institution hubs, emerging connectors, and topic diffusion.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1B35C-3F7E-4234-B750-CB5615B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BF27C-A541-4369-B9E6-0F5AC0B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Author-level explanation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36F0-31B3-4B40-8F5D-5C5B2511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004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Paper count, collaborators, PPR, cnorm, importance components, and a human-readable explanation.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2F0F1-54AD-42E6-8FE7-355EDC9D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EA10B-9D83-4A29-A37C-E8ECBD60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Edge 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BCFAE-2E65-4B3C-9BE5-4CAC8073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96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Joint-paper IDs, normalized relationship strength, and whether an edge involves AC.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fabc05ece46f3"/>
          <a:srcRect xmlns:a="http://schemas.openxmlformats.org/drawingml/2006/main" l="0" t="4976" r="0" b="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733550"/>
            <a:ext cx="7886700" cy="4438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83BB3-20B2-425C-9320-A88A322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33550"/>
            <a:ext cx="7886700" cy="443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226D2-EFF5-4D3F-847D-E0CCCA9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229350"/>
            <a:ext cx="788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1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B8F91"/>
                </a:solidFill>
                <a:latin typeface="Arial"/>
                <a:ea typeface="Arial"/>
                <a:cs typeface="Arial"/>
              </a:rPr>
              <a:t>Interface captured from the current frontend with mock data; values are illustrative.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0F110-CFE6-410C-8E3E-4A6C6DAD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47E17-912A-4479-913D-DC55673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8A754-B029-4A28-AA88-97545142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2437765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42461-711A-4BC3-87EE-C5E4D0D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IMPLEMENTED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9C437-11A1-44FC-B3F2-78027183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2681E-F22D-4A26-BA7E-3838269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Institution connections can be traced from joint papers to topics and labels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708C1-FD09-4CFA-8617-1C2E981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5a39547e24795"/>
          <a:srcRect xmlns:a="http://schemas.openxmlformats.org/drawingml/2006/main" l="0" t="4439" r="0" b="4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24025"/>
            <a:ext cx="7810500" cy="4448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C52E-DF1C-40CA-AD5D-B1B9173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7810500" cy="444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A9552-63EF-4EC6-9CD0-31B841A0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1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B8F91"/>
                </a:solidFill>
                <a:latin typeface="Arial"/>
                <a:ea typeface="Arial"/>
                <a:cs typeface="Arial"/>
              </a:rPr>
              <a:t>Interface captured from the current frontend with mock data; values are illustrative.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C0A4D-D71A-4386-A23B-0CD304BF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THREE LINKED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11796-426A-42C1-8111-6546EA5C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E9390-A039-421C-A30C-0A0D0EB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6697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Which organizations appear on the attributed papers?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B25DA-9C79-4207-BBB5-1943BDB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269E5-B778-4F73-A97D-3693A77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9567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Which scientific themes connect those organizations?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94EC8-2902-4230-876A-EA017E5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1C87-14A1-47BF-BDFC-B7829C80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How does the evidence resolve into attribution classes?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B432F-2605-4D33-916D-F867BB18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0542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129BA-E491-4598-8178-04F247C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14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INSTITUTION HUB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E166D-2794-4504-A6E0-530A73D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912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H = .4 degree + .4 betweenness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   + .1 partner reach + .1 international reach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6AAB3-957C-408E-B74A-61B2B028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1F5E6-1AE6-4676-A4BC-533243E8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458A5-97F2-4A2A-B058-83B28232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234704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A9078-672C-460F-AE9A-92C0FE4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IMPLEMENTED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12E1D-ABD2-4DA1-BE41-D25829EE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B4B96-B61E-461E-8F43-B0AFAD2C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61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The multi-entity graph joins people, institutions, papers, topics, methods, funders, and AC 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18D31-80AC-4C22-ACB9-AF89DF1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EA78D-38E5-43F7-AD8A-6B5EE38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NODE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22D1A-2354-4280-8F66-2C2B234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85975"/>
            <a:ext cx="152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authors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institutions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papers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topics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methods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funders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AC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22F0F-3AFA-493D-9031-F8256FD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EDGE PREDICATES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33328-2041-4047-8E74-85CDCA85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85975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7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authored</a:t>
            </a:r>
          </a:p>
          <a:p xmlns:a="http://schemas.openxmlformats.org/drawingml/2006/main">
            <a:pPr algn="l">
              <a:lnSpc>
                <a:spcPct val="127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affiliated with</a:t>
            </a:r>
          </a:p>
          <a:p xmlns:a="http://schemas.openxmlformats.org/drawingml/2006/main">
            <a:pPr algn="l">
              <a:lnSpc>
                <a:spcPct val="127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belongs to topic</a:t>
            </a:r>
          </a:p>
          <a:p xmlns:a="http://schemas.openxmlformats.org/drawingml/2006/main">
            <a:pPr algn="l">
              <a:lnSpc>
                <a:spcPct val="127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uses method</a:t>
            </a:r>
          </a:p>
          <a:p xmlns:a="http://schemas.openxmlformats.org/drawingml/2006/main">
            <a:pPr algn="l">
              <a:lnSpc>
                <a:spcPct val="127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cites / cites AC core</a:t>
            </a:r>
          </a:p>
          <a:p xmlns:a="http://schemas.openxmlformats.org/drawingml/2006/main">
            <a:pPr algn="l">
              <a:lnSpc>
                <a:spcPct val="127000"/>
              </a:lnSpc>
              <a:buNone/>
              <a:defRPr sz="127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institution collaboration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B6F2B-C349-478C-B624-0212344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34515-5B0E-45F1-9CF8-C08A7E7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Center any entity, set a hop limit, choose edge types, and move the time window without changing the underlying provenance.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82743844e4763"/>
          <a:srcRect xmlns:a="http://schemas.openxmlformats.org/drawingml/2006/main" l="0" t="3183" r="0" b="3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724025"/>
            <a:ext cx="7600950" cy="44481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B0B26-B7E7-42DF-BB9C-1C0CBE43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24025"/>
            <a:ext cx="7600950" cy="444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CF77F-4FF3-4493-BFDA-BA51D7A0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29350"/>
            <a:ext cx="7600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1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B8F91"/>
                </a:solidFill>
                <a:latin typeface="Arial"/>
                <a:ea typeface="Arial"/>
                <a:cs typeface="Arial"/>
              </a:rPr>
              <a:t>Interface captured from the current frontend with mock data; values are illustrative.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52B6B-5621-4211-B2FA-114E420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75999-E6C8-44B7-A6CA-E210DED2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BA91C-040C-4C68-9F1F-2107793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0174198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946FC-FBD8-423D-A943-610094D6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IMPLEMENTED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794AD-CC5D-46D2-B598-5AE43BB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DC3E8-D6B7-4161-8F00-42C25E48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AC can monitor growth, emerging collaborators, themes, and citation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9F8B2-B7A6-4BC1-84F4-21C1C295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823fc04594383"/>
          <a:srcRect xmlns:a="http://schemas.openxmlformats.org/drawingml/2006/main" l="0" t="4988" r="0" b="4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24025"/>
            <a:ext cx="7905750" cy="4448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EE981-6FEE-437E-9263-CE01C55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7905750" cy="444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6B8F3-A21B-4791-9FFD-80843299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1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B8F91"/>
                </a:solidFill>
                <a:latin typeface="Arial"/>
                <a:ea typeface="Arial"/>
                <a:cs typeface="Arial"/>
              </a:rPr>
              <a:t>Interface captured from the current frontend with mock data; values are illustrative.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434FB-1160-433B-B9EA-7093DAB8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METRICS ARE SQL-DERIVED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45BCA-0CA4-4DF3-9D2A-E2BED30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Attributed papers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BC2A9-9743-4472-BB89-7CA1E221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CORE + RELATED by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AFB93-9760-44C0-B9BC-C538E22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527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Citation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A6BEE-51DF-46E6-B809-C78E4AA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corpus citation edges by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27F2F-6C56-4D27-910C-EAC294E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Emerging institutions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CA33F-22C9-4291-AC1C-D03A36D8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004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first year + paper count + partner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282EF-AC1A-4CDD-A2CC-2D88363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528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Emerging authors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7B83F-675A-4D62-B5BC-5C6BC4E1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005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first year + attributed-paper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F6A6F-849E-4DF6-A97D-C4F2ADDC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529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Growing themes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EA033-4CBE-4D7F-8484-39787AD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006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recent versus earlier topic 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F65B1-8AEF-4435-A84A-17F88B2B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530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3A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A4C"/>
                </a:solidFill>
                <a:latin typeface="Arial"/>
                <a:ea typeface="Arial"/>
                <a:cs typeface="Arial"/>
              </a:rPr>
              <a:t>Drift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EEBED-60D7-4682-B4DC-88C1618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006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69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972"/>
                </a:solidFill>
                <a:latin typeface="Arial"/>
                <a:ea typeface="Arial"/>
                <a:cs typeface="Arial"/>
              </a:rPr>
              <a:t>year-to-year topic-vector 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70FD4-F20E-4090-825D-210BC22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895975"/>
            <a:ext cx="29146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A8066-36F9-4551-BDA7-B121A734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72175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A74D4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74D43"/>
                </a:solidFill>
                <a:latin typeface="Arial"/>
                <a:ea typeface="Arial"/>
                <a:cs typeface="Arial"/>
              </a:rPr>
              <a:t>LLMs do not calculate these numbers.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63885-0409-427E-8529-C153AA5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D22A1-4D17-4150-9898-45CEC03F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B5C2E-2740-4E69-9A33-37B95F9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162147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057130-34A9-40E2-AF89-8950DF5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5288B-C875-4672-B844-777D0EF9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D7B52-9C44-4BC5-BC09-B6F992B0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Connection intelligence supports concrete operating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4F013-D33A-4275-86B5-FEBBC53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6773F-5ED8-4E06-A3E5-EA3BF028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81175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06E5E-E622-45BA-B446-EE48393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OPERATING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E9A5-5B55-4127-AEEC-D06E886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811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04B35-06E1-4AEA-9C1E-BD91DB0D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5737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DDC77-74B2-4A95-9DF4-10565E8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81175"/>
            <a:ext cx="3486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30EB4-4172-4D4C-ABD7-8327C0C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573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AC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5305B-2610-490B-AE47-6A9D965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0275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FAA2F-4619-4A42-8C51-388E04FA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Which papers are attributable to AC, and why?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C2127-91DF-4E00-89C4-23684FB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027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ECEE4-35EB-4840-B6F1-21114EE9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record · AET · graph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821B0-F4D0-48E2-98CD-FE7E141D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0275"/>
            <a:ext cx="3486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6810B-2310-416B-A317-321FACB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76475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review, publish, or correct the attribution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EDAC8-EDD3-47FD-812E-76EE8DB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28925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7E9BA-AE09-40EE-B0F1-5F8E712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Who bridges AC to an external SDL community?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5E6E9-D675-4380-BF51-65ADA44E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289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7AB8E-9D99-451C-8E4C-F794087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051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PPR · excess centrality · SDL diversity · joint papers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8D981-125B-47E5-8D5C-BF36298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8925"/>
            <a:ext cx="3486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C8C96-9E13-492A-9E0A-1D46243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05125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prioritize outreach or collaboration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FD42A-7F7A-47F3-8C00-5F82C50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57575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AA0306-88FB-4EC4-ABB3-A2956D2F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Which institutions are emerging collaborators?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DD94E-39E0-4F67-A191-2F79B301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5757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340F1-DE9B-4C9B-909E-AF5AF014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3377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first-year activity · institution edges · hub score · geography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C5064-01BB-442F-BCC6-B364160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57575"/>
            <a:ext cx="3486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99994-F65B-4150-945D-08A4ADE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support partnership development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6E96F-E242-4BB2-ABEF-FC75704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86225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42064-9D17-4A6E-9870-1FD46F94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Which topics or methods move across communities?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F9167B-72AE-4462-80B7-DD2CCFAE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862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3FA9EC-681A-4A07-97C3-A9915C85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624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Sankey · multi-graph · topic diffusion profile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EFCE6E-42C7-44E2-B94B-A6ABC49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86225"/>
            <a:ext cx="3486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FA5BED-0445-43DB-AF9F-6E688514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62425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identify translation opportunities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6348BE-666D-464A-AB1C-00067D8A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4586F1-51B6-49D1-8C01-E0206469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Where are the evidence and ingestion blind spots?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54454E-2E3F-461A-87E3-01A60A6F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83C150-227C-4D96-8DED-A2A93345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9107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evidence gaps · duplicate candidates · missed-paper groups · drift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BA1C8D-A103-4369-A0DD-DA9ED00C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486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BCD885-7DEE-483C-829A-DD32F26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91075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improve dataset coverage and review policy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363CA-4B51-47BF-AFBB-6A6D6D1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43525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B5819B-F115-4A3C-B4AF-A3687667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Which claims can go into a stakeholder report?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F4217A-2AFA-4B5A-84C6-F382317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435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FD01BD-140B-4655-BD64-CF84F48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197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SQL metric triples with source links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6BA11D-955B-4BD8-9732-224FFC92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43525"/>
            <a:ext cx="3486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942EE1-C0E4-4177-9873-D152EE28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19725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produce auditable reporting without invented numbers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10A652-3DAB-48B9-8B5C-9E189C45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05525"/>
            <a:ext cx="11201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B866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B8663B"/>
                </a:solidFill>
                <a:latin typeface="Georgia"/>
                <a:ea typeface="Georgia"/>
                <a:cs typeface="Georgia"/>
              </a:rPr>
              <a:t>The system turns bibliometric records into a decision surface for curation, partnership tracking, and scientific translation.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B5EC2C-842A-4F25-BBF7-931F7D98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95850B-61D0-42B6-AC2C-AEF2E700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3CE566-178C-4A57-A199-BE81ADFF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18464324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EDA336-4603-4562-B65C-D8F87028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EVIDENCE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1DF7-3257-4EE1-878E-9BBDB859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F8F56-A4C6-44EA-8FD5-DA9985F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6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Retrieval answers questions with graph context, propositions, and source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F99F3-5292-4C88-A4FA-E7E91DA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F5986-DAF6-406F-A4D6-735C3312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384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EC710-5E05-4F07-91DD-4DEF5FE2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384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20F0A-CC66-432E-9F63-15AEBB3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E26ED-BBB8-4289-A968-A7197C4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831B-9780-4F03-B014-4FEBFDD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384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81CDC-6CC3-4D9C-9690-A2AC3BDC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97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C3AC3-7CD6-4831-8649-C31B087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42B9D-7A02-4B71-BBCC-0E30C9AF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natural-language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F55A1-6632-4FD8-8B2E-FDCDFC67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61ED6-44A5-446A-928B-A9810FF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E1E80-9556-44C1-92C3-482EFBF1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BM25 + cosine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FB7EB-5BE8-4C44-9EE1-432C6B37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97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6E481-0D14-4A0A-B452-A875DBF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77B3C-FB6D-43F5-B051-0AC5AB09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RRF, k =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91E63-39E5-4F02-921B-0EEF39C5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97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97231-548C-45A9-B4AE-90015D5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383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743F8-138F-4E0E-94A4-11161FB8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centrality rerank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31BCD-984E-4CA2-975E-04A87A5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97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FB438-53F9-477D-8D88-E494CCD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E064D-79E8-49B2-A0C0-A004998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proposition channel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BD8C5-CD95-416A-87B7-2278444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97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D33A7-729D-46D0-A271-D6C1B3C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383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25961-ED50-43F9-88E9-3E9F873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9080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answer + sources + retry 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75CB2-90DA-435B-B6F9-3A1B7F7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4597A-7351-4141-8FAF-45AEE737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624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RRF(d) = 1 / [60 + rankBM25(d)] + 1 / [60 + rankcosine(d)]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8E368-27AD-4358-A023-F5210E34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C92E3A-7419-43C9-B686-0C7D41EF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624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score′(d) = RRF(d) × [1 + 0.3 × graph importance(d)]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8C8E2-A33B-4A34-AC02-7CA959EA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48100"/>
            <a:ext cx="4076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EF41B0-78AB-460F-A5BE-5B192DB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EVERY RETURNED SOURCE INCLUDES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07231D-E16F-455B-A50B-14F0700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543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ID and chunk ID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section type and title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BM25, cosine, fused, and graph scores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graph-path context when available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 precision and missing-evidence signals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1761B4-0A62-4D93-9766-17F309B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76925"/>
            <a:ext cx="1120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B866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B8663B"/>
                </a:solidFill>
                <a:latin typeface="Georgia"/>
                <a:ea typeface="Georgia"/>
                <a:cs typeface="Georgia"/>
              </a:rPr>
              <a:t>Structured questions about methods or funding can use proposition-first retrieval instead of relying only on free text.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05D6C-A03A-46C6-A79B-2AA884CC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152F91-54A8-4A94-9113-6C666CB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FF6908-651B-4FE9-B4CD-3D90470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7801627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6316D-5FE5-4176-B5EC-88D5FA10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95BDA-8A9D-428C-9047-0FB28299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2AD7A-68C4-459C-8313-E3E294D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Human review and reporting preserve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80D85-22FE-4818-B85E-D47644CF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1A51A-276F-45D8-BE8B-F9406830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95600"/>
            <a:ext cx="590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7F926-A5DE-4679-A820-40707130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590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D5F7D-150E-49B4-96ED-7786073B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590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F61B6-A83F-491E-B256-C7A1EF89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2286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EA5BA-63ED-49B2-A51D-B67F49AF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AUTOMATED PROPOSAL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2E695-090C-4C1B-A337-363F7AD2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label · confidence · AET paths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uncertainty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4603D-7EDB-4C74-9AD6-1FDBA72D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2286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AEC0D-4860-4E15-80C8-5AE4E60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33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HUMAN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41AB5-FE33-4082-A9B5-408A00F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051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include / exclude / uncertain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reviewer + rationale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23C9E-C059-4D24-84D6-0F518FE9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2286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E64D2-4074-4BBC-9C33-B3BDAE4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33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LOCKED ATTRIBUTION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16469-B76B-456B-9366-B63A63B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051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later automated passes cannot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silently override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1290E-7DED-4644-BAB7-A433B6D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286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2922D-A495-4407-9500-BEA2221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REPORT / 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A5965-190B-46D4-82B5-9CABAFD7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CSV + SQL metrics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source-linked narrative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3CE29-6D6B-4130-9281-84F59E9B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52197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549C4-5A8A-4481-9D64-2C2F61A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SAFE ROLE FOR 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4561C-F2E6-47C5-A3EE-8A4BB5C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adjudicate only an uncertainty queue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summarize retrieved evidence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draft reviewer rationale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rewrite reports from supplied metric triples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0A040-D4AD-4556-9827-9B331A09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86250"/>
            <a:ext cx="55435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2981B-41A6-438C-A4C3-34B618D1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AUTHORITY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CCAB9-6A40-4285-BFC7-6F5BD838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Claude may not create papers, graph edges, citations, measurements, results, or numerical claims. Human-confirmed decisions remain locked.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19148-A1B1-4DFC-9D62-7D0C0BAE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14AD0-0DD9-4311-B3A1-9871213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D5F98-D780-4E21-B34F-D502573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7583692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84AD86-67CA-4A02-819C-BB9FBEE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KNOWLEDGE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E4B57-C2F4-4B86-9DD0-302AAA9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12BDE-7739-43A3-85E4-C87EB0D0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6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Attributed papers become source-grounded cross-SDL transfer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BD5E6-0F72-45C4-A15F-456B906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D275E-EEFB-4BBB-9D98-7B351007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67025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E53C9-972E-4B7B-888B-BBDDA4EA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67025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B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30333-C0C2-4B5D-AB81-021B250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67025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E61A5-0574-4191-B100-4AC630AD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67025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8CB4A-F1C3-4535-8A61-2629AEBD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67025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13C60-0422-4684-8B39-0A085540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97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C0E33-8E84-4AD6-9102-7179B57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ATTRIBUTED PAPER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12509-010C-4140-B3DB-CEACD9B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reviewed evidence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96649-AF27-4D42-B1D6-C05A7D6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097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F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1FDF2-90CF-4B1B-B392-544AC0BB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383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STRUCTURED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68FFC-4D59-49BA-BD8A-9B99629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479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entities + propositions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B4655-A1AD-4B2A-ACBB-9F46666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F7C54-5AE1-45B2-87C1-63CF5F26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TKU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0CEC2-4F9B-45BF-9178-18F65AC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method core + assumptions + lessons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23C5D-3C2E-4219-BBC0-3761440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97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462EC-2F12-4027-BC19-60E4ED84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TARGET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9140F-A725-4E09-8363-736FF490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different SDL domain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61D4C-707D-4325-9939-BD24134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98086-323A-4A0A-B7E0-45FF2B79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TRANSFER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14760-4F3D-45DE-85D4-A05DBAC2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plan + risks + citations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D7234-E465-4D19-B4D4-B69FF766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97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E9836-873C-414A-8001-71D7B75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383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KNOWLEDGE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74058-3572-476F-B030-26A9CD8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479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203A4C"/>
                </a:solidFill>
                <a:latin typeface="Georgia"/>
                <a:ea typeface="Georgia"/>
                <a:cs typeface="Georgia"/>
              </a:rPr>
              <a:t>human-reviewed reusable asset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A05B2-327C-4BFC-8A37-A2081926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C6FA2-8F00-4ABA-B6CB-4191989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81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Transfer score = match strength + novelty + transferability + evidence − risk penalty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B421F-EF94-4FE5-A0DC-5D56EDCE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3543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4A2E4-6CAF-41B7-A114-C995B58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81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SOURCE CONTRACT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A07F6C-0ED2-4D06-8F31-A23BDE5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Every generated claim carries a source tag such as [src:paper_id]. Same-domain matches are excluded. Human review precedes acceptance.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39FE00-09F8-4DAB-A23C-96CD103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B8663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B8663B"/>
                </a:solidFill>
                <a:latin typeface="Georgia"/>
                <a:ea typeface="Georgia"/>
                <a:cs typeface="Georgia"/>
              </a:rPr>
              <a:t>Classification makes the corpus searchable; attribution makes the extracted knowledge defensible.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758FF8-519C-43E6-A2BE-2F9E9858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AEB860-6183-4F3F-8CDA-DEC6A5E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BD3F88-AD96-4E97-BC6C-009FA5C7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7706905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B789B7-41F4-4945-A620-345FC99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SYSTEM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3F89D-F742-490E-BF4B-4F9C6BFD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72BB-BA3F-4E1B-B1E6-3D2CDBB2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Current capability, optional layers, and experimental work remain distinct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3AAE1-CC79-4BED-8B81-C11C7906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3EBB0-46E8-4DA7-BA6E-76C067C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95E19-6417-4F4A-9BD9-66C784FA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13572-A869-408D-BC46-F0E2864A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594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43DC8-D10E-450E-8967-A5394BD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66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83E54-D3AB-4E15-AE91-C07E5E6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C"/>
          </a:solidFill>
          <a:ln xmlns:a="http://schemas.openxmlformats.org/drawingml/2006/main" w="9525">
            <a:solidFill>
              <a:srgbClr val="203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44850-678C-4743-8693-FFEA2AC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AUTHORITY / LIMIT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2C923-E233-48B6-8D85-89F38239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F4306-FC14-4DE8-BED0-CD24C6B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AE7CC-B3AA-45C8-A544-7F21C7EC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9800"/>
            <a:ext cx="594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A53DB-F2A8-44CD-91AD-147210C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paper attribution record · AET evidence paths · deterministic graph explanations · coauthor / institution / multi-entity networks · Sankey / impact / drift · source-linked retrieval · TKU and transfer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05EA1-9475-44FE-BBEE-5B2D0FB4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352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0D4F6-669A-400C-B44F-BB485922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implemented paths in the current repository; outputs remain evidence-linked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80E4D-C112-4632-BAED-189727F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A8385-41B7-420A-A3B0-4658733F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C5E8E-4265-4711-A54E-50E994E4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4700"/>
            <a:ext cx="594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7FF64-DE73-4E08-86C8-83B61A6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Claude uncertainty judge · Claude report rewriter · learned classifier using 14 engineered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7620A-1B72-4E27-9EAA-68B7FDC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335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7499A-3A50-4A23-A81E-E10594E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default-off or conditional; bounded by retrieved evidence and high-margin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4E8B5-2BC5-42E0-B6B0-642E96B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16515-4FFA-4FDC-B1A1-58CB3BFC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OFFLINE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FD71F7-4F87-4CAC-A063-3C6285D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594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34E94-8617-46AF-A138-4097453B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481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ten leakage-safe structural graph features + balanced logistic regression + leave-one-out 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D1436-7436-46A5-B73A-EF7FA713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35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5E12E-DB27-45FC-8DE0-36096AAE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evaluation artifact only; no production authority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41817-1A50-4DA7-9614-2CE9933A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F7B1C7-2E7C-47DC-AE7A-E278C16D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FUTURE EXPERIMENT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956FB4-A3F3-4FCA-A0C1-3495BACB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29200"/>
            <a:ext cx="594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475B28-AECB-435D-97E9-5314B3F1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054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PyTorch Geometric / DGL model training, saved weights, inference service, production classifier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4DCCA-6BA4-4AFD-92B8-97D2A11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29200"/>
            <a:ext cx="335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3"/>
          </a:solidFill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A2B671-EDE6-43EE-9527-74632BF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not implemented as a production GNN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A33C9-B99B-4218-9DFA-BC9975B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1120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326C26-DEFE-4C23-B90A-2A853C6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A74D4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74D43"/>
                </a:solidFill>
                <a:latin typeface="Arial"/>
                <a:ea typeface="Arial"/>
                <a:cs typeface="Arial"/>
              </a:rPr>
              <a:t>Do not describe graph export or the offline structural baseline as a deployed GNN classifier.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A0C66-565E-4620-98CF-16D45829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8A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195033-4389-4F8B-AFFE-D55F78B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8B8F9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B8F91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B03C0-8A87-4818-BEE4-340E331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81775"/>
            <a:ext cx="3629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87F9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87F96"/>
                </a:solidFill>
                <a:latin typeface="Arial"/>
                <a:ea typeface="Arial"/>
                <a:cs typeface="Arial"/>
              </a:rPr>
              <a:t>ATTRIBUTION · CONNECTIONS · KNOWLEDGE</a:t>
            </a:r>
          </a:p>
        </p:txBody>
      </p:sp>
    </p:spTree>
    <p:extLst>
      <p:ext uri="{BB962C8B-B14F-4D97-AF65-F5344CB8AC3E}">
        <p14:creationId xmlns:p14="http://schemas.microsoft.com/office/powerpoint/2010/main" val="9761818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3A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4F82F-6325-45FD-A773-BBE43632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MEETING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08D14-745E-4367-A751-0DEE8061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Decisions for a shared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bibliometric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8A217-4ABB-4A82-97FB-E9D4D6BB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The first release should define not only which papers enter the dataset,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but which relationships and evidence paths the consortium agrees to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CD825-6844-454E-A3ED-1EF6EC17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66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A9D98-8512-4E81-9293-934AA98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904F9-F23E-4EAE-B63F-30AAF20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3CC0D-C7DB-4FA1-B1EF-4109FF5D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Which bibliometric sources, date range, and gold papers define the trusted starting set?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B15EF-7F8D-4800-889F-01E2E542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66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4B13B-5B80-40F7-8A83-7FDC08C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71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866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66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B4BAE-5BE0-4507-AD13-9D2FF1C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ATTRIBUTION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DF599-BA0D-4323-82CE-AFC0BCA7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52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Which evidence paths are sufficient for CORE, RELATED, and organization-level reporting?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E65D1-B42C-43A0-866C-97A32CA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9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A656B-C26B-4037-9F34-009A83A2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40922-2C5D-4F82-BAB0-34D7BA95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815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CONNECTION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C6B59-A6C3-4DF7-B542-9D9FED6F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Which profiles should AC use for attribution, bridge discovery, institutions, and topic diffusion?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4E429-04ED-4C73-B23A-8B3F99F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387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9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1B763-BCBE-4EE6-BBF4-65BD6D4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FBF69-73DC-4775-A107-E03C046D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815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 MODEL BUDGET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C32F9-D765-4DC2-A7F5-52F5603F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91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Which uncertainty bands require humans, and where should Claude credits reduce review work?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348A5-541C-4401-BB9C-A39175B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4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50828-518D-4899-9CEC-929EF3D3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674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DDE9E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DE9EE"/>
                </a:solidFill>
                <a:latin typeface="Arial"/>
                <a:ea typeface="Arial"/>
                <a:cs typeface="Arial"/>
              </a:rPr>
              <a:t>PAPER ATTRIBUTION · CONNECTION INTELLIGENCE · CROSS-SDL KNOWLEDGE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C606A-4733-47F3-93AE-2047A0BA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674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983044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2026-07-28T19:14:36.0460000Z</dcterms:created>
  <dcterms:modified xsi:type="dcterms:W3CDTF">2026-07-28T19:14:36.0460000Z</dcterms:modified>
</coreProperties>
</file>